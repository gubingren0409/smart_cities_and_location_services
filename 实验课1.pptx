
<file path=[Content_Types].xml><?xml version="1.0" encoding="utf-8"?>
<Types xmlns="http://schemas.openxmlformats.org/package/2006/content-types">
  <Default Extension="png" ContentType="image/png"/>
  <Default Extension="gif" ContentType="image/gif"/>
  <Default Extension="jpeg" ContentType="image/jpeg"/>
  <Default Extension="JPG" ContentType="image/.jpg"/>
  <Default Extension="tiff" ContentType="image/tif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1" r:id="rId3"/>
    <p:sldMasterId id="2147483664" r:id="rId4"/>
  </p:sldMasterIdLst>
  <p:notesMasterIdLst>
    <p:notesMasterId r:id="rId6"/>
  </p:notesMasterIdLst>
  <p:sldIdLst>
    <p:sldId id="257" r:id="rId5"/>
    <p:sldId id="1972" r:id="rId7"/>
    <p:sldId id="1952" r:id="rId8"/>
    <p:sldId id="1927" r:id="rId9"/>
    <p:sldId id="1954" r:id="rId10"/>
    <p:sldId id="1955" r:id="rId11"/>
    <p:sldId id="1953" r:id="rId12"/>
    <p:sldId id="1957" r:id="rId13"/>
    <p:sldId id="1956" r:id="rId14"/>
    <p:sldId id="1924" r:id="rId15"/>
    <p:sldId id="265" r:id="rId16"/>
    <p:sldId id="266" r:id="rId17"/>
    <p:sldId id="268" r:id="rId18"/>
    <p:sldId id="269" r:id="rId19"/>
    <p:sldId id="270" r:id="rId20"/>
    <p:sldId id="262" r:id="rId21"/>
    <p:sldId id="1929" r:id="rId22"/>
    <p:sldId id="1931" r:id="rId23"/>
    <p:sldId id="1930" r:id="rId24"/>
    <p:sldId id="1932" r:id="rId25"/>
    <p:sldId id="1933" r:id="rId26"/>
    <p:sldId id="1934" r:id="rId27"/>
    <p:sldId id="271" r:id="rId28"/>
    <p:sldId id="1945" r:id="rId29"/>
    <p:sldId id="1946" r:id="rId30"/>
    <p:sldId id="272" r:id="rId31"/>
    <p:sldId id="1935" r:id="rId32"/>
    <p:sldId id="1958" r:id="rId33"/>
    <p:sldId id="1959" r:id="rId34"/>
    <p:sldId id="1960" r:id="rId35"/>
    <p:sldId id="1961" r:id="rId36"/>
    <p:sldId id="1962" r:id="rId37"/>
    <p:sldId id="1963" r:id="rId38"/>
    <p:sldId id="1964" r:id="rId39"/>
    <p:sldId id="1965" r:id="rId40"/>
    <p:sldId id="1966" r:id="rId41"/>
    <p:sldId id="1967" r:id="rId42"/>
    <p:sldId id="1968" r:id="rId43"/>
    <p:sldId id="1969" r:id="rId44"/>
    <p:sldId id="1970" r:id="rId45"/>
    <p:sldId id="1971" r:id="rId46"/>
    <p:sldId id="1950" r:id="rId47"/>
    <p:sldId id="284" r:id="rId48"/>
  </p:sldIdLst>
  <p:sldSz cx="12192000" cy="6858000"/>
  <p:notesSz cx="6858000" cy="9144000"/>
  <p:embeddedFontLst>
    <p:embeddedFont>
      <p:font typeface="Calibri" panose="020F0502020204030204"/>
      <p:regular r:id="rId53"/>
    </p:embeddedFont>
    <p:embeddedFont>
      <p:font typeface="Segoe UI" panose="020B0502040204020203"/>
      <p:regular r:id="rId54"/>
    </p:embeddedFont>
    <p:embeddedFont>
      <p:font typeface="Segoe UI Light" pitchFamily="34" charset="0"/>
      <p:regular r:id="rId55"/>
    </p:embeddedFont>
    <p:embeddedFont>
      <p:font typeface="Century Gothic" panose="020B0502020202020204" pitchFamily="34" charset="0"/>
      <p:regular r:id="rId56"/>
    </p:embeddedFont>
  </p:embeddedFontLst>
  <p:custDataLst>
    <p:tags r:id="rId57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704020202020204" pitchFamily="34" charset="0"/>
        <a:ea typeface="宋体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704020202020204" pitchFamily="34" charset="0"/>
        <a:ea typeface="宋体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704020202020204" pitchFamily="34" charset="0"/>
        <a:ea typeface="宋体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704020202020204" pitchFamily="34" charset="0"/>
        <a:ea typeface="宋体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704020202020204" pitchFamily="34" charset="0"/>
        <a:ea typeface="宋体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704020202020204" pitchFamily="34" charset="0"/>
        <a:ea typeface="宋体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704020202020204" pitchFamily="34" charset="0"/>
        <a:ea typeface="宋体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704020202020204" pitchFamily="34" charset="0"/>
        <a:ea typeface="宋体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704020202020204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77" userDrawn="1">
          <p15:clr>
            <a:srgbClr val="A4A3A4"/>
          </p15:clr>
        </p15:guide>
        <p15:guide id="2" pos="1738" userDrawn="1">
          <p15:clr>
            <a:srgbClr val="A4A3A4"/>
          </p15:clr>
        </p15:guide>
        <p15:guide id="3" pos="5040" userDrawn="1">
          <p15:clr>
            <a:srgbClr val="A4A3A4"/>
          </p15:clr>
        </p15:guide>
        <p15:guide id="4" pos="3997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王常胜" initials="王" lastIdx="1" clrIdx="0"/>
  <p:cmAuthor id="2" name="Pueschner, Franziska {FA~Shanghai}" initials="P" lastIdx="5" clrIdx="0"/>
  <p:cmAuthor id="3" name="翟宏帅" initials="翟" lastIdx="1" clrIdx="0"/>
  <p:cmAuthor id="4" name="沈 文怡" initials="沈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8300"/>
    <a:srgbClr val="E4B6B8"/>
    <a:srgbClr val="9F3A3D"/>
    <a:srgbClr val="B90538"/>
    <a:srgbClr val="009999"/>
    <a:srgbClr val="CCCCCC"/>
    <a:srgbClr val="FDF8F8"/>
    <a:srgbClr val="B70031"/>
    <a:srgbClr val="D0CFCF"/>
    <a:srgbClr val="C86A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814" autoAdjust="0"/>
    <p:restoredTop sz="76961" autoAdjust="0"/>
  </p:normalViewPr>
  <p:slideViewPr>
    <p:cSldViewPr showGuides="1">
      <p:cViewPr varScale="1">
        <p:scale>
          <a:sx n="90" d="100"/>
          <a:sy n="90" d="100"/>
        </p:scale>
        <p:origin x="232" y="272"/>
      </p:cViewPr>
      <p:guideLst>
        <p:guide orient="horz" pos="2277"/>
        <p:guide pos="1738"/>
        <p:guide pos="5040"/>
        <p:guide pos="399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5" d="100"/>
        <a:sy n="105" d="100"/>
      </p:scale>
      <p:origin x="0" y="0"/>
    </p:cViewPr>
  </p:notesTextViewPr>
  <p:gridSpacing cx="71999" cy="71999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7" Type="http://schemas.openxmlformats.org/officeDocument/2006/relationships/tags" Target="tags/tag21.xml"/><Relationship Id="rId56" Type="http://schemas.openxmlformats.org/officeDocument/2006/relationships/font" Target="fonts/font4.fntdata"/><Relationship Id="rId55" Type="http://schemas.openxmlformats.org/officeDocument/2006/relationships/font" Target="fonts/font3.fntdata"/><Relationship Id="rId54" Type="http://schemas.openxmlformats.org/officeDocument/2006/relationships/font" Target="fonts/font2.fntdata"/><Relationship Id="rId53" Type="http://schemas.openxmlformats.org/officeDocument/2006/relationships/font" Target="fonts/font1.fntdata"/><Relationship Id="rId52" Type="http://schemas.openxmlformats.org/officeDocument/2006/relationships/commentAuthors" Target="commentAuthors.xml"/><Relationship Id="rId51" Type="http://schemas.openxmlformats.org/officeDocument/2006/relationships/tableStyles" Target="tableStyles.xml"/><Relationship Id="rId50" Type="http://schemas.openxmlformats.org/officeDocument/2006/relationships/viewProps" Target="viewProps.xml"/><Relationship Id="rId5" Type="http://schemas.openxmlformats.org/officeDocument/2006/relationships/slide" Target="slides/slide1.xml"/><Relationship Id="rId49" Type="http://schemas.openxmlformats.org/officeDocument/2006/relationships/presProps" Target="presProps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0" Type="http://schemas.openxmlformats.org/officeDocument/2006/relationships/slide" Target="slides/slide35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 noProof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 noProof="1"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7D0A64C-FDAB-4DB4-9E5B-5F55FA73C6E4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70402020202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6388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197" name="备注占位符 4"/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 noProof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hangingPunct="1">
              <a:defRPr sz="1200" noProof="1"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91194F3-93AE-491C-8B3E-84D68A21F20B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70402020202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宋体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8435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en-US" dirty="0"/>
          </a:p>
        </p:txBody>
      </p:sp>
      <p:sp>
        <p:nvSpPr>
          <p:cNvPr id="1843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8435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en-US" dirty="0"/>
          </a:p>
        </p:txBody>
      </p:sp>
      <p:sp>
        <p:nvSpPr>
          <p:cNvPr id="1843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zh-CN" altLang="en-US" dirty="0"/>
              <a:t>通俗来讲，国内收集的</a:t>
            </a:r>
            <a:r>
              <a:rPr lang="en-US" altLang="zh-CN" dirty="0"/>
              <a:t>GPS</a:t>
            </a:r>
            <a:r>
              <a:rPr lang="zh-CN" altLang="en-US" dirty="0"/>
              <a:t>轨迹数据都是</a:t>
            </a:r>
            <a:r>
              <a:rPr lang="en-US" altLang="zh-CN" dirty="0"/>
              <a:t>GCJ02</a:t>
            </a:r>
            <a:r>
              <a:rPr lang="zh-CN" altLang="en-US" dirty="0"/>
              <a:t>坐标系的，而国际上的数据则普遍为</a:t>
            </a:r>
            <a:r>
              <a:rPr lang="en-US" altLang="zh-CN" dirty="0"/>
              <a:t>WGS84</a:t>
            </a:r>
            <a:r>
              <a:rPr lang="zh-CN" altLang="en-US" dirty="0"/>
              <a:t>坐标系，如</a:t>
            </a:r>
            <a:r>
              <a:rPr lang="en-US" altLang="zh-CN" dirty="0"/>
              <a:t>open</a:t>
            </a:r>
            <a:r>
              <a:rPr lang="zh-CN" altLang="en-US" dirty="0"/>
              <a:t> </a:t>
            </a:r>
            <a:r>
              <a:rPr lang="en-US" altLang="zh-CN" dirty="0"/>
              <a:t>street</a:t>
            </a:r>
            <a:r>
              <a:rPr lang="zh-CN" altLang="en-US" dirty="0"/>
              <a:t> </a:t>
            </a:r>
            <a:r>
              <a:rPr lang="en-US" altLang="zh-CN" dirty="0"/>
              <a:t>map</a:t>
            </a:r>
            <a:r>
              <a:rPr lang="zh-CN" altLang="en-US" dirty="0"/>
              <a:t>、</a:t>
            </a:r>
            <a:r>
              <a:rPr lang="en-US" altLang="zh-CN" dirty="0" err="1"/>
              <a:t>bing</a:t>
            </a:r>
            <a:r>
              <a:rPr lang="zh-CN" altLang="en-US" dirty="0"/>
              <a:t>等开源地图，在日常使用时。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开场。这套方法要把轨迹清洗的参数决策交给 LLM，但它的建议必须能被自动判分。今天讲的是完整做法：怎么组织输入、让 LLM 调哪些工具、参数怎么定、怎么核验它的建议、以及怎么判断这套流程真的有效。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这是动机页。核心是第二点：没法判分。做工程的人最容易忽略这点，结果做出来的东西只能演示不能评价。建议点明：本课所有设计都是为了让第三点（成本）和第二点（判分）同时成立。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这是方法论总览，后面每一页都在展开其中一步。建议强调第一步是替代 LLM 的语感，第三步是替代人的判断。LLM 只出现在第二步。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这一步的关键是纪律。117 万个点不可能进上下文，所以只给标量和句柄。诊断卡里最有用的是 regime 和时间轴质量，因为它们直接决定该用哪套参数。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这一页解释为什么不能对全部数据用一套参数。实测数据是两个截然不同的群体，混在一起做参数推荐一定失败。这也是让 LLM 看诊断卡而不是看坐标的原因。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讲工具分类。重点是刻意不提供写记忆的工具，这条规则让记忆不会被幻觉污染。另外要说明工具返回的都是标量统计，不是坐标。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回答参数怎么调这个核心问题。LLM 只给起点和方向，不给最终值。这是本方法与传统自动调参最不同的地方，也是它能被自动判分的原因。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核心页，建议讲慢。regret 需要 ground truth，所以必须跑一次确定性搜索。三种口径一定要讲清楚，否则会得出错误结论。方向准确率是零成本的额外判据，值得强调。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讲清楚为什么要分层。L2 是机器算出来的统计，L3 是人写的解释，两者不冲突。注意最后一行的成本含义：跑少数、复用多数，这是 11386 条能落地的关键。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方法论页。两个陷阱都会让结论完全相反，而且都很隐蔽。信息泄漏尤其容易犯，因为它在单条轨迹上看不出任何异常。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必须如实讲。三种含 LLM 模式的得分完全相同。根因是 moving 类轨迹在记忆里一条已验证案例都没有，所以检索到的可用信息是零。这是数据饥饿，不是方法失败。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这页对做过实际数据处理的人最有价值。挑两三个讲透即可，比如墨卡托放大 17% 和 Hausdorff 的 548 米对 4.77 米。这些坑都不会让代码报错，只会让结论错。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如实交代边界。左侧可直接用，右侧是还没验证的部分。不要把未验证的说成已验证。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三条按收益排序。第一条最紧，如果不解决，后面两条得出的结论都不可信。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912C03D-5225-4B16-87E2-1772F429F958}" type="slidenum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704020202020204" pitchFamily="34" charset="0"/>
                <a:ea typeface="宋体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912C03D-5225-4B16-87E2-1772F429F958}" type="slidenum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704020202020204" pitchFamily="34" charset="0"/>
                <a:ea typeface="宋体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912C03D-5225-4B16-87E2-1772F429F958}" type="slidenum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704020202020204" pitchFamily="34" charset="0"/>
                <a:ea typeface="宋体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76672" cy="452596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05728" y="1600200"/>
            <a:ext cx="5376672" cy="452596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912C03D-5225-4B16-87E2-1772F429F958}" type="slidenum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704020202020204" pitchFamily="34" charset="0"/>
                <a:ea typeface="宋体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4" y="1778438"/>
            <a:ext cx="4873574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4" y="2665379"/>
            <a:ext cx="4873574" cy="35242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8" y="1778438"/>
            <a:ext cx="4897576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8" y="2665379"/>
            <a:ext cx="4897576" cy="35242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912C03D-5225-4B16-87E2-1772F429F958}" type="slidenum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704020202020204" pitchFamily="34" charset="0"/>
                <a:ea typeface="宋体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912C03D-5225-4B16-87E2-1772F429F958}" type="slidenum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704020202020204" pitchFamily="34" charset="0"/>
                <a:ea typeface="宋体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912C03D-5225-4B16-87E2-1772F429F958}" type="slidenum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704020202020204" pitchFamily="34" charset="0"/>
                <a:ea typeface="宋体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912C03D-5225-4B16-87E2-1772F429F958}" type="slidenum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704020202020204" pitchFamily="34" charset="0"/>
                <a:ea typeface="宋体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912C03D-5225-4B16-87E2-1772F429F958}" type="slidenum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704020202020204" pitchFamily="34" charset="0"/>
                <a:ea typeface="宋体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912C03D-5225-4B16-87E2-1772F429F958}" type="slidenum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704020202020204" pitchFamily="34" charset="0"/>
                <a:ea typeface="宋体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0574" cy="5851525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912C03D-5225-4B16-87E2-1772F429F958}" type="slidenum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704020202020204" pitchFamily="34" charset="0"/>
                <a:ea typeface="宋体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20" descr="e7d195523061f1c09e9d68d7cf438b91ef959ecb14fc25d26BBA7F7DBC18E55DFF4014AF651F0BF2569D4B6C1DA7F1A4683A481403BD872FC687266AD13265C1DE7C373772FD8728ABDD69ADD03BFF5BE2862BC891DBB79E43A8244B4D7DEEF5A1BFB79ED4015C912F9C8B85E44C1E1FAF45D4C71B4D8047555824264C2F16A606196D84073B0BC612CE1BA227542E4A"/>
          <p:cNvSpPr txBox="1">
            <a:spLocks noChangeArrowheads="1"/>
          </p:cNvSpPr>
          <p:nvPr/>
        </p:nvSpPr>
        <p:spPr bwMode="auto">
          <a:xfrm>
            <a:off x="1052513" y="319088"/>
            <a:ext cx="258445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121920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1pPr>
            <a:lvl2pPr defTabSz="121920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2pPr>
            <a:lvl3pPr defTabSz="121920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3pPr>
            <a:lvl4pPr defTabSz="121920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4pPr>
            <a:lvl5pPr defTabSz="121920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5pPr>
            <a:lvl6pPr defTabSz="1219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6pPr>
            <a:lvl7pPr defTabSz="1219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7pPr>
            <a:lvl8pPr defTabSz="1219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8pPr>
            <a:lvl9pPr defTabSz="1219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1219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700" b="0" i="0" u="none" strike="noStrike" kern="1200" cap="none" spc="0" normalizeH="0" baseline="0" noProof="0">
                <a:ln>
                  <a:noFill/>
                </a:ln>
                <a:solidFill>
                  <a:srgbClr val="25A1E5"/>
                </a:solidFill>
                <a:effectLst/>
                <a:uLnTx/>
                <a:uFillTx/>
                <a:latin typeface="Arial" panose="020B0704020202020204" pitchFamily="34" charset="0"/>
                <a:ea typeface="微软雅黑" panose="020B0503020204020204" pitchFamily="34" charset="-122"/>
                <a:cs typeface="+mn-cs"/>
                <a:sym typeface="Arial" panose="020B0704020202020204" pitchFamily="34" charset="0"/>
              </a:rPr>
              <a:t>公司发展时间轴</a:t>
            </a:r>
            <a:endParaRPr kumimoji="0" lang="en-US" altLang="zh-CN" sz="2700" b="0" i="0" u="none" strike="noStrike" kern="1200" cap="none" spc="0" normalizeH="0" baseline="0" noProof="0" dirty="0">
              <a:ln>
                <a:noFill/>
              </a:ln>
              <a:solidFill>
                <a:srgbClr val="25A1E5"/>
              </a:solidFill>
              <a:effectLst/>
              <a:uLnTx/>
              <a:uFillTx/>
              <a:latin typeface="Arial" panose="020B0704020202020204" pitchFamily="34" charset="0"/>
              <a:ea typeface="微软雅黑" panose="020B0503020204020204" pitchFamily="34" charset="-122"/>
              <a:cs typeface="+mn-cs"/>
              <a:sym typeface="Arial" panose="020B0704020202020204" pitchFamily="34" charset="0"/>
            </a:endParaRPr>
          </a:p>
        </p:txBody>
      </p:sp>
      <p:sp>
        <p:nvSpPr>
          <p:cNvPr id="8" name="任意多边形: 形状 7"/>
          <p:cNvSpPr/>
          <p:nvPr/>
        </p:nvSpPr>
        <p:spPr>
          <a:xfrm rot="18958199">
            <a:off x="134938" y="236538"/>
            <a:ext cx="579438" cy="577850"/>
          </a:xfrm>
          <a:custGeom>
            <a:avLst/>
            <a:gdLst>
              <a:gd name="connsiteX0" fmla="*/ 638672 w 2160240"/>
              <a:gd name="connsiteY0" fmla="*/ 411048 h 2160240"/>
              <a:gd name="connsiteX1" fmla="*/ 417942 w 2160240"/>
              <a:gd name="connsiteY1" fmla="*/ 631778 h 2160240"/>
              <a:gd name="connsiteX2" fmla="*/ 417942 w 2160240"/>
              <a:gd name="connsiteY2" fmla="*/ 1514674 h 2160240"/>
              <a:gd name="connsiteX3" fmla="*/ 638672 w 2160240"/>
              <a:gd name="connsiteY3" fmla="*/ 1735404 h 2160240"/>
              <a:gd name="connsiteX4" fmla="*/ 1521568 w 2160240"/>
              <a:gd name="connsiteY4" fmla="*/ 1735404 h 2160240"/>
              <a:gd name="connsiteX5" fmla="*/ 1742298 w 2160240"/>
              <a:gd name="connsiteY5" fmla="*/ 1514674 h 2160240"/>
              <a:gd name="connsiteX6" fmla="*/ 1742298 w 2160240"/>
              <a:gd name="connsiteY6" fmla="*/ 631778 h 2160240"/>
              <a:gd name="connsiteX7" fmla="*/ 1521568 w 2160240"/>
              <a:gd name="connsiteY7" fmla="*/ 411048 h 2160240"/>
              <a:gd name="connsiteX8" fmla="*/ 360047 w 2160240"/>
              <a:gd name="connsiteY8" fmla="*/ 0 h 2160240"/>
              <a:gd name="connsiteX9" fmla="*/ 1800193 w 2160240"/>
              <a:gd name="connsiteY9" fmla="*/ 0 h 2160240"/>
              <a:gd name="connsiteX10" fmla="*/ 2160240 w 2160240"/>
              <a:gd name="connsiteY10" fmla="*/ 360047 h 2160240"/>
              <a:gd name="connsiteX11" fmla="*/ 2160240 w 2160240"/>
              <a:gd name="connsiteY11" fmla="*/ 1800193 h 2160240"/>
              <a:gd name="connsiteX12" fmla="*/ 1800193 w 2160240"/>
              <a:gd name="connsiteY12" fmla="*/ 2160240 h 2160240"/>
              <a:gd name="connsiteX13" fmla="*/ 360047 w 2160240"/>
              <a:gd name="connsiteY13" fmla="*/ 2160240 h 2160240"/>
              <a:gd name="connsiteX14" fmla="*/ 0 w 2160240"/>
              <a:gd name="connsiteY14" fmla="*/ 1800193 h 2160240"/>
              <a:gd name="connsiteX15" fmla="*/ 0 w 2160240"/>
              <a:gd name="connsiteY15" fmla="*/ 360047 h 2160240"/>
              <a:gd name="connsiteX16" fmla="*/ 360047 w 2160240"/>
              <a:gd name="connsiteY16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240" h="2160240">
                <a:moveTo>
                  <a:pt x="638672" y="411048"/>
                </a:moveTo>
                <a:cubicBezTo>
                  <a:pt x="516766" y="411048"/>
                  <a:pt x="417942" y="509872"/>
                  <a:pt x="417942" y="631778"/>
                </a:cubicBezTo>
                <a:lnTo>
                  <a:pt x="417942" y="1514674"/>
                </a:lnTo>
                <a:cubicBezTo>
                  <a:pt x="417942" y="1636580"/>
                  <a:pt x="516766" y="1735404"/>
                  <a:pt x="638672" y="1735404"/>
                </a:cubicBezTo>
                <a:lnTo>
                  <a:pt x="1521568" y="1735404"/>
                </a:lnTo>
                <a:cubicBezTo>
                  <a:pt x="1643474" y="1735404"/>
                  <a:pt x="1742298" y="1636580"/>
                  <a:pt x="1742298" y="1514674"/>
                </a:cubicBezTo>
                <a:lnTo>
                  <a:pt x="1742298" y="631778"/>
                </a:lnTo>
                <a:cubicBezTo>
                  <a:pt x="1742298" y="509872"/>
                  <a:pt x="1643474" y="411048"/>
                  <a:pt x="1521568" y="411048"/>
                </a:cubicBezTo>
                <a:close/>
                <a:moveTo>
                  <a:pt x="360047" y="0"/>
                </a:moveTo>
                <a:lnTo>
                  <a:pt x="1800193" y="0"/>
                </a:lnTo>
                <a:cubicBezTo>
                  <a:pt x="1999041" y="0"/>
                  <a:pt x="2160240" y="161199"/>
                  <a:pt x="2160240" y="360047"/>
                </a:cubicBezTo>
                <a:lnTo>
                  <a:pt x="2160240" y="1800193"/>
                </a:lnTo>
                <a:cubicBezTo>
                  <a:pt x="2160240" y="1999041"/>
                  <a:pt x="1999041" y="2160240"/>
                  <a:pt x="1800193" y="2160240"/>
                </a:cubicBezTo>
                <a:lnTo>
                  <a:pt x="360047" y="2160240"/>
                </a:lnTo>
                <a:cubicBezTo>
                  <a:pt x="161199" y="2160240"/>
                  <a:pt x="0" y="1999041"/>
                  <a:pt x="0" y="1800193"/>
                </a:cubicBezTo>
                <a:lnTo>
                  <a:pt x="0" y="360047"/>
                </a:lnTo>
                <a:cubicBezTo>
                  <a:pt x="0" y="161199"/>
                  <a:pt x="161199" y="0"/>
                  <a:pt x="360047" y="0"/>
                </a:cubicBezTo>
                <a:close/>
              </a:path>
            </a:pathLst>
          </a:custGeom>
          <a:solidFill>
            <a:srgbClr val="25A1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任意多边形: 形状 8"/>
          <p:cNvSpPr/>
          <p:nvPr/>
        </p:nvSpPr>
        <p:spPr>
          <a:xfrm rot="18958199">
            <a:off x="496888" y="311150"/>
            <a:ext cx="430213" cy="428625"/>
          </a:xfrm>
          <a:custGeom>
            <a:avLst/>
            <a:gdLst>
              <a:gd name="connsiteX0" fmla="*/ 638672 w 2160240"/>
              <a:gd name="connsiteY0" fmla="*/ 411048 h 2160240"/>
              <a:gd name="connsiteX1" fmla="*/ 417942 w 2160240"/>
              <a:gd name="connsiteY1" fmla="*/ 631778 h 2160240"/>
              <a:gd name="connsiteX2" fmla="*/ 417942 w 2160240"/>
              <a:gd name="connsiteY2" fmla="*/ 1514674 h 2160240"/>
              <a:gd name="connsiteX3" fmla="*/ 638672 w 2160240"/>
              <a:gd name="connsiteY3" fmla="*/ 1735404 h 2160240"/>
              <a:gd name="connsiteX4" fmla="*/ 1521568 w 2160240"/>
              <a:gd name="connsiteY4" fmla="*/ 1735404 h 2160240"/>
              <a:gd name="connsiteX5" fmla="*/ 1742298 w 2160240"/>
              <a:gd name="connsiteY5" fmla="*/ 1514674 h 2160240"/>
              <a:gd name="connsiteX6" fmla="*/ 1742298 w 2160240"/>
              <a:gd name="connsiteY6" fmla="*/ 631778 h 2160240"/>
              <a:gd name="connsiteX7" fmla="*/ 1521568 w 2160240"/>
              <a:gd name="connsiteY7" fmla="*/ 411048 h 2160240"/>
              <a:gd name="connsiteX8" fmla="*/ 360047 w 2160240"/>
              <a:gd name="connsiteY8" fmla="*/ 0 h 2160240"/>
              <a:gd name="connsiteX9" fmla="*/ 1800193 w 2160240"/>
              <a:gd name="connsiteY9" fmla="*/ 0 h 2160240"/>
              <a:gd name="connsiteX10" fmla="*/ 2160240 w 2160240"/>
              <a:gd name="connsiteY10" fmla="*/ 360047 h 2160240"/>
              <a:gd name="connsiteX11" fmla="*/ 2160240 w 2160240"/>
              <a:gd name="connsiteY11" fmla="*/ 1800193 h 2160240"/>
              <a:gd name="connsiteX12" fmla="*/ 1800193 w 2160240"/>
              <a:gd name="connsiteY12" fmla="*/ 2160240 h 2160240"/>
              <a:gd name="connsiteX13" fmla="*/ 360047 w 2160240"/>
              <a:gd name="connsiteY13" fmla="*/ 2160240 h 2160240"/>
              <a:gd name="connsiteX14" fmla="*/ 0 w 2160240"/>
              <a:gd name="connsiteY14" fmla="*/ 1800193 h 2160240"/>
              <a:gd name="connsiteX15" fmla="*/ 0 w 2160240"/>
              <a:gd name="connsiteY15" fmla="*/ 360047 h 2160240"/>
              <a:gd name="connsiteX16" fmla="*/ 360047 w 2160240"/>
              <a:gd name="connsiteY16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240" h="2160240">
                <a:moveTo>
                  <a:pt x="638672" y="411048"/>
                </a:moveTo>
                <a:cubicBezTo>
                  <a:pt x="516766" y="411048"/>
                  <a:pt x="417942" y="509872"/>
                  <a:pt x="417942" y="631778"/>
                </a:cubicBezTo>
                <a:lnTo>
                  <a:pt x="417942" y="1514674"/>
                </a:lnTo>
                <a:cubicBezTo>
                  <a:pt x="417942" y="1636580"/>
                  <a:pt x="516766" y="1735404"/>
                  <a:pt x="638672" y="1735404"/>
                </a:cubicBezTo>
                <a:lnTo>
                  <a:pt x="1521568" y="1735404"/>
                </a:lnTo>
                <a:cubicBezTo>
                  <a:pt x="1643474" y="1735404"/>
                  <a:pt x="1742298" y="1636580"/>
                  <a:pt x="1742298" y="1514674"/>
                </a:cubicBezTo>
                <a:lnTo>
                  <a:pt x="1742298" y="631778"/>
                </a:lnTo>
                <a:cubicBezTo>
                  <a:pt x="1742298" y="509872"/>
                  <a:pt x="1643474" y="411048"/>
                  <a:pt x="1521568" y="411048"/>
                </a:cubicBezTo>
                <a:close/>
                <a:moveTo>
                  <a:pt x="360047" y="0"/>
                </a:moveTo>
                <a:lnTo>
                  <a:pt x="1800193" y="0"/>
                </a:lnTo>
                <a:cubicBezTo>
                  <a:pt x="1999041" y="0"/>
                  <a:pt x="2160240" y="161199"/>
                  <a:pt x="2160240" y="360047"/>
                </a:cubicBezTo>
                <a:lnTo>
                  <a:pt x="2160240" y="1800193"/>
                </a:lnTo>
                <a:cubicBezTo>
                  <a:pt x="2160240" y="1999041"/>
                  <a:pt x="1999041" y="2160240"/>
                  <a:pt x="1800193" y="2160240"/>
                </a:cubicBezTo>
                <a:lnTo>
                  <a:pt x="360047" y="2160240"/>
                </a:lnTo>
                <a:cubicBezTo>
                  <a:pt x="161199" y="2160240"/>
                  <a:pt x="0" y="1999041"/>
                  <a:pt x="0" y="1800193"/>
                </a:cubicBezTo>
                <a:lnTo>
                  <a:pt x="0" y="360047"/>
                </a:lnTo>
                <a:cubicBezTo>
                  <a:pt x="0" y="161199"/>
                  <a:pt x="161199" y="0"/>
                  <a:pt x="360047" y="0"/>
                </a:cubicBezTo>
                <a:close/>
              </a:path>
            </a:pathLst>
          </a:custGeom>
          <a:solidFill>
            <a:srgbClr val="C4CACB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日期占位符 1"/>
          <p:cNvSpPr>
            <a:spLocks noGrp="1"/>
          </p:cNvSpPr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1" name="页脚占位符 2"/>
          <p:cNvSpPr>
            <a:spLocks noGrp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2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F523969-44AF-422D-86CB-90AB75ABD175}" type="slidenum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704020202020204" pitchFamily="34" charset="0"/>
                <a:ea typeface="宋体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r="27993"/>
          <a:stretch>
            <a:fillRect/>
          </a:stretch>
        </p:blipFill>
        <p:spPr>
          <a:xfrm>
            <a:off x="1" y="-5557"/>
            <a:ext cx="12192000" cy="6863557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0" y="2078038"/>
            <a:ext cx="12192000" cy="4779963"/>
          </a:xfrm>
          <a:prstGeom prst="rect">
            <a:avLst/>
          </a:prstGeom>
          <a:gradFill>
            <a:gsLst>
              <a:gs pos="0">
                <a:srgbClr val="010000">
                  <a:alpha val="0"/>
                </a:srgbClr>
              </a:gs>
              <a:gs pos="100000">
                <a:srgbClr val="010000">
                  <a:alpha val="89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矩形 3"/>
          <p:cNvSpPr/>
          <p:nvPr/>
        </p:nvSpPr>
        <p:spPr>
          <a:xfrm rot="10800000">
            <a:off x="0" y="-6350"/>
            <a:ext cx="12192000" cy="3217863"/>
          </a:xfrm>
          <a:prstGeom prst="rect">
            <a:avLst/>
          </a:prstGeom>
          <a:gradFill>
            <a:gsLst>
              <a:gs pos="0">
                <a:srgbClr val="010000">
                  <a:alpha val="0"/>
                </a:srgbClr>
              </a:gs>
              <a:gs pos="100000">
                <a:srgbClr val="01000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12192000" cy="6811963"/>
          </a:xfrm>
          <a:prstGeom prst="rect">
            <a:avLst/>
          </a:prstGeom>
          <a:solidFill>
            <a:srgbClr val="080304">
              <a:alpha val="6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760913" y="565150"/>
            <a:ext cx="26701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dist">
              <a:defRPr sz="1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本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PPT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模板正参与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602350" y="2482543"/>
            <a:ext cx="4987300" cy="400109"/>
          </a:xfrm>
          <a:prstGeom prst="rect">
            <a:avLst/>
          </a:prstGeom>
          <a:gradFill flip="none" rotWithShape="1">
            <a:gsLst>
              <a:gs pos="100000">
                <a:srgbClr val="CB9B53">
                  <a:alpha val="0"/>
                </a:srgbClr>
              </a:gs>
              <a:gs pos="0">
                <a:srgbClr val="CB9B53">
                  <a:alpha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E5177"/>
              </a:solidFill>
              <a:effectLst/>
              <a:uLnTx/>
              <a:uFillTx/>
              <a:latin typeface="Segoe UI" panose="020B0502040204020203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346" name="文本框 7"/>
          <p:cNvSpPr txBox="1"/>
          <p:nvPr userDrawn="1"/>
        </p:nvSpPr>
        <p:spPr>
          <a:xfrm>
            <a:off x="4049713" y="2517775"/>
            <a:ext cx="4092575" cy="3381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algn="dist" eaLnBrk="1" hangingPunct="1">
              <a:buNone/>
            </a:pPr>
            <a:r>
              <a:rPr lang="en-US" altLang="zh-CN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第一届高校</a:t>
            </a:r>
            <a:r>
              <a:rPr lang="en-US" altLang="zh-CN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模板设计大赛 </a:t>
            </a:r>
            <a:endParaRPr lang="en-US" altLang="zh-CN" sz="1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134100" y="4824413"/>
            <a:ext cx="2544763" cy="10620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dist">
              <a:defRPr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微信扫码</a:t>
            </a:r>
            <a:endParaRPr kumimoji="0" lang="en-US" altLang="zh-CN" sz="1800" b="0" i="0" u="none" strike="noStrike" kern="1200" cap="none" spc="15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来聆听模板作者</a:t>
            </a:r>
            <a:endParaRPr kumimoji="0" lang="en-US" altLang="zh-CN" sz="1800" b="0" i="0" u="none" strike="noStrike" kern="1200" cap="none" spc="15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设计灵感、制作思路</a:t>
            </a:r>
            <a:endParaRPr kumimoji="0" lang="en-US" sz="1800" b="0" i="0" u="none" strike="noStrike" kern="1200" cap="none" spc="15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4348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615950" y="3771900"/>
            <a:ext cx="13817600" cy="399573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4349" name="图片 10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684338" y="717550"/>
            <a:ext cx="8823325" cy="18446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4350" name="文本框 11"/>
          <p:cNvSpPr txBox="1"/>
          <p:nvPr userDrawn="1"/>
        </p:nvSpPr>
        <p:spPr>
          <a:xfrm>
            <a:off x="3741738" y="2971800"/>
            <a:ext cx="1984375" cy="2619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algn="dist" eaLnBrk="1" hangingPunct="1">
              <a:buNone/>
            </a:pPr>
            <a:r>
              <a:rPr lang="zh-CN" altLang="en-US" sz="1100" dirty="0">
                <a:solidFill>
                  <a:srgbClr val="BFBF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活动主办：秋叶</a:t>
            </a:r>
            <a:r>
              <a:rPr lang="en-US" altLang="zh-CN" sz="1100" dirty="0">
                <a:solidFill>
                  <a:srgbClr val="BFBF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endParaRPr lang="en-US" altLang="zh-CN" sz="1100" dirty="0">
              <a:solidFill>
                <a:srgbClr val="BFBFB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351" name="文本框 12"/>
          <p:cNvSpPr txBox="1"/>
          <p:nvPr userDrawn="1"/>
        </p:nvSpPr>
        <p:spPr>
          <a:xfrm>
            <a:off x="6080125" y="2971800"/>
            <a:ext cx="2492375" cy="2619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algn="dist" eaLnBrk="1" hangingPunct="1">
              <a:buNone/>
            </a:pPr>
            <a:r>
              <a:rPr lang="zh-CN" altLang="en-US" sz="1100" dirty="0">
                <a:solidFill>
                  <a:srgbClr val="BFBF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技术支持：微软听听文档</a:t>
            </a:r>
            <a:endParaRPr lang="en-US" altLang="zh-CN" sz="1100" dirty="0">
              <a:solidFill>
                <a:srgbClr val="BFBFB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600450" y="3494088"/>
            <a:ext cx="2319338" cy="2319338"/>
          </a:xfrm>
          <a:prstGeom prst="rect">
            <a:avLst/>
          </a:prstGeom>
          <a:solidFill>
            <a:schemeClr val="bg1"/>
          </a:solidFill>
          <a:ln w="57150">
            <a:solidFill>
              <a:srgbClr val="CB9B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注页">
    <p:bg>
      <p:bgPr>
        <a:solidFill>
          <a:srgbClr val="E73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矩形 1"/>
          <p:cNvSpPr/>
          <p:nvPr userDrawn="1"/>
        </p:nvSpPr>
        <p:spPr>
          <a:xfrm>
            <a:off x="441325" y="760413"/>
            <a:ext cx="646113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lvl="0" defTabSz="608330" eaLnBrk="1" hangingPunct="1">
              <a:buNone/>
            </a:pPr>
            <a:r>
              <a:rPr lang="zh-CN" altLang="en-US" dirty="0">
                <a:solidFill>
                  <a:srgbClr val="FFFFFF"/>
                </a:solidFill>
                <a:latin typeface="Segoe UI Light" pitchFamily="34" charset="0"/>
                <a:ea typeface="微软雅黑" panose="020B0503020204020204" pitchFamily="34" charset="-122"/>
              </a:rPr>
              <a:t>标注</a:t>
            </a:r>
            <a:endParaRPr lang="zh-CN" altLang="en-US" dirty="0">
              <a:solidFill>
                <a:srgbClr val="FFFFFF"/>
              </a:solidFill>
              <a:latin typeface="Segoe UI Light" pitchFamily="34" charset="0"/>
              <a:ea typeface="微软雅黑" panose="020B0503020204020204" pitchFamily="34" charset="-122"/>
            </a:endParaRPr>
          </a:p>
        </p:txBody>
      </p:sp>
      <p:sp>
        <p:nvSpPr>
          <p:cNvPr id="15363" name="矩形 2"/>
          <p:cNvSpPr/>
          <p:nvPr userDrawn="1"/>
        </p:nvSpPr>
        <p:spPr>
          <a:xfrm>
            <a:off x="2573338" y="760413"/>
            <a:ext cx="1401762" cy="20240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defTabSz="608330" eaLnBrk="1" hangingPunct="1">
              <a:lnSpc>
                <a:spcPct val="130000"/>
              </a:lnSpc>
              <a:buNone/>
            </a:pPr>
            <a:r>
              <a:rPr lang="zh-CN" altLang="en-US" sz="1400" dirty="0">
                <a:solidFill>
                  <a:srgbClr val="FFFFFF"/>
                </a:solidFill>
                <a:latin typeface="Segoe UI Light" pitchFamily="34" charset="0"/>
                <a:ea typeface="微软雅黑" panose="020B0503020204020204" pitchFamily="34" charset="-122"/>
              </a:rPr>
              <a:t>使用说明 </a:t>
            </a:r>
            <a:endParaRPr lang="en-US" altLang="zh-CN" sz="1400" dirty="0">
              <a:solidFill>
                <a:srgbClr val="FFFFFF"/>
              </a:solidFill>
              <a:latin typeface="Segoe UI Light" pitchFamily="34" charset="0"/>
              <a:ea typeface="微软雅黑" panose="020B0503020204020204" pitchFamily="34" charset="-122"/>
            </a:endParaRPr>
          </a:p>
          <a:p>
            <a:pPr lvl="0" defTabSz="608330" eaLnBrk="1" hangingPunct="1">
              <a:lnSpc>
                <a:spcPct val="130000"/>
              </a:lnSpc>
              <a:buNone/>
            </a:pPr>
            <a:endParaRPr lang="en-US" altLang="zh-CN" sz="1400" dirty="0">
              <a:solidFill>
                <a:srgbClr val="FFFFFF"/>
              </a:solidFill>
              <a:latin typeface="Segoe UI Light" pitchFamily="34" charset="0"/>
              <a:ea typeface="微软雅黑" panose="020B0503020204020204" pitchFamily="34" charset="-122"/>
            </a:endParaRPr>
          </a:p>
          <a:p>
            <a:pPr lvl="0" defTabSz="608330" eaLnBrk="1" hangingPunct="1">
              <a:lnSpc>
                <a:spcPct val="130000"/>
              </a:lnSpc>
              <a:buNone/>
            </a:pPr>
            <a:endParaRPr lang="en-US" altLang="zh-CN" sz="1400" dirty="0">
              <a:solidFill>
                <a:srgbClr val="FFFFFF"/>
              </a:solidFill>
              <a:latin typeface="Segoe UI Light" pitchFamily="34" charset="0"/>
              <a:ea typeface="微软雅黑" panose="020B0503020204020204" pitchFamily="34" charset="-122"/>
            </a:endParaRPr>
          </a:p>
          <a:p>
            <a:pPr lvl="0" defTabSz="608330" eaLnBrk="1" hangingPunct="1">
              <a:lnSpc>
                <a:spcPct val="130000"/>
              </a:lnSpc>
              <a:buNone/>
            </a:pPr>
            <a:endParaRPr lang="en-US" altLang="zh-CN" sz="1400" dirty="0">
              <a:solidFill>
                <a:srgbClr val="FFFFFF"/>
              </a:solidFill>
              <a:latin typeface="Segoe UI Light" pitchFamily="34" charset="0"/>
              <a:ea typeface="微软雅黑" panose="020B0503020204020204" pitchFamily="34" charset="-122"/>
            </a:endParaRPr>
          </a:p>
          <a:p>
            <a:pPr lvl="0" defTabSz="608330" eaLnBrk="1" hangingPunct="1">
              <a:lnSpc>
                <a:spcPct val="130000"/>
              </a:lnSpc>
              <a:buNone/>
            </a:pPr>
            <a:endParaRPr lang="en-US" altLang="zh-CN" sz="1400" dirty="0">
              <a:solidFill>
                <a:srgbClr val="FFFFFF"/>
              </a:solidFill>
              <a:latin typeface="Segoe UI Light" pitchFamily="34" charset="0"/>
              <a:ea typeface="微软雅黑" panose="020B0503020204020204" pitchFamily="34" charset="-122"/>
            </a:endParaRPr>
          </a:p>
          <a:p>
            <a:pPr lvl="0" defTabSz="608330" eaLnBrk="1" hangingPunct="1">
              <a:lnSpc>
                <a:spcPct val="130000"/>
              </a:lnSpc>
              <a:buNone/>
            </a:pPr>
            <a:endParaRPr lang="en-US" altLang="zh-CN" sz="1400" dirty="0">
              <a:solidFill>
                <a:srgbClr val="FFFFFF"/>
              </a:solidFill>
              <a:latin typeface="Segoe UI Light" pitchFamily="34" charset="0"/>
              <a:ea typeface="微软雅黑" panose="020B0503020204020204" pitchFamily="34" charset="-122"/>
            </a:endParaRPr>
          </a:p>
          <a:p>
            <a:pPr lvl="0" defTabSz="608330" eaLnBrk="1" hangingPunct="1">
              <a:lnSpc>
                <a:spcPct val="130000"/>
              </a:lnSpc>
              <a:buNone/>
            </a:pPr>
            <a:r>
              <a:rPr lang="zh-CN" altLang="en-US" sz="1400" dirty="0">
                <a:solidFill>
                  <a:srgbClr val="FFFFFF"/>
                </a:solidFill>
                <a:latin typeface="Segoe UI Light" pitchFamily="34" charset="0"/>
                <a:ea typeface="微软雅黑" panose="020B0503020204020204" pitchFamily="34" charset="-122"/>
              </a:rPr>
              <a:t>声明</a:t>
            </a:r>
            <a:endParaRPr lang="en-US" altLang="zh-CN" sz="1400" dirty="0">
              <a:solidFill>
                <a:srgbClr val="FFFFFF"/>
              </a:solidFill>
              <a:latin typeface="Segoe UI Light" pitchFamily="34" charset="0"/>
              <a:ea typeface="微软雅黑" panose="020B0503020204020204" pitchFamily="34" charset="-122"/>
            </a:endParaRPr>
          </a:p>
        </p:txBody>
      </p:sp>
      <p:sp>
        <p:nvSpPr>
          <p:cNvPr id="15364" name="矩形 3"/>
          <p:cNvSpPr/>
          <p:nvPr userDrawn="1"/>
        </p:nvSpPr>
        <p:spPr>
          <a:xfrm>
            <a:off x="4152900" y="760413"/>
            <a:ext cx="7073900" cy="2584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1" hangingPunct="1">
              <a:lnSpc>
                <a:spcPct val="130000"/>
              </a:lnSpc>
              <a:buNone/>
            </a:pPr>
            <a:r>
              <a:rPr lang="zh-CN" altLang="en-US" sz="1400" dirty="0">
                <a:solidFill>
                  <a:srgbClr val="FFFFFF"/>
                </a:solidFill>
                <a:latin typeface="Segoe UI Light" pitchFamily="34" charset="0"/>
                <a:ea typeface="微软雅黑" panose="020B0503020204020204" pitchFamily="34" charset="-122"/>
              </a:rPr>
              <a:t>本</a:t>
            </a:r>
            <a:r>
              <a:rPr lang="en-US" altLang="zh-CN" sz="1400" dirty="0">
                <a:solidFill>
                  <a:srgbClr val="FFFFFF"/>
                </a:solidFill>
                <a:latin typeface="Segoe UI Light" pitchFamily="34" charset="0"/>
                <a:ea typeface="微软雅黑" panose="020B0503020204020204" pitchFamily="34" charset="-122"/>
              </a:rPr>
              <a:t>PPT</a:t>
            </a:r>
            <a:r>
              <a:rPr lang="zh-CN" altLang="en-US" sz="1400" dirty="0">
                <a:solidFill>
                  <a:srgbClr val="FFFFFF"/>
                </a:solidFill>
                <a:latin typeface="Segoe UI Light" pitchFamily="34" charset="0"/>
                <a:ea typeface="微软雅黑" panose="020B0503020204020204" pitchFamily="34" charset="-122"/>
              </a:rPr>
              <a:t>模板为作者原创，著作权归作者所有。</a:t>
            </a:r>
            <a:endParaRPr lang="en-US" altLang="zh-CN" sz="1400" dirty="0">
              <a:solidFill>
                <a:srgbClr val="FFFFFF"/>
              </a:solidFill>
              <a:latin typeface="Segoe UI Light" pitchFamily="34" charset="0"/>
              <a:ea typeface="微软雅黑" panose="020B0503020204020204" pitchFamily="34" charset="-122"/>
            </a:endParaRPr>
          </a:p>
          <a:p>
            <a:pPr lvl="0" eaLnBrk="1" hangingPunct="1">
              <a:lnSpc>
                <a:spcPct val="130000"/>
              </a:lnSpc>
              <a:buNone/>
            </a:pPr>
            <a:r>
              <a:rPr lang="zh-CN" altLang="en-US" sz="1400" dirty="0">
                <a:solidFill>
                  <a:srgbClr val="FFFFFF"/>
                </a:solidFill>
                <a:latin typeface="Segoe UI Light" pitchFamily="34" charset="0"/>
                <a:ea typeface="微软雅黑" panose="020B0503020204020204" pitchFamily="34" charset="-122"/>
              </a:rPr>
              <a:t>您仅可以个人非商业用途使用本</a:t>
            </a:r>
            <a:r>
              <a:rPr lang="en-US" altLang="zh-CN" sz="1400" dirty="0">
                <a:solidFill>
                  <a:srgbClr val="FFFFFF"/>
                </a:solidFill>
                <a:latin typeface="Segoe UI Light" pitchFamily="34" charset="0"/>
                <a:ea typeface="微软雅黑" panose="020B0503020204020204" pitchFamily="34" charset="-122"/>
              </a:rPr>
              <a:t>PPT</a:t>
            </a:r>
            <a:r>
              <a:rPr lang="zh-CN" altLang="en-US" sz="1400" dirty="0">
                <a:solidFill>
                  <a:srgbClr val="FFFFFF"/>
                </a:solidFill>
                <a:latin typeface="Segoe UI Light" pitchFamily="34" charset="0"/>
                <a:ea typeface="微软雅黑" panose="020B0503020204020204" pitchFamily="34" charset="-122"/>
              </a:rPr>
              <a:t>模板，</a:t>
            </a:r>
            <a:r>
              <a:rPr lang="zh-CN" altLang="en-US" sz="1400" dirty="0">
                <a:solidFill>
                  <a:srgbClr val="FFFFFF"/>
                </a:solidFill>
                <a:latin typeface="Century Gothic" panose="020B0502020202020204" pitchFamily="34" charset="0"/>
                <a:ea typeface="微软雅黑" panose="020B0503020204020204" pitchFamily="34" charset="-122"/>
              </a:rPr>
              <a:t>未经权利人书面明确授权，不可将信息内容的全部或部分用于出售，或以出租、出借、转让、分销、发布等其他任何方式供他人使用</a:t>
            </a:r>
            <a:r>
              <a:rPr lang="zh-CN" altLang="en-US" sz="1400" dirty="0">
                <a:solidFill>
                  <a:srgbClr val="FFFFFF"/>
                </a:solidFill>
                <a:latin typeface="Segoe UI Light" pitchFamily="34" charset="0"/>
                <a:ea typeface="微软雅黑" panose="020B0503020204020204" pitchFamily="34" charset="-122"/>
              </a:rPr>
              <a:t>，</a:t>
            </a:r>
            <a:r>
              <a:rPr lang="zh-CN" altLang="en-US" sz="1400" dirty="0">
                <a:solidFill>
                  <a:srgbClr val="FFFFFF"/>
                </a:solidFill>
                <a:latin typeface="Century Gothic" panose="020B0502020202020204" pitchFamily="34" charset="0"/>
                <a:ea typeface="微软雅黑" panose="020B0503020204020204" pitchFamily="34" charset="-122"/>
              </a:rPr>
              <a:t>否则将承担法律责任。</a:t>
            </a:r>
            <a:endParaRPr lang="en-US" altLang="zh-CN" sz="1400" dirty="0">
              <a:solidFill>
                <a:srgbClr val="FFFFFF"/>
              </a:solidFill>
              <a:latin typeface="Segoe UI Light" pitchFamily="34" charset="0"/>
              <a:ea typeface="微软雅黑" panose="020B0503020204020204" pitchFamily="34" charset="-122"/>
            </a:endParaRPr>
          </a:p>
          <a:p>
            <a:pPr lvl="0" eaLnBrk="1" hangingPunct="1">
              <a:lnSpc>
                <a:spcPct val="130000"/>
              </a:lnSpc>
              <a:buNone/>
            </a:pPr>
            <a:endParaRPr lang="en-US" altLang="zh-CN" sz="1400" dirty="0">
              <a:solidFill>
                <a:srgbClr val="FFFFFF"/>
              </a:solidFill>
              <a:latin typeface="Segoe UI Light" pitchFamily="34" charset="0"/>
              <a:ea typeface="微软雅黑" panose="020B0503020204020204" pitchFamily="34" charset="-122"/>
            </a:endParaRPr>
          </a:p>
          <a:p>
            <a:pPr lvl="0" eaLnBrk="1" hangingPunct="1">
              <a:lnSpc>
                <a:spcPct val="130000"/>
              </a:lnSpc>
              <a:buNone/>
            </a:pPr>
            <a:endParaRPr lang="en-US" altLang="zh-CN" sz="1400" dirty="0">
              <a:solidFill>
                <a:srgbClr val="FFFFFF"/>
              </a:solidFill>
              <a:latin typeface="Segoe UI Light" pitchFamily="34" charset="0"/>
              <a:ea typeface="微软雅黑" panose="020B0503020204020204" pitchFamily="34" charset="-122"/>
            </a:endParaRPr>
          </a:p>
          <a:p>
            <a:pPr lvl="0" eaLnBrk="1" hangingPunct="1">
              <a:lnSpc>
                <a:spcPct val="130000"/>
              </a:lnSpc>
              <a:buNone/>
            </a:pPr>
            <a:r>
              <a:rPr lang="en-US" altLang="zh-CN" sz="1400" dirty="0">
                <a:solidFill>
                  <a:srgbClr val="FFFFFF"/>
                </a:solidFill>
                <a:latin typeface="Segoe UI Light" pitchFamily="34" charset="0"/>
                <a:ea typeface="微软雅黑" panose="020B0503020204020204" pitchFamily="34" charset="-122"/>
              </a:rPr>
              <a:t>OfficePLUS</a:t>
            </a:r>
            <a:r>
              <a:rPr lang="zh-CN" altLang="en-US" sz="1400" dirty="0">
                <a:solidFill>
                  <a:srgbClr val="FFFFFF"/>
                </a:solidFill>
                <a:latin typeface="Segoe UI Light" pitchFamily="34" charset="0"/>
                <a:ea typeface="微软雅黑" panose="020B0503020204020204" pitchFamily="34" charset="-122"/>
              </a:rPr>
              <a:t>尊重知识产权并注重保护用户享有的各项权利。</a:t>
            </a:r>
            <a:endParaRPr lang="en-US" altLang="zh-CN" sz="1400" dirty="0">
              <a:solidFill>
                <a:srgbClr val="FFFFFF"/>
              </a:solidFill>
              <a:latin typeface="Segoe UI Light" pitchFamily="34" charset="0"/>
              <a:ea typeface="微软雅黑" panose="020B0503020204020204" pitchFamily="34" charset="-122"/>
            </a:endParaRPr>
          </a:p>
          <a:p>
            <a:pPr lvl="0" eaLnBrk="1" hangingPunct="1">
              <a:lnSpc>
                <a:spcPct val="130000"/>
              </a:lnSpc>
              <a:buNone/>
            </a:pPr>
            <a:r>
              <a:rPr lang="en-US" altLang="zh-CN" sz="1400" dirty="0">
                <a:solidFill>
                  <a:srgbClr val="FFFFFF"/>
                </a:solidFill>
                <a:latin typeface="Segoe UI Light" pitchFamily="34" charset="0"/>
                <a:ea typeface="微软雅黑" panose="020B0503020204020204" pitchFamily="34" charset="-122"/>
              </a:rPr>
              <a:t>OfficePLUS</a:t>
            </a:r>
            <a:r>
              <a:rPr lang="zh-CN" altLang="en-US" sz="1400" dirty="0">
                <a:solidFill>
                  <a:srgbClr val="FFFFFF"/>
                </a:solidFill>
                <a:latin typeface="Segoe UI Light" pitchFamily="34" charset="0"/>
                <a:ea typeface="微软雅黑" panose="020B0503020204020204" pitchFamily="34" charset="-122"/>
              </a:rPr>
              <a:t>拥有对本</a:t>
            </a:r>
            <a:r>
              <a:rPr lang="en-US" altLang="zh-CN" sz="1400" dirty="0">
                <a:solidFill>
                  <a:srgbClr val="FFFFFF"/>
                </a:solidFill>
                <a:latin typeface="Segoe UI Light" pitchFamily="34" charset="0"/>
                <a:ea typeface="微软雅黑" panose="020B0503020204020204" pitchFamily="34" charset="-122"/>
              </a:rPr>
              <a:t>PPT</a:t>
            </a:r>
            <a:r>
              <a:rPr lang="zh-CN" altLang="en-US" sz="1400" dirty="0">
                <a:solidFill>
                  <a:srgbClr val="FFFFFF"/>
                </a:solidFill>
                <a:latin typeface="Segoe UI Light" pitchFamily="34" charset="0"/>
                <a:ea typeface="微软雅黑" panose="020B0503020204020204" pitchFamily="34" charset="-122"/>
              </a:rPr>
              <a:t>模板进行展示、报道、宣传及用于市场活动的权利，若在比赛或商业应用过程中发生版权纠纷，其法律责任由作者本人承担。</a:t>
            </a:r>
            <a:endParaRPr lang="zh-CN" altLang="en-US" sz="1400" dirty="0">
              <a:solidFill>
                <a:srgbClr val="FFFFFF"/>
              </a:solidFill>
              <a:latin typeface="Segoe UI Light" pitchFamily="34" charset="0"/>
              <a:ea typeface="微软雅黑" panose="020B0503020204020204" pitchFamily="34" charset="-122"/>
            </a:endParaRPr>
          </a:p>
        </p:txBody>
      </p:sp>
      <p:sp>
        <p:nvSpPr>
          <p:cNvPr id="15365" name="矩形 4"/>
          <p:cNvSpPr/>
          <p:nvPr userDrawn="1"/>
        </p:nvSpPr>
        <p:spPr>
          <a:xfrm>
            <a:off x="441325" y="182563"/>
            <a:ext cx="776288" cy="2460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lvl="0" defTabSz="608330" eaLnBrk="1" hangingPunct="1">
              <a:buNone/>
            </a:pPr>
            <a:r>
              <a:rPr lang="en-US" altLang="zh-CN" sz="1000" dirty="0">
                <a:solidFill>
                  <a:srgbClr val="FFFFFF"/>
                </a:solidFill>
                <a:latin typeface="Segoe UI Light" pitchFamily="34" charset="0"/>
                <a:ea typeface="微软雅黑" panose="020B0503020204020204" pitchFamily="34" charset="-122"/>
              </a:rPr>
              <a:t>OfficePLUS</a:t>
            </a:r>
            <a:endParaRPr lang="zh-CN" altLang="en-US" sz="1000" dirty="0">
              <a:solidFill>
                <a:srgbClr val="FFFFFF"/>
              </a:solidFill>
              <a:latin typeface="Segoe UI Light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1026"/>
          <p:cNvSpPr>
            <a:spLocks noGrp="1"/>
          </p:cNvSpPr>
          <p:nvPr>
            <p:ph type="body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eaLnBrk="1" hangingPunct="1">
              <a:defRPr sz="1400" noProof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 eaLnBrk="1" hangingPunct="1">
              <a:defRPr sz="1400" noProof="1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 eaLnBrk="1" hangingPunct="1">
              <a:defRPr sz="1400" noProof="1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912C03D-5225-4B16-87E2-1772F429F958}" type="slidenum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704020202020204" pitchFamily="34" charset="0"/>
                <a:ea typeface="宋体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宋体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704020202020204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704020202020204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704020202020204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704020202020204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704020202020204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704020202020204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704020202020204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704020202020204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704020202020204" pitchFamily="34" charset="0"/>
          <a:ea typeface="宋体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704020202020204" pitchFamily="34" charset="0"/>
          <a:ea typeface="宋体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704020202020204" pitchFamily="34" charset="0"/>
          <a:ea typeface="宋体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704020202020204" pitchFamily="34" charset="0"/>
          <a:ea typeface="宋体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704020202020204" pitchFamily="34" charset="0"/>
          <a:ea typeface="宋体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704020202020204" pitchFamily="34" charset="0"/>
          <a:ea typeface="宋体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704020202020204" pitchFamily="34" charset="0"/>
          <a:ea typeface="宋体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704020202020204" pitchFamily="34" charset="0"/>
          <a:ea typeface="宋体" pitchFamily="2" charset="-122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hf sldNum="0" hdr="0" ftr="0" dt="0"/>
  <p:txStyles>
    <p:titleStyle>
      <a:lvl1pPr algn="ctr" defTabSz="1219200" rtl="0" eaLnBrk="1" latinLnBrk="0" hangingPunct="1">
        <a:spcBef>
          <a:spcPct val="0"/>
        </a:spcBef>
        <a:buNone/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9200" rtl="0" eaLnBrk="1" latinLnBrk="0" hangingPunct="1">
        <a:spcBef>
          <a:spcPts val="130"/>
        </a:spcBef>
        <a:buFont typeface="Arial" panose="020B07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1219200" rtl="0" eaLnBrk="1" latinLnBrk="0" hangingPunct="1">
        <a:spcBef>
          <a:spcPts val="130"/>
        </a:spcBef>
        <a:buFont typeface="Arial" panose="020B07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9200" rtl="0" eaLnBrk="1" latinLnBrk="0" hangingPunct="1">
        <a:spcBef>
          <a:spcPts val="130"/>
        </a:spcBef>
        <a:buFont typeface="Arial" panose="020B07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9200" rtl="0" eaLnBrk="1" latinLnBrk="0" hangingPunct="1">
        <a:spcBef>
          <a:spcPts val="130"/>
        </a:spcBef>
        <a:buFont typeface="Arial" panose="020B07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0" hangingPunct="1">
        <a:spcBef>
          <a:spcPts val="130"/>
        </a:spcBef>
        <a:buFont typeface="Arial" panose="020B07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ts val="130"/>
        </a:spcBef>
        <a:buFont typeface="Arial" panose="020B07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ts val="130"/>
        </a:spcBef>
        <a:buFont typeface="Arial" panose="020B07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ts val="130"/>
        </a:spcBef>
        <a:buFont typeface="Arial" panose="020B07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ts val="130"/>
        </a:spcBef>
        <a:buFont typeface="Arial" panose="020B07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file:///C:\Users\cwk\AppData\Local\Temp\wps\INetCache\43deb71cc2b797c8b7bc7d3f929ef69e" TargetMode="Externa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file:///C:\Users\cwk\AppData\Local\Temp\wps\INetCache\f62b02df6a268f18675d6fafa720c764" TargetMode="External"/><Relationship Id="rId1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tags" Target="../tags/tag2.xml"/><Relationship Id="rId3" Type="http://schemas.openxmlformats.org/officeDocument/2006/relationships/image" Target="file:///C:\Users\cwk\AppData\Local\Temp\wps\INetCache\4dddc5708f115ac2a9d46b7f279d762d" TargetMode="External"/><Relationship Id="rId2" Type="http://schemas.openxmlformats.org/officeDocument/2006/relationships/image" Target="../media/image8.jpeg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tags" Target="../tags/tag4.xml"/><Relationship Id="rId3" Type="http://schemas.openxmlformats.org/officeDocument/2006/relationships/image" Target="file:///C:\Users\cwk\AppData\Local\Temp\wps\INetCache\4dddc5708f115ac2a9d46b7f279d762d" TargetMode="External"/><Relationship Id="rId2" Type="http://schemas.openxmlformats.org/officeDocument/2006/relationships/image" Target="../media/image8.jpeg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2" Type="http://schemas.openxmlformats.org/officeDocument/2006/relationships/image" Target="file:///C:\Users\cwk\AppData\Local\Temp\wps\INetCache\4dddc5708f115ac2a9d46b7f279d762d" TargetMode="External"/><Relationship Id="rId1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5.xml"/><Relationship Id="rId3" Type="http://schemas.openxmlformats.org/officeDocument/2006/relationships/image" Target="../media/image9.png"/><Relationship Id="rId2" Type="http://schemas.openxmlformats.org/officeDocument/2006/relationships/image" Target="file:///C:\Users\cwk\AppData\Local\Temp\wps\INetCache\4dddc5708f115ac2a9d46b7f279d762d" TargetMode="External"/><Relationship Id="rId1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2" Type="http://schemas.openxmlformats.org/officeDocument/2006/relationships/image" Target="file:///C:\Users\cwk\AppData\Local\Temp\wps\INetCache\4dddc5708f115ac2a9d46b7f279d762d" TargetMode="External"/><Relationship Id="rId1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2" Type="http://schemas.openxmlformats.org/officeDocument/2006/relationships/image" Target="file:///C:\Users\cwk\AppData\Local\Temp\wps\INetCache\4dddc5708f115ac2a9d46b7f279d762d" TargetMode="External"/><Relationship Id="rId1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file:///C:\Users\cwk\AppData\Local\Temp\wps\INetCache\4dddc5708f115ac2a9d46b7f279d762d" TargetMode="External"/><Relationship Id="rId1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9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file:///C:\Users\cwk\AppData\Local\Temp\wps\INetCache\43deb71cc2b797c8b7bc7d3f929ef69e" TargetMode="Externa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file:///C:\Users\cwk\AppData\Local\Temp\wps\INetCache\f62b02df6a268f18675d6fafa720c764" TargetMode="External"/><Relationship Id="rId1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0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3.png"/><Relationship Id="rId6" Type="http://schemas.openxmlformats.org/officeDocument/2006/relationships/image" Target="../media/image12.png"/><Relationship Id="rId5" Type="http://schemas.openxmlformats.org/officeDocument/2006/relationships/image" Target="../media/image9.png"/><Relationship Id="rId4" Type="http://schemas.openxmlformats.org/officeDocument/2006/relationships/tags" Target="../tags/tag7.xml"/><Relationship Id="rId3" Type="http://schemas.openxmlformats.org/officeDocument/2006/relationships/image" Target="file:///C:\Users\cwk\AppData\Local\Temp\wps\INetCache\4dddc5708f115ac2a9d46b7f279d762d" TargetMode="External"/><Relationship Id="rId2" Type="http://schemas.openxmlformats.org/officeDocument/2006/relationships/image" Target="../media/image8.jpeg"/><Relationship Id="rId1" Type="http://schemas.openxmlformats.org/officeDocument/2006/relationships/tags" Target="../tags/tag6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1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9.png"/><Relationship Id="rId3" Type="http://schemas.openxmlformats.org/officeDocument/2006/relationships/image" Target="file:///C:\Users\cwk\AppData\Local\Temp\wps\INetCache\4dddc5708f115ac2a9d46b7f279d762d" TargetMode="External"/><Relationship Id="rId2" Type="http://schemas.openxmlformats.org/officeDocument/2006/relationships/image" Target="../media/image8.jpeg"/><Relationship Id="rId1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8.xml"/><Relationship Id="rId3" Type="http://schemas.openxmlformats.org/officeDocument/2006/relationships/image" Target="../media/image9.png"/><Relationship Id="rId2" Type="http://schemas.openxmlformats.org/officeDocument/2006/relationships/image" Target="file:///C:\Users\cwk\AppData\Local\Temp\wps\INetCache\4dddc5708f115ac2a9d46b7f279d762d" TargetMode="External"/><Relationship Id="rId1" Type="http://schemas.openxmlformats.org/officeDocument/2006/relationships/image" Target="../media/image8.jpe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2" Type="http://schemas.openxmlformats.org/officeDocument/2006/relationships/image" Target="file:///C:\Users\cwk\AppData\Local\Temp\wps\INetCache\4dddc5708f115ac2a9d46b7f279d762d" TargetMode="External"/><Relationship Id="rId1" Type="http://schemas.openxmlformats.org/officeDocument/2006/relationships/image" Target="../media/image8.jpe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2" Type="http://schemas.openxmlformats.org/officeDocument/2006/relationships/image" Target="file:///C:\Users\cwk\AppData\Local\Temp\wps\INetCache\4dddc5708f115ac2a9d46b7f279d762d" TargetMode="External"/><Relationship Id="rId1" Type="http://schemas.openxmlformats.org/officeDocument/2006/relationships/image" Target="../media/image8.jpe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5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GIF"/><Relationship Id="rId4" Type="http://schemas.openxmlformats.org/officeDocument/2006/relationships/image" Target="../media/image17.png"/><Relationship Id="rId3" Type="http://schemas.openxmlformats.org/officeDocument/2006/relationships/image" Target="../media/image9.png"/><Relationship Id="rId2" Type="http://schemas.openxmlformats.org/officeDocument/2006/relationships/image" Target="file:///C:\Users\cwk\AppData\Local\Temp\wps\INetCache\4dddc5708f115ac2a9d46b7f279d762d" TargetMode="External"/><Relationship Id="rId1" Type="http://schemas.openxmlformats.org/officeDocument/2006/relationships/image" Target="../media/image8.jpeg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6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0.png"/><Relationship Id="rId3" Type="http://schemas.openxmlformats.org/officeDocument/2006/relationships/image" Target="../media/image9.png"/><Relationship Id="rId2" Type="http://schemas.openxmlformats.org/officeDocument/2006/relationships/image" Target="file:///C:\Users\cwk\AppData\Local\Temp\wps\INetCache\4dddc5708f115ac2a9d46b7f279d762d" TargetMode="External"/><Relationship Id="rId1" Type="http://schemas.openxmlformats.org/officeDocument/2006/relationships/image" Target="../media/image8.jpe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26.png"/><Relationship Id="rId8" Type="http://schemas.openxmlformats.org/officeDocument/2006/relationships/image" Target="../media/image25.png"/><Relationship Id="rId7" Type="http://schemas.openxmlformats.org/officeDocument/2006/relationships/image" Target="../media/image24.png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3" Type="http://schemas.openxmlformats.org/officeDocument/2006/relationships/image" Target="../media/image9.png"/><Relationship Id="rId2" Type="http://schemas.openxmlformats.org/officeDocument/2006/relationships/image" Target="file:///C:\Users\cwk\AppData\Local\Temp\wps\INetCache\4dddc5708f115ac2a9d46b7f279d762d" TargetMode="External"/><Relationship Id="rId15" Type="http://schemas.openxmlformats.org/officeDocument/2006/relationships/notesSlide" Target="../notesSlides/notesSlide17.xml"/><Relationship Id="rId14" Type="http://schemas.openxmlformats.org/officeDocument/2006/relationships/slideLayout" Target="../slideLayouts/slideLayout1.xml"/><Relationship Id="rId13" Type="http://schemas.openxmlformats.org/officeDocument/2006/relationships/image" Target="../media/image30.png"/><Relationship Id="rId12" Type="http://schemas.openxmlformats.org/officeDocument/2006/relationships/image" Target="../media/image29.png"/><Relationship Id="rId11" Type="http://schemas.openxmlformats.org/officeDocument/2006/relationships/image" Target="../media/image28.png"/><Relationship Id="rId10" Type="http://schemas.openxmlformats.org/officeDocument/2006/relationships/image" Target="../media/image27.png"/><Relationship Id="rId1" Type="http://schemas.openxmlformats.org/officeDocument/2006/relationships/image" Target="../media/image8.jpe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25.png"/><Relationship Id="rId8" Type="http://schemas.openxmlformats.org/officeDocument/2006/relationships/image" Target="../media/image24.png"/><Relationship Id="rId7" Type="http://schemas.openxmlformats.org/officeDocument/2006/relationships/image" Target="../media/image23.png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31.png"/><Relationship Id="rId3" Type="http://schemas.openxmlformats.org/officeDocument/2006/relationships/image" Target="../media/image9.png"/><Relationship Id="rId20" Type="http://schemas.openxmlformats.org/officeDocument/2006/relationships/notesSlide" Target="../notesSlides/notesSlide18.xml"/><Relationship Id="rId2" Type="http://schemas.openxmlformats.org/officeDocument/2006/relationships/image" Target="file:///C:\Users\cwk\AppData\Local\Temp\wps\INetCache\4dddc5708f115ac2a9d46b7f279d762d" TargetMode="External"/><Relationship Id="rId19" Type="http://schemas.openxmlformats.org/officeDocument/2006/relationships/slideLayout" Target="../slideLayouts/slideLayout1.xml"/><Relationship Id="rId18" Type="http://schemas.openxmlformats.org/officeDocument/2006/relationships/image" Target="../media/image35.png"/><Relationship Id="rId17" Type="http://schemas.openxmlformats.org/officeDocument/2006/relationships/image" Target="../media/image34.png"/><Relationship Id="rId16" Type="http://schemas.openxmlformats.org/officeDocument/2006/relationships/image" Target="../media/image33.png"/><Relationship Id="rId15" Type="http://schemas.openxmlformats.org/officeDocument/2006/relationships/image" Target="../media/image32.png"/><Relationship Id="rId14" Type="http://schemas.openxmlformats.org/officeDocument/2006/relationships/image" Target="../media/image30.png"/><Relationship Id="rId13" Type="http://schemas.openxmlformats.org/officeDocument/2006/relationships/image" Target="../media/image29.png"/><Relationship Id="rId12" Type="http://schemas.openxmlformats.org/officeDocument/2006/relationships/image" Target="../media/image28.png"/><Relationship Id="rId11" Type="http://schemas.openxmlformats.org/officeDocument/2006/relationships/image" Target="../media/image27.png"/><Relationship Id="rId10" Type="http://schemas.openxmlformats.org/officeDocument/2006/relationships/image" Target="../media/image26.png"/><Relationship Id="rId1" Type="http://schemas.openxmlformats.org/officeDocument/2006/relationships/image" Target="../media/image8.jpeg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9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.png"/><Relationship Id="rId3" Type="http://schemas.openxmlformats.org/officeDocument/2006/relationships/image" Target="file:///C:\Users\cwk\AppData\Local\Temp\wps\INetCache\4dddc5708f115ac2a9d46b7f279d762d" TargetMode="External"/><Relationship Id="rId2" Type="http://schemas.openxmlformats.org/officeDocument/2006/relationships/image" Target="../media/image8.jpeg"/><Relationship Id="rId1" Type="http://schemas.openxmlformats.org/officeDocument/2006/relationships/image" Target="../media/image36.png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image" Target="../media/image23.png"/><Relationship Id="rId8" Type="http://schemas.openxmlformats.org/officeDocument/2006/relationships/image" Target="../media/image22.png"/><Relationship Id="rId7" Type="http://schemas.openxmlformats.org/officeDocument/2006/relationships/image" Target="../media/image39.png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Relationship Id="rId3" Type="http://schemas.openxmlformats.org/officeDocument/2006/relationships/image" Target="../media/image9.png"/><Relationship Id="rId2" Type="http://schemas.openxmlformats.org/officeDocument/2006/relationships/image" Target="file:///C:\Users\cwk\AppData\Local\Temp\wps\INetCache\4dddc5708f115ac2a9d46b7f279d762d" TargetMode="External"/><Relationship Id="rId18" Type="http://schemas.openxmlformats.org/officeDocument/2006/relationships/notesSlide" Target="../notesSlides/notesSlide20.xml"/><Relationship Id="rId17" Type="http://schemas.openxmlformats.org/officeDocument/2006/relationships/slideLayout" Target="../slideLayouts/slideLayout1.xml"/><Relationship Id="rId16" Type="http://schemas.openxmlformats.org/officeDocument/2006/relationships/image" Target="../media/image42.png"/><Relationship Id="rId15" Type="http://schemas.openxmlformats.org/officeDocument/2006/relationships/image" Target="../media/image41.png"/><Relationship Id="rId14" Type="http://schemas.openxmlformats.org/officeDocument/2006/relationships/image" Target="../media/image30.png"/><Relationship Id="rId13" Type="http://schemas.openxmlformats.org/officeDocument/2006/relationships/image" Target="../media/image29.png"/><Relationship Id="rId12" Type="http://schemas.openxmlformats.org/officeDocument/2006/relationships/image" Target="../media/image40.png"/><Relationship Id="rId11" Type="http://schemas.openxmlformats.org/officeDocument/2006/relationships/image" Target="../media/image24.png"/><Relationship Id="rId10" Type="http://schemas.openxmlformats.org/officeDocument/2006/relationships/image" Target="../media/image25.png"/><Relationship Id="rId1" Type="http://schemas.openxmlformats.org/officeDocument/2006/relationships/image" Target="../media/image8.jpeg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3.png"/><Relationship Id="rId3" Type="http://schemas.openxmlformats.org/officeDocument/2006/relationships/image" Target="../media/image9.png"/><Relationship Id="rId2" Type="http://schemas.openxmlformats.org/officeDocument/2006/relationships/image" Target="file:///C:\Users\cwk\AppData\Local\Temp\wps\INetCache\4dddc5708f115ac2a9d46b7f279d762d" TargetMode="External"/><Relationship Id="rId1" Type="http://schemas.openxmlformats.org/officeDocument/2006/relationships/image" Target="../media/image8.jpeg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image" Target="../media/image23.png"/><Relationship Id="rId8" Type="http://schemas.openxmlformats.org/officeDocument/2006/relationships/image" Target="../media/image22.png"/><Relationship Id="rId7" Type="http://schemas.openxmlformats.org/officeDocument/2006/relationships/image" Target="../media/image47.png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Relationship Id="rId3" Type="http://schemas.openxmlformats.org/officeDocument/2006/relationships/image" Target="../media/image9.png"/><Relationship Id="rId2" Type="http://schemas.openxmlformats.org/officeDocument/2006/relationships/image" Target="file:///C:\Users\cwk\AppData\Local\Temp\wps\INetCache\4dddc5708f115ac2a9d46b7f279d762d" TargetMode="External"/><Relationship Id="rId15" Type="http://schemas.openxmlformats.org/officeDocument/2006/relationships/notesSlide" Target="../notesSlides/notesSlide22.xml"/><Relationship Id="rId14" Type="http://schemas.openxmlformats.org/officeDocument/2006/relationships/slideLayout" Target="../slideLayouts/slideLayout1.xml"/><Relationship Id="rId13" Type="http://schemas.openxmlformats.org/officeDocument/2006/relationships/image" Target="../media/image29.png"/><Relationship Id="rId12" Type="http://schemas.openxmlformats.org/officeDocument/2006/relationships/image" Target="../media/image26.png"/><Relationship Id="rId11" Type="http://schemas.openxmlformats.org/officeDocument/2006/relationships/image" Target="../media/image24.png"/><Relationship Id="rId10" Type="http://schemas.openxmlformats.org/officeDocument/2006/relationships/image" Target="../media/image25.png"/><Relationship Id="rId1" Type="http://schemas.openxmlformats.org/officeDocument/2006/relationships/image" Target="../media/image8.jpe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3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5" Type="http://schemas.openxmlformats.org/officeDocument/2006/relationships/tags" Target="../tags/tag9.xml"/><Relationship Id="rId4" Type="http://schemas.openxmlformats.org/officeDocument/2006/relationships/image" Target="../media/image48.GIF"/><Relationship Id="rId3" Type="http://schemas.openxmlformats.org/officeDocument/2006/relationships/image" Target="../media/image9.png"/><Relationship Id="rId2" Type="http://schemas.openxmlformats.org/officeDocument/2006/relationships/image" Target="file:///C:\Users\cwk\AppData\Local\Temp\wps\INetCache\4dddc5708f115ac2a9d46b7f279d762d" TargetMode="External"/><Relationship Id="rId1" Type="http://schemas.openxmlformats.org/officeDocument/2006/relationships/image" Target="../media/image8.jpeg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52.png"/><Relationship Id="rId7" Type="http://schemas.openxmlformats.org/officeDocument/2006/relationships/tags" Target="../tags/tag11.xml"/><Relationship Id="rId6" Type="http://schemas.openxmlformats.org/officeDocument/2006/relationships/image" Target="../media/image51.tiff"/><Relationship Id="rId5" Type="http://schemas.openxmlformats.org/officeDocument/2006/relationships/tags" Target="../tags/tag10.xml"/><Relationship Id="rId4" Type="http://schemas.openxmlformats.org/officeDocument/2006/relationships/image" Target="../media/image50.jpeg"/><Relationship Id="rId3" Type="http://schemas.openxmlformats.org/officeDocument/2006/relationships/image" Target="../media/image9.png"/><Relationship Id="rId2" Type="http://schemas.openxmlformats.org/officeDocument/2006/relationships/image" Target="file:///C:\Users\cwk\AppData\Local\Temp\wps\INetCache\4dddc5708f115ac2a9d46b7f279d762d" TargetMode="External"/><Relationship Id="rId10" Type="http://schemas.openxmlformats.org/officeDocument/2006/relationships/notesSlide" Target="../notesSlides/notesSlide24.xml"/><Relationship Id="rId1" Type="http://schemas.openxmlformats.org/officeDocument/2006/relationships/image" Target="../media/image8.jpeg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5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52.png"/><Relationship Id="rId6" Type="http://schemas.openxmlformats.org/officeDocument/2006/relationships/tags" Target="../tags/tag13.xml"/><Relationship Id="rId5" Type="http://schemas.openxmlformats.org/officeDocument/2006/relationships/image" Target="../media/image51.tiff"/><Relationship Id="rId4" Type="http://schemas.openxmlformats.org/officeDocument/2006/relationships/tags" Target="../tags/tag12.xml"/><Relationship Id="rId3" Type="http://schemas.openxmlformats.org/officeDocument/2006/relationships/image" Target="../media/image9.png"/><Relationship Id="rId2" Type="http://schemas.openxmlformats.org/officeDocument/2006/relationships/image" Target="file:///C:\Users\cwk\AppData\Local\Temp\wps\INetCache\4dddc5708f115ac2a9d46b7f279d762d" TargetMode="External"/><Relationship Id="rId1" Type="http://schemas.openxmlformats.org/officeDocument/2006/relationships/image" Target="../media/image8.jpeg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2" Type="http://schemas.openxmlformats.org/officeDocument/2006/relationships/image" Target="file:///C:\Users\cwk\AppData\Local\Temp\wps\INetCache\4dddc5708f115ac2a9d46b7f279d762d" TargetMode="External"/><Relationship Id="rId1" Type="http://schemas.openxmlformats.org/officeDocument/2006/relationships/image" Target="../media/image8.jpeg"/></Relationships>
</file>

<file path=ppt/slides/_rels/slide2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7.xml"/><Relationship Id="rId6" Type="http://schemas.openxmlformats.org/officeDocument/2006/relationships/slideLayout" Target="../slideLayouts/slideLayout1.xml"/><Relationship Id="rId5" Type="http://schemas.openxmlformats.org/officeDocument/2006/relationships/hyperlink" Target="https://scholar.google.com/" TargetMode="External"/><Relationship Id="rId4" Type="http://schemas.openxmlformats.org/officeDocument/2006/relationships/hyperlink" Target="https://dblp.org/" TargetMode="External"/><Relationship Id="rId3" Type="http://schemas.openxmlformats.org/officeDocument/2006/relationships/image" Target="../media/image9.png"/><Relationship Id="rId2" Type="http://schemas.openxmlformats.org/officeDocument/2006/relationships/image" Target="file:///C:\Users\cwk\AppData\Local\Temp\wps\INetCache\4dddc5708f115ac2a9d46b7f279d762d" TargetMode="External"/><Relationship Id="rId1" Type="http://schemas.openxmlformats.org/officeDocument/2006/relationships/image" Target="../media/image8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5.xml"/></Relationships>
</file>

<file path=ppt/slides/_rels/slide4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2" Type="http://schemas.openxmlformats.org/officeDocument/2006/relationships/image" Target="file:///C:\Users\cwk\AppData\Local\Temp\wps\INetCache\4dddc5708f115ac2a9d46b7f279d762d" TargetMode="External"/><Relationship Id="rId1" Type="http://schemas.openxmlformats.org/officeDocument/2006/relationships/image" Target="../media/image8.jpeg"/></Relationships>
</file>

<file path=ppt/slides/_rels/slide43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tags" Target="../tags/tag17.xml"/><Relationship Id="rId7" Type="http://schemas.openxmlformats.org/officeDocument/2006/relationships/image" Target="file:///C:\Users\cwk\AppData\Local\Temp\wps\INetCache\43deb71cc2b797c8b7bc7d3f929ef69e" TargetMode="External"/><Relationship Id="rId6" Type="http://schemas.openxmlformats.org/officeDocument/2006/relationships/image" Target="../media/image6.png"/><Relationship Id="rId5" Type="http://schemas.openxmlformats.org/officeDocument/2006/relationships/tags" Target="../tags/tag16.xml"/><Relationship Id="rId4" Type="http://schemas.openxmlformats.org/officeDocument/2006/relationships/tags" Target="../tags/tag15.xml"/><Relationship Id="rId3" Type="http://schemas.openxmlformats.org/officeDocument/2006/relationships/image" Target="file:///C:\Users\cwk\AppData\Local\Temp\wps\INetCache\f62b02df6a268f18675d6fafa720c764" TargetMode="External"/><Relationship Id="rId2" Type="http://schemas.openxmlformats.org/officeDocument/2006/relationships/image" Target="../media/image4.jpeg"/><Relationship Id="rId15" Type="http://schemas.openxmlformats.org/officeDocument/2006/relationships/notesSlide" Target="../notesSlides/notesSlide43.xml"/><Relationship Id="rId14" Type="http://schemas.openxmlformats.org/officeDocument/2006/relationships/slideLayout" Target="../slideLayouts/slideLayout1.xml"/><Relationship Id="rId13" Type="http://schemas.openxmlformats.org/officeDocument/2006/relationships/hyperlink" Target="mailto:51215903025@stu.ecnu.edu.cn" TargetMode="External"/><Relationship Id="rId12" Type="http://schemas.openxmlformats.org/officeDocument/2006/relationships/tags" Target="../tags/tag20.xml"/><Relationship Id="rId11" Type="http://schemas.openxmlformats.org/officeDocument/2006/relationships/tags" Target="../tags/tag19.xml"/><Relationship Id="rId10" Type="http://schemas.openxmlformats.org/officeDocument/2006/relationships/tags" Target="../tags/tag18.xml"/><Relationship Id="rId1" Type="http://schemas.openxmlformats.org/officeDocument/2006/relationships/tags" Target="../tags/tag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8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图片 104"/>
          <p:cNvPicPr/>
          <p:nvPr/>
        </p:nvPicPr>
        <p:blipFill>
          <a:blip r:embed="rId1" r:link="rId2"/>
          <a:srcRect t="24211" r="3780" b="21843"/>
          <a:stretch>
            <a:fillRect/>
          </a:stretch>
        </p:blipFill>
        <p:spPr>
          <a:xfrm>
            <a:off x="-27305" y="1681480"/>
            <a:ext cx="12205335" cy="3746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7411" name="矩形 1"/>
          <p:cNvSpPr/>
          <p:nvPr/>
        </p:nvSpPr>
        <p:spPr>
          <a:xfrm>
            <a:off x="-23495" y="1631950"/>
            <a:ext cx="12267565" cy="3803650"/>
          </a:xfrm>
          <a:prstGeom prst="rect">
            <a:avLst/>
          </a:prstGeom>
          <a:solidFill>
            <a:srgbClr val="9F3A3D">
              <a:alpha val="83000"/>
            </a:srgbClr>
          </a:solidFill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00" dirty="0"/>
          </a:p>
        </p:txBody>
      </p:sp>
      <p:sp>
        <p:nvSpPr>
          <p:cNvPr id="17412" name="文本框 3"/>
          <p:cNvSpPr txBox="1"/>
          <p:nvPr/>
        </p:nvSpPr>
        <p:spPr>
          <a:xfrm>
            <a:off x="1455328" y="2979777"/>
            <a:ext cx="9509240" cy="1107996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>
              <a:buNone/>
            </a:pPr>
            <a:r>
              <a:rPr lang="zh-CN" altLang="en-US" sz="6600" b="1" dirty="0">
                <a:solidFill>
                  <a:srgbClr val="FDF8F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实验课安排和考核方式</a:t>
            </a:r>
            <a:endParaRPr lang="zh-CN" altLang="en-US" sz="6600" b="1" dirty="0">
              <a:solidFill>
                <a:srgbClr val="FDF8F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 flipV="1">
            <a:off x="-23495" y="5121275"/>
            <a:ext cx="12267565" cy="361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-27305" y="1858645"/>
            <a:ext cx="12267565" cy="361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9835054" y="4312107"/>
            <a:ext cx="1372811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董</a:t>
            </a:r>
            <a:r>
              <a:rPr lang="zh-CN" altLang="en-US" sz="2000" b="1" dirty="0">
                <a:solidFill>
                  <a:schemeClr val="bg1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宜滔 </a:t>
            </a:r>
            <a:endParaRPr lang="en-US" altLang="zh-CN" sz="2000" b="1" dirty="0">
              <a:solidFill>
                <a:schemeClr val="bg1"/>
              </a:solidFill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20260917</a:t>
            </a:r>
            <a:endParaRPr lang="en-US" sz="2000" b="1" dirty="0">
              <a:solidFill>
                <a:schemeClr val="bg1"/>
              </a:solidFill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15" y="159385"/>
            <a:ext cx="2361565" cy="2361565"/>
          </a:xfrm>
          <a:prstGeom prst="rect">
            <a:avLst/>
          </a:prstGeom>
        </p:spPr>
      </p:pic>
      <p:pic>
        <p:nvPicPr>
          <p:cNvPr id="106" name="图片 105"/>
          <p:cNvPicPr/>
          <p:nvPr/>
        </p:nvPicPr>
        <p:blipFill>
          <a:blip r:embed="rId4" r:link="rId5"/>
          <a:srcRect r="75509"/>
          <a:stretch>
            <a:fillRect/>
          </a:stretch>
        </p:blipFill>
        <p:spPr>
          <a:xfrm>
            <a:off x="10967085" y="5638165"/>
            <a:ext cx="1216660" cy="121983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5940" y="45047"/>
            <a:ext cx="1511979" cy="1511979"/>
          </a:xfrm>
          <a:prstGeom prst="rect">
            <a:avLst/>
          </a:prstGeom>
        </p:spPr>
      </p:pic>
    </p:spTree>
  </p:cSld>
  <p:clrMapOvr>
    <a:masterClrMapping/>
  </p:clrMapOvr>
  <p:transition spd="slow" advTm="20716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图片 99"/>
          <p:cNvPicPr/>
          <p:nvPr>
            <p:custDataLst>
              <p:tags r:id="rId1"/>
            </p:custDataLst>
          </p:nvPr>
        </p:nvPicPr>
        <p:blipFill>
          <a:blip r:embed="rId2" r:link="rId3"/>
          <a:srcRect t="42487" b="40376"/>
          <a:stretch>
            <a:fillRect/>
          </a:stretch>
        </p:blipFill>
        <p:spPr>
          <a:xfrm>
            <a:off x="-635" y="-47625"/>
            <a:ext cx="10560573" cy="140716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矩形 1"/>
          <p:cNvSpPr/>
          <p:nvPr/>
        </p:nvSpPr>
        <p:spPr>
          <a:xfrm>
            <a:off x="1" y="-143510"/>
            <a:ext cx="10559938" cy="1503045"/>
          </a:xfrm>
          <a:prstGeom prst="rect">
            <a:avLst/>
          </a:prstGeom>
          <a:solidFill>
            <a:srgbClr val="9F3A3D">
              <a:alpha val="8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7664" name="文本框 3"/>
          <p:cNvSpPr txBox="1"/>
          <p:nvPr/>
        </p:nvSpPr>
        <p:spPr>
          <a:xfrm>
            <a:off x="1629024" y="264610"/>
            <a:ext cx="1098550" cy="64516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charset="0"/>
                <a:ea typeface="思源黑体 CN Normal" charset="-122"/>
                <a:cs typeface="Times New Roman" panose="02020603050405020304" charset="0"/>
              </a:rPr>
              <a:t>目录</a:t>
            </a:r>
            <a:endParaRPr lang="zh-CN" altLang="en-US" sz="3600" b="1" dirty="0">
              <a:solidFill>
                <a:schemeClr val="bg1"/>
              </a:solidFill>
              <a:latin typeface="Times New Roman" panose="02020603050405020304" charset="0"/>
              <a:ea typeface="思源黑体 CN Normal" charset="-122"/>
              <a:cs typeface="Times New Roman" panose="02020603050405020304" charset="0"/>
            </a:endParaRPr>
          </a:p>
        </p:txBody>
      </p:sp>
      <p:cxnSp>
        <p:nvCxnSpPr>
          <p:cNvPr id="30" name="直接连接符 29"/>
          <p:cNvCxnSpPr/>
          <p:nvPr/>
        </p:nvCxnSpPr>
        <p:spPr>
          <a:xfrm>
            <a:off x="549910" y="909955"/>
            <a:ext cx="304800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5935" y="45047"/>
            <a:ext cx="1223983" cy="1223983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80060" y="1629410"/>
            <a:ext cx="11094085" cy="37249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457200" indent="-457200">
              <a:lnSpc>
                <a:spcPct val="130000"/>
              </a:lnSpc>
              <a:buFont typeface="+mj-lt"/>
              <a:buAutoNum type="arabicPeriod"/>
            </a:pP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课程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介绍</a:t>
            </a:r>
            <a:endParaRPr lang="zh-CN" altLang="en-US" sz="2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Wingdings" panose="05000000000000000000" charset="0"/>
              <a:buChar char=""/>
            </a:pP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课程内容</a:t>
            </a:r>
            <a:endParaRPr lang="zh-CN" altLang="en-US" sz="2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Wingdings" panose="05000000000000000000" charset="0"/>
              <a:buChar char=""/>
            </a:pP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考核要求</a:t>
            </a:r>
            <a:endParaRPr lang="zh-CN" altLang="en-US" sz="2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Wingdings" panose="05000000000000000000" charset="0"/>
              <a:buChar char=""/>
            </a:pP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时间安排</a:t>
            </a:r>
            <a:endParaRPr lang="zh-CN" altLang="en-US" sz="2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indent="-457200" algn="l">
              <a:lnSpc>
                <a:spcPct val="130000"/>
              </a:lnSpc>
              <a:buClrTx/>
              <a:buSzTx/>
              <a:buFont typeface="+mj-lt"/>
              <a:buAutoNum type="arabicPeriod"/>
            </a:pP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轨迹数据质量提升</a:t>
            </a:r>
            <a:endParaRPr lang="zh-CN" altLang="en-US" sz="2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algn="l">
              <a:lnSpc>
                <a:spcPct val="130000"/>
              </a:lnSpc>
              <a:buClrTx/>
              <a:buSzTx/>
              <a:buFont typeface="Wingdings" panose="05000000000000000000" charset="0"/>
              <a:buChar char=""/>
            </a:pP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轨迹数据预处理</a:t>
            </a:r>
            <a:endParaRPr lang="zh-CN" altLang="en-US" sz="2000" b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800100" lvl="1" indent="-342900" algn="l">
              <a:lnSpc>
                <a:spcPct val="130000"/>
              </a:lnSpc>
              <a:buClrTx/>
              <a:buSzTx/>
              <a:buFont typeface="Wingdings" panose="05000000000000000000" charset="0"/>
              <a:buChar char=""/>
            </a:pP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基于</a:t>
            </a:r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LLM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辅助的轨迹预处理自动化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工作流</a:t>
            </a:r>
            <a:endParaRPr lang="zh-CN" altLang="en-US" sz="2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l">
              <a:lnSpc>
                <a:spcPct val="130000"/>
              </a:lnSpc>
              <a:buClrTx/>
              <a:buSzTx/>
              <a:buFont typeface="Wingdings" panose="05000000000000000000" charset="0"/>
            </a:pPr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基于</a:t>
            </a:r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LLM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增强的轨迹数据质量提升智能体</a:t>
            </a:r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2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74232">
    <p:push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图片 99"/>
          <p:cNvPicPr/>
          <p:nvPr>
            <p:custDataLst>
              <p:tags r:id="rId1"/>
            </p:custDataLst>
          </p:nvPr>
        </p:nvPicPr>
        <p:blipFill>
          <a:blip r:embed="rId2" r:link="rId3"/>
          <a:srcRect t="42487" b="40376"/>
          <a:stretch>
            <a:fillRect/>
          </a:stretch>
        </p:blipFill>
        <p:spPr>
          <a:xfrm>
            <a:off x="-635" y="-47625"/>
            <a:ext cx="10560573" cy="140716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矩形 1"/>
          <p:cNvSpPr/>
          <p:nvPr/>
        </p:nvSpPr>
        <p:spPr>
          <a:xfrm>
            <a:off x="1" y="-143510"/>
            <a:ext cx="10559938" cy="1503045"/>
          </a:xfrm>
          <a:prstGeom prst="rect">
            <a:avLst/>
          </a:prstGeom>
          <a:solidFill>
            <a:srgbClr val="9F3A3D">
              <a:alpha val="8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7664" name="文本框 3"/>
          <p:cNvSpPr txBox="1"/>
          <p:nvPr/>
        </p:nvSpPr>
        <p:spPr>
          <a:xfrm>
            <a:off x="1168649" y="264610"/>
            <a:ext cx="2019300" cy="64516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charset="0"/>
                <a:ea typeface="思源黑体 CN Normal" charset="-122"/>
                <a:cs typeface="Times New Roman" panose="02020603050405020304" charset="0"/>
              </a:rPr>
              <a:t>课程考核</a:t>
            </a:r>
            <a:endParaRPr lang="zh-CN" altLang="en-US" sz="3600" b="1" dirty="0">
              <a:solidFill>
                <a:schemeClr val="bg1"/>
              </a:solidFill>
              <a:latin typeface="Times New Roman" panose="02020603050405020304" charset="0"/>
              <a:ea typeface="思源黑体 CN Normal" charset="-122"/>
              <a:cs typeface="Times New Roman" panose="02020603050405020304" charset="0"/>
            </a:endParaRPr>
          </a:p>
        </p:txBody>
      </p:sp>
      <p:cxnSp>
        <p:nvCxnSpPr>
          <p:cNvPr id="30" name="直接连接符 29"/>
          <p:cNvCxnSpPr/>
          <p:nvPr/>
        </p:nvCxnSpPr>
        <p:spPr>
          <a:xfrm>
            <a:off x="549910" y="909955"/>
            <a:ext cx="304800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5935" y="45047"/>
            <a:ext cx="1223983" cy="1223983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95960" y="2204720"/>
            <a:ext cx="11094085" cy="17392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结合理论课的内容布置实验</a:t>
            </a:r>
            <a:endParaRPr lang="zh-CN" altLang="en-US" sz="2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课程设计为位置服务与智慧城市某一应用问题的实现，需提交源码与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实验报告，并进行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答辩</a:t>
            </a:r>
            <a:endParaRPr lang="zh-CN" altLang="en-US" sz="2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1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/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可选应用问题包括但不限于（推荐自拟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题目）：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75536" y="3860512"/>
            <a:ext cx="1043985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运输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热点的提取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交通供需预测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路径规划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     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智能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派单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空车调度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时空数据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管理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95960" y="1485265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成绩计算方式：</a:t>
            </a:r>
            <a:endParaRPr lang="zh-CN" altLang="en-US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考勤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10%+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实验作业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0%+课程设计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6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0%</a:t>
            </a:r>
            <a:endParaRPr lang="zh-CN" altLang="en-US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95960" y="5876925"/>
            <a:ext cx="1109408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请自行组成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人小组，源码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中明确每位成员的技术分工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74232">
    <p:push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图片 99"/>
          <p:cNvPicPr/>
          <p:nvPr/>
        </p:nvPicPr>
        <p:blipFill>
          <a:blip r:embed="rId1" r:link="rId2"/>
          <a:srcRect t="42487" b="40376"/>
          <a:stretch>
            <a:fillRect/>
          </a:stretch>
        </p:blipFill>
        <p:spPr>
          <a:xfrm>
            <a:off x="-635" y="-47625"/>
            <a:ext cx="10560573" cy="140716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矩形 1"/>
          <p:cNvSpPr/>
          <p:nvPr/>
        </p:nvSpPr>
        <p:spPr>
          <a:xfrm>
            <a:off x="1" y="-143510"/>
            <a:ext cx="10559938" cy="1503045"/>
          </a:xfrm>
          <a:prstGeom prst="rect">
            <a:avLst/>
          </a:prstGeom>
          <a:solidFill>
            <a:srgbClr val="9F3A3D">
              <a:alpha val="8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7664" name="文本框 3"/>
          <p:cNvSpPr txBox="1"/>
          <p:nvPr/>
        </p:nvSpPr>
        <p:spPr>
          <a:xfrm>
            <a:off x="931810" y="264610"/>
            <a:ext cx="2492990" cy="646331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charset="0"/>
                <a:ea typeface="思源黑体 CN Normal" charset="-122"/>
                <a:cs typeface="Times New Roman" panose="02020603050405020304" charset="0"/>
              </a:rPr>
              <a:t>实验课内容</a:t>
            </a:r>
            <a:endParaRPr lang="zh-CN" altLang="en-US" sz="3600" b="1" dirty="0">
              <a:solidFill>
                <a:schemeClr val="bg1"/>
              </a:solidFill>
              <a:latin typeface="Times New Roman" panose="02020603050405020304" charset="0"/>
              <a:ea typeface="思源黑体 CN Normal" charset="-122"/>
              <a:cs typeface="Times New Roman" panose="02020603050405020304" charset="0"/>
            </a:endParaRPr>
          </a:p>
        </p:txBody>
      </p:sp>
      <p:cxnSp>
        <p:nvCxnSpPr>
          <p:cNvPr id="30" name="直接连接符 29"/>
          <p:cNvCxnSpPr/>
          <p:nvPr/>
        </p:nvCxnSpPr>
        <p:spPr>
          <a:xfrm>
            <a:off x="549910" y="909955"/>
            <a:ext cx="304800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5935" y="45047"/>
            <a:ext cx="1223983" cy="1223983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624076" y="3716996"/>
            <a:ext cx="1043985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18757" y="1487348"/>
            <a:ext cx="7725993" cy="581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u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利用时空数据解决智慧城市场景下的真实问题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27760" y="2139315"/>
            <a:ext cx="9841865" cy="4246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实验一：轨迹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数据预处理</a:t>
            </a:r>
            <a:endParaRPr lang="en-US" altLang="zh-CN" sz="18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7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轨迹数据的分段、去噪、简化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；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轨迹数据预处理的评估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742950" lvl="1" indent="-285750" algn="l">
              <a:lnSpc>
                <a:spcPct val="150000"/>
              </a:lnSpc>
              <a:buClrTx/>
              <a:buSzTx/>
              <a:buFont typeface="Arial" panose="020B0704020202020204" pitchFamily="34" charset="0"/>
              <a:buChar char="•"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构建基于LLM 辅助轨迹数据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清洗评估工作流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2857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实验二：基于轨迹数据的停留点检测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742950" lvl="2" indent="-285750">
              <a:lnSpc>
                <a:spcPct val="150000"/>
              </a:lnSpc>
              <a:buFont typeface="Arial" panose="020B07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基于时间、距离间隔阈值的停留点检测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；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基于方向聚类的停留点预测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742950" lvl="2" indent="-285750">
              <a:lnSpc>
                <a:spcPct val="150000"/>
              </a:lnSpc>
              <a:buFont typeface="Arial" panose="020B07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基于不同聚类进行停留热点识别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；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构建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 LLM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辅助热点分析工作流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285750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实验三：交通流量预测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742950" lvl="2" indent="-285750">
              <a:lnSpc>
                <a:spcPct val="150000"/>
              </a:lnSpc>
              <a:buFont typeface="Arial" panose="020B07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基于深度学习的交通流量预测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742950" lvl="2" indent="-285750">
              <a:lnSpc>
                <a:spcPct val="150000"/>
              </a:lnSpc>
              <a:buFont typeface="Arial" panose="020B07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基于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LLM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增强的交通流预测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285750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实践（课程设计）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687921" y="4659060"/>
            <a:ext cx="6096000" cy="1337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2"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运输任务分配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742950" lvl="2" indent="-285750">
              <a:lnSpc>
                <a:spcPct val="150000"/>
              </a:lnSpc>
              <a:buFont typeface="Arial" panose="020B07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基于二部图匹配的运输任务分配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742950" lvl="2" indent="-285750">
              <a:lnSpc>
                <a:spcPct val="150000"/>
              </a:lnSpc>
              <a:buFont typeface="Arial" panose="020B07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基于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LLM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的任务分配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智能体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</p:spTree>
  </p:cSld>
  <p:clrMapOvr>
    <a:masterClrMapping/>
  </p:clrMapOvr>
  <p:transition spd="slow" advTm="74232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图片 99"/>
          <p:cNvPicPr/>
          <p:nvPr/>
        </p:nvPicPr>
        <p:blipFill>
          <a:blip r:embed="rId1" r:link="rId2"/>
          <a:srcRect t="42487" b="40376"/>
          <a:stretch>
            <a:fillRect/>
          </a:stretch>
        </p:blipFill>
        <p:spPr>
          <a:xfrm>
            <a:off x="-635" y="-47625"/>
            <a:ext cx="10560573" cy="140716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矩形 1"/>
          <p:cNvSpPr/>
          <p:nvPr/>
        </p:nvSpPr>
        <p:spPr>
          <a:xfrm>
            <a:off x="1" y="-143510"/>
            <a:ext cx="10559938" cy="1503045"/>
          </a:xfrm>
          <a:prstGeom prst="rect">
            <a:avLst/>
          </a:prstGeom>
          <a:solidFill>
            <a:srgbClr val="9F3A3D">
              <a:alpha val="8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7664" name="文本框 3"/>
          <p:cNvSpPr txBox="1"/>
          <p:nvPr/>
        </p:nvSpPr>
        <p:spPr>
          <a:xfrm>
            <a:off x="931810" y="264610"/>
            <a:ext cx="2492990" cy="646331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charset="0"/>
                <a:ea typeface="思源黑体 CN Normal" charset="-122"/>
                <a:cs typeface="Times New Roman" panose="02020603050405020304" charset="0"/>
              </a:rPr>
              <a:t>实验课内容</a:t>
            </a:r>
            <a:endParaRPr lang="zh-CN" altLang="en-US" sz="3600" b="1" dirty="0">
              <a:solidFill>
                <a:schemeClr val="bg1"/>
              </a:solidFill>
              <a:latin typeface="Times New Roman" panose="02020603050405020304" charset="0"/>
              <a:ea typeface="思源黑体 CN Normal" charset="-122"/>
              <a:cs typeface="Times New Roman" panose="02020603050405020304" charset="0"/>
            </a:endParaRPr>
          </a:p>
        </p:txBody>
      </p:sp>
      <p:cxnSp>
        <p:nvCxnSpPr>
          <p:cNvPr id="30" name="直接连接符 29"/>
          <p:cNvCxnSpPr/>
          <p:nvPr/>
        </p:nvCxnSpPr>
        <p:spPr>
          <a:xfrm>
            <a:off x="549910" y="909955"/>
            <a:ext cx="304800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5935" y="45047"/>
            <a:ext cx="1223983" cy="1223983"/>
          </a:xfrm>
          <a:prstGeom prst="rect">
            <a:avLst/>
          </a:prstGeom>
        </p:spPr>
      </p:pic>
      <p:graphicFrame>
        <p:nvGraphicFramePr>
          <p:cNvPr id="4" name="表格 3"/>
          <p:cNvGraphicFramePr/>
          <p:nvPr>
            <p:custDataLst>
              <p:tags r:id="rId4"/>
            </p:custDataLst>
          </p:nvPr>
        </p:nvGraphicFramePr>
        <p:xfrm>
          <a:off x="1991995" y="1772920"/>
          <a:ext cx="7495540" cy="4092575"/>
        </p:xfrm>
        <a:graphic>
          <a:graphicData uri="http://schemas.openxmlformats.org/drawingml/2006/table">
            <a:tbl>
              <a:tblPr/>
              <a:tblGrid>
                <a:gridCol w="1518920"/>
                <a:gridCol w="1612265"/>
                <a:gridCol w="2182495"/>
                <a:gridCol w="2181860"/>
              </a:tblGrid>
              <a:tr h="866775">
                <a:tc>
                  <a:txBody>
                    <a:bodyPr/>
                    <a:p>
                      <a:pPr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ts val="500"/>
                        </a:spcAft>
                      </a:pPr>
                      <a:r>
                        <a:rPr lang="zh-CN" sz="1800" b="1">
                          <a:solidFill>
                            <a:srgbClr val="FFFFFF"/>
                          </a:solidFill>
                          <a:latin typeface="Heiti SC Light" charset="-122"/>
                          <a:ea typeface="Heiti SC Light" charset="-122"/>
                        </a:rPr>
                        <a:t>实验模块</a:t>
                      </a:r>
                      <a:endParaRPr lang="zh-CN" sz="1800" b="1">
                        <a:solidFill>
                          <a:srgbClr val="FFFFFF"/>
                        </a:solidFill>
                        <a:latin typeface="Heiti SC Light" charset="-122"/>
                        <a:ea typeface="Heiti SC Light" charset="-122"/>
                      </a:endParaRPr>
                    </a:p>
                  </a:txBody>
                  <a:tcPr marL="69850" marR="69850" marT="69850" marB="69850" anchor="ctr" anchorCtr="0">
                    <a:lnL w="9525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ts val="500"/>
                        </a:spcAft>
                      </a:pPr>
                      <a:r>
                        <a:rPr lang="zh-CN" sz="1800" b="1">
                          <a:solidFill>
                            <a:srgbClr val="FFFFFF"/>
                          </a:solidFill>
                          <a:latin typeface="Heiti SC Light" charset="-122"/>
                          <a:ea typeface="Heiti SC Light" charset="-122"/>
                        </a:rPr>
                        <a:t>对应大纲章节</a:t>
                      </a:r>
                      <a:endParaRPr lang="zh-CN" sz="1800" b="1">
                        <a:solidFill>
                          <a:srgbClr val="FFFFFF"/>
                        </a:solidFill>
                        <a:latin typeface="Heiti SC Light" charset="-122"/>
                        <a:ea typeface="Heiti SC Light" charset="-122"/>
                      </a:endParaRPr>
                    </a:p>
                  </a:txBody>
                  <a:tcPr marL="69850" marR="69850" marT="69850" marB="69850" anchor="ctr" anchorCtr="0">
                    <a:lnL w="9525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ts val="500"/>
                        </a:spcAft>
                      </a:pPr>
                      <a:r>
                        <a:rPr lang="zh-CN" sz="1800" b="1">
                          <a:solidFill>
                            <a:srgbClr val="FFFFFF"/>
                          </a:solidFill>
                          <a:latin typeface="Heiti SC Light" charset="-122"/>
                          <a:ea typeface="Heiti SC Light" charset="-122"/>
                        </a:rPr>
                        <a:t>核心产出</a:t>
                      </a:r>
                      <a:endParaRPr lang="zh-CN" sz="1800" b="1">
                        <a:solidFill>
                          <a:srgbClr val="FFFFFF"/>
                        </a:solidFill>
                        <a:latin typeface="Heiti SC Light" charset="-122"/>
                        <a:ea typeface="Heiti SC Light" charset="-122"/>
                      </a:endParaRPr>
                    </a:p>
                  </a:txBody>
                  <a:tcPr marL="69850" marR="69850" marT="69850" marB="69850" anchor="ctr" anchorCtr="0">
                    <a:lnL w="9525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zh-CN" altLang="en-US" sz="1800" b="1">
                          <a:solidFill>
                            <a:srgbClr val="FFFFFF"/>
                          </a:solidFill>
                          <a:latin typeface="Heiti SC Light" charset="-122"/>
                          <a:ea typeface="Heiti SC Light" charset="-122"/>
                        </a:rPr>
                        <a:t>评分</a:t>
                      </a:r>
                      <a:r>
                        <a:rPr lang="zh-CN" altLang="en-US" sz="1800" b="1">
                          <a:solidFill>
                            <a:srgbClr val="FFFFFF"/>
                          </a:solidFill>
                          <a:latin typeface="Heiti SC Light" charset="-122"/>
                          <a:ea typeface="Heiti SC Light" charset="-122"/>
                        </a:rPr>
                        <a:t>标准</a:t>
                      </a:r>
                      <a:endParaRPr lang="zh-CN" altLang="en-US" sz="1800" b="1">
                        <a:solidFill>
                          <a:srgbClr val="FFFFFF"/>
                        </a:solidFill>
                        <a:latin typeface="Heiti SC Light" charset="-122"/>
                        <a:ea typeface="Heiti SC Light" charset="-122"/>
                      </a:endParaRPr>
                    </a:p>
                  </a:txBody>
                  <a:tcPr marL="69850" marR="69850" marT="69850" marB="69850" anchor="ctr" anchorCtr="0">
                    <a:lnL w="9525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</a:tr>
              <a:tr h="885190">
                <a:tc>
                  <a:txBody>
                    <a:bodyPr/>
                    <a:p>
                      <a:pPr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ts val="500"/>
                        </a:spcAft>
                      </a:pPr>
                      <a:r>
                        <a:rPr lang="zh-CN" sz="1400">
                          <a:solidFill>
                            <a:srgbClr val="000000"/>
                          </a:solidFill>
                          <a:latin typeface="Heiti SC Light" charset="-122"/>
                          <a:ea typeface="Heiti SC Light" charset="-122"/>
                        </a:rPr>
                        <a:t>实验一</a:t>
                      </a:r>
                      <a:r>
                        <a:rPr lang="zh-CN" altLang="en-US" sz="1400">
                          <a:solidFill>
                            <a:srgbClr val="000000"/>
                          </a:solidFill>
                          <a:latin typeface="Heiti SC Light" charset="-122"/>
                          <a:ea typeface="Heiti SC Light" charset="-122"/>
                        </a:rPr>
                        <a:t> </a:t>
                      </a:r>
                      <a:r>
                        <a:rPr lang="zh-CN" sz="1400">
                          <a:solidFill>
                            <a:srgbClr val="000000"/>
                          </a:solidFill>
                          <a:latin typeface="Heiti SC Light" charset="-122"/>
                          <a:ea typeface="Heiti SC Light" charset="-122"/>
                        </a:rPr>
                        <a:t>轨迹数据预处理</a:t>
                      </a:r>
                      <a:endParaRPr lang="zh-CN" sz="1400">
                        <a:solidFill>
                          <a:srgbClr val="000000"/>
                        </a:solidFill>
                        <a:latin typeface="Heiti SC Light" charset="-122"/>
                        <a:ea typeface="Heiti SC Light" charset="-122"/>
                      </a:endParaRPr>
                    </a:p>
                  </a:txBody>
                  <a:tcPr marL="69850" marR="69850" marT="69850" marB="69850" anchor="ctr" anchorCtr="0">
                    <a:lnL w="9525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ts val="500"/>
                        </a:spcAft>
                      </a:pPr>
                      <a:r>
                        <a:rPr lang="zh-CN" sz="1400">
                          <a:solidFill>
                            <a:srgbClr val="000000"/>
                          </a:solidFill>
                          <a:latin typeface="Heiti SC Light" charset="-122"/>
                          <a:ea typeface="Heiti SC Light" charset="-122"/>
                        </a:rPr>
                        <a:t>第一章</a:t>
                      </a:r>
                      <a:r>
                        <a:rPr lang="zh-CN" altLang="en-US" sz="1400">
                          <a:solidFill>
                            <a:srgbClr val="000000"/>
                          </a:solidFill>
                          <a:latin typeface="Heiti SC Light" charset="-122"/>
                          <a:ea typeface="Heiti SC Light" charset="-122"/>
                        </a:rPr>
                        <a:t> </a:t>
                      </a:r>
                      <a:r>
                        <a:rPr lang="zh-CN" sz="1400">
                          <a:solidFill>
                            <a:srgbClr val="000000"/>
                          </a:solidFill>
                          <a:latin typeface="Heiti SC Light" charset="-122"/>
                          <a:ea typeface="Heiti SC Light" charset="-122"/>
                        </a:rPr>
                        <a:t>智慧城市概述</a:t>
                      </a:r>
                      <a:endParaRPr lang="zh-CN" sz="1400">
                        <a:solidFill>
                          <a:srgbClr val="000000"/>
                        </a:solidFill>
                        <a:latin typeface="Heiti SC Light" charset="-122"/>
                        <a:ea typeface="Heiti SC Light" charset="-122"/>
                      </a:endParaRPr>
                    </a:p>
                  </a:txBody>
                  <a:tcPr marL="69850" marR="69850" marT="69850" marB="69850" anchor="ctr" anchorCtr="0">
                    <a:lnL w="9525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ts val="500"/>
                        </a:spcAft>
                      </a:pPr>
                      <a:r>
                        <a:rPr lang="zh-CN" sz="1400">
                          <a:solidFill>
                            <a:srgbClr val="000000"/>
                          </a:solidFill>
                          <a:latin typeface="Heiti SC Light" charset="-122"/>
                          <a:ea typeface="Heiti SC Light" charset="-122"/>
                        </a:rPr>
                        <a:t>轨迹数据清洗与压缩程序、数据处理评估报告、实验过程报告</a:t>
                      </a: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Heiti SC Light" charset="-122"/>
                          <a:ea typeface="Heiti SC Light" charset="-122"/>
                        </a:rPr>
                        <a:t>（</a:t>
                      </a:r>
                      <a:r>
                        <a:rPr lang="zh-CN" altLang="en-US" sz="1400">
                          <a:solidFill>
                            <a:srgbClr val="000000"/>
                          </a:solidFill>
                          <a:latin typeface="Heiti SC Light" charset="-122"/>
                          <a:ea typeface="Heiti SC Light" charset="-122"/>
                        </a:rPr>
                        <a:t>包含</a:t>
                      </a: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Heiti SC Light" charset="-122"/>
                          <a:ea typeface="Heiti SC Light" charset="-122"/>
                        </a:rPr>
                        <a:t>AI</a:t>
                      </a:r>
                      <a:r>
                        <a:rPr lang="zh-CN" altLang="en-US" sz="1400">
                          <a:solidFill>
                            <a:srgbClr val="000000"/>
                          </a:solidFill>
                          <a:latin typeface="Heiti SC Light" charset="-122"/>
                          <a:ea typeface="Heiti SC Light" charset="-122"/>
                        </a:rPr>
                        <a:t>批判</a:t>
                      </a: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Heiti SC Light" charset="-122"/>
                          <a:ea typeface="Heiti SC Light" charset="-122"/>
                        </a:rPr>
                        <a:t>）</a:t>
                      </a:r>
                      <a:endParaRPr lang="en-US" altLang="zh-CN" sz="1400">
                        <a:solidFill>
                          <a:srgbClr val="000000"/>
                        </a:solidFill>
                        <a:latin typeface="Heiti SC Light" charset="-122"/>
                        <a:ea typeface="Heiti SC Light" charset="-122"/>
                      </a:endParaRPr>
                    </a:p>
                  </a:txBody>
                  <a:tcPr marL="69850" marR="69850" marT="69850" marB="69850" anchor="ctr" anchorCtr="0">
                    <a:lnL w="9525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zh-CN" altLang="en-US" sz="1400">
                          <a:solidFill>
                            <a:srgbClr val="000000"/>
                          </a:solidFill>
                          <a:latin typeface="Heiti SC Light" charset="-122"/>
                          <a:ea typeface="Heiti SC Light" charset="-122"/>
                        </a:rPr>
                        <a:t>完成基础任务</a:t>
                      </a: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Heiti SC Light" charset="-122"/>
                          <a:ea typeface="Heiti SC Light" charset="-122"/>
                        </a:rPr>
                        <a:t>60</a:t>
                      </a:r>
                      <a:r>
                        <a:rPr lang="zh-CN" altLang="en-US" sz="1400">
                          <a:solidFill>
                            <a:srgbClr val="000000"/>
                          </a:solidFill>
                          <a:latin typeface="Heiti SC Light" charset="-122"/>
                          <a:ea typeface="Heiti SC Light" charset="-122"/>
                        </a:rPr>
                        <a:t>分</a:t>
                      </a: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Heiti SC Light" charset="-122"/>
                          <a:ea typeface="Heiti SC Light" charset="-122"/>
                        </a:rPr>
                        <a:t>+</a:t>
                      </a:r>
                      <a:endParaRPr lang="en-US" altLang="zh-CN" sz="1400">
                        <a:solidFill>
                          <a:srgbClr val="000000"/>
                        </a:solidFill>
                        <a:latin typeface="Heiti SC Light" charset="-122"/>
                        <a:ea typeface="Heiti SC Light" charset="-122"/>
                      </a:endParaRPr>
                    </a:p>
                    <a:p>
                      <a:pPr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zh-CN" altLang="en-US" sz="1400">
                          <a:solidFill>
                            <a:srgbClr val="000000"/>
                          </a:solidFill>
                          <a:latin typeface="Heiti SC Light" charset="-122"/>
                          <a:ea typeface="Heiti SC Light" charset="-122"/>
                        </a:rPr>
                        <a:t>完成拓展任务</a:t>
                      </a: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Heiti SC Light" charset="-122"/>
                          <a:ea typeface="Heiti SC Light" charset="-122"/>
                        </a:rPr>
                        <a:t>90</a:t>
                      </a:r>
                      <a:r>
                        <a:rPr lang="zh-CN" altLang="en-US" sz="1400">
                          <a:solidFill>
                            <a:srgbClr val="000000"/>
                          </a:solidFill>
                          <a:latin typeface="Heiti SC Light" charset="-122"/>
                          <a:ea typeface="Heiti SC Light" charset="-122"/>
                        </a:rPr>
                        <a:t>分</a:t>
                      </a: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Heiti SC Light" charset="-122"/>
                          <a:ea typeface="Heiti SC Light" charset="-122"/>
                        </a:rPr>
                        <a:t>+</a:t>
                      </a:r>
                      <a:endParaRPr lang="en-US" altLang="zh-CN" sz="1400">
                        <a:solidFill>
                          <a:srgbClr val="000000"/>
                        </a:solidFill>
                        <a:latin typeface="Heiti SC Light" charset="-122"/>
                        <a:ea typeface="Heiti SC Light" charset="-122"/>
                      </a:endParaRPr>
                    </a:p>
                  </a:txBody>
                  <a:tcPr marL="69850" marR="69850" marT="69850" marB="69850" anchor="ctr" anchorCtr="0">
                    <a:lnL w="9525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84555">
                <a:tc>
                  <a:txBody>
                    <a:bodyPr/>
                    <a:p>
                      <a:pPr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ts val="500"/>
                        </a:spcAft>
                      </a:pPr>
                      <a:r>
                        <a:rPr lang="zh-CN" sz="1400">
                          <a:solidFill>
                            <a:srgbClr val="000000"/>
                          </a:solidFill>
                          <a:latin typeface="Heiti SC Light" charset="-122"/>
                          <a:ea typeface="Heiti SC Light" charset="-122"/>
                        </a:rPr>
                        <a:t>实验二</a:t>
                      </a:r>
                      <a:r>
                        <a:rPr lang="zh-CN" altLang="en-US" sz="1400">
                          <a:solidFill>
                            <a:srgbClr val="000000"/>
                          </a:solidFill>
                          <a:latin typeface="Heiti SC Light" charset="-122"/>
                          <a:ea typeface="Heiti SC Light" charset="-122"/>
                        </a:rPr>
                        <a:t> </a:t>
                      </a:r>
                      <a:r>
                        <a:rPr lang="zh-CN" sz="1400">
                          <a:solidFill>
                            <a:srgbClr val="000000"/>
                          </a:solidFill>
                          <a:latin typeface="Heiti SC Light" charset="-122"/>
                          <a:ea typeface="Heiti SC Light" charset="-122"/>
                        </a:rPr>
                        <a:t>停留热点挖掘</a:t>
                      </a:r>
                      <a:endParaRPr lang="zh-CN" sz="1400">
                        <a:solidFill>
                          <a:srgbClr val="000000"/>
                        </a:solidFill>
                        <a:latin typeface="Heiti SC Light" charset="-122"/>
                        <a:ea typeface="Heiti SC Light" charset="-122"/>
                      </a:endParaRPr>
                    </a:p>
                  </a:txBody>
                  <a:tcPr marL="69850" marR="69850" marT="69850" marB="69850" anchor="ctr" anchorCtr="0">
                    <a:lnL w="9525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ts val="500"/>
                        </a:spcAft>
                      </a:pPr>
                      <a:r>
                        <a:rPr lang="zh-CN" sz="1400">
                          <a:solidFill>
                            <a:srgbClr val="000000"/>
                          </a:solidFill>
                          <a:latin typeface="Heiti SC Light" charset="-122"/>
                          <a:ea typeface="Heiti SC Light" charset="-122"/>
                        </a:rPr>
                        <a:t>第二章</a:t>
                      </a:r>
                      <a:r>
                        <a:rPr lang="zh-CN" altLang="en-US" sz="1400">
                          <a:solidFill>
                            <a:srgbClr val="000000"/>
                          </a:solidFill>
                          <a:latin typeface="Heiti SC Light" charset="-122"/>
                          <a:ea typeface="Heiti SC Light" charset="-122"/>
                        </a:rPr>
                        <a:t> </a:t>
                      </a:r>
                      <a:r>
                        <a:rPr lang="zh-CN" sz="1400">
                          <a:solidFill>
                            <a:srgbClr val="000000"/>
                          </a:solidFill>
                          <a:latin typeface="Heiti SC Light" charset="-122"/>
                          <a:ea typeface="Heiti SC Light" charset="-122"/>
                        </a:rPr>
                        <a:t>智慧交通与应用</a:t>
                      </a:r>
                      <a:endParaRPr lang="zh-CN" sz="1400">
                        <a:solidFill>
                          <a:srgbClr val="000000"/>
                        </a:solidFill>
                        <a:latin typeface="Heiti SC Light" charset="-122"/>
                        <a:ea typeface="Heiti SC Light" charset="-122"/>
                      </a:endParaRPr>
                    </a:p>
                  </a:txBody>
                  <a:tcPr marL="69850" marR="69850" marT="69850" marB="69850" anchor="ctr" anchorCtr="0">
                    <a:lnL w="9525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ts val="500"/>
                        </a:spcAft>
                      </a:pPr>
                      <a:r>
                        <a:rPr lang="zh-CN" sz="1400">
                          <a:solidFill>
                            <a:srgbClr val="000000"/>
                          </a:solidFill>
                          <a:latin typeface="Heiti SC Light" charset="-122"/>
                          <a:ea typeface="Heiti SC Light" charset="-122"/>
                        </a:rPr>
                        <a:t>停留点检测</a:t>
                      </a:r>
                      <a:r>
                        <a:rPr lang="zh-CN" sz="1400">
                          <a:solidFill>
                            <a:srgbClr val="000000"/>
                          </a:solidFill>
                          <a:latin typeface="Heiti SC Light" charset="-122"/>
                          <a:ea typeface="Heiti SC Light" charset="-122"/>
                        </a:rPr>
                        <a:t>与聚类程序、</a:t>
                      </a: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Heiti SC Light" charset="-122"/>
                          <a:ea typeface="Heiti SC Light" charset="-122"/>
                        </a:rPr>
                        <a:t>POI</a:t>
                      </a:r>
                      <a:r>
                        <a:rPr lang="zh-CN" altLang="en-US" sz="1400">
                          <a:solidFill>
                            <a:srgbClr val="000000"/>
                          </a:solidFill>
                          <a:latin typeface="Heiti SC Light" charset="-122"/>
                          <a:ea typeface="Heiti SC Light" charset="-122"/>
                        </a:rPr>
                        <a:t>功能标注结果</a:t>
                      </a:r>
                      <a:r>
                        <a:rPr lang="zh-CN" sz="1400">
                          <a:solidFill>
                            <a:srgbClr val="000000"/>
                          </a:solidFill>
                          <a:latin typeface="Heiti SC Light" charset="-122"/>
                          <a:ea typeface="Heiti SC Light" charset="-122"/>
                        </a:rPr>
                        <a:t>表，</a:t>
                      </a:r>
                      <a:r>
                        <a:rPr lang="zh-CN" sz="1400">
                          <a:solidFill>
                            <a:srgbClr val="000000"/>
                          </a:solidFill>
                          <a:latin typeface="Heiti SC Light" charset="-122"/>
                          <a:ea typeface="Heiti SC Light" charset="-122"/>
                        </a:rPr>
                        <a:t>实验过程报告</a:t>
                      </a:r>
                      <a:endParaRPr lang="zh-CN" sz="1400">
                        <a:solidFill>
                          <a:srgbClr val="000000"/>
                        </a:solidFill>
                        <a:latin typeface="Heiti SC Light" charset="-122"/>
                        <a:ea typeface="Heiti SC Light" charset="-122"/>
                      </a:endParaRPr>
                    </a:p>
                  </a:txBody>
                  <a:tcPr marL="69850" marR="69850" marT="69850" marB="69850" anchor="ctr" anchorCtr="0">
                    <a:lnL w="9525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zh-CN" altLang="en-US" sz="1400">
                          <a:solidFill>
                            <a:srgbClr val="000000"/>
                          </a:solidFill>
                          <a:latin typeface="Heiti SC Light" charset="-122"/>
                          <a:ea typeface="Heiti SC Light" charset="-122"/>
                          <a:sym typeface="+mn-ea"/>
                        </a:rPr>
                        <a:t>完成基础任务</a:t>
                      </a: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Heiti SC Light" charset="-122"/>
                          <a:ea typeface="Heiti SC Light" charset="-122"/>
                          <a:sym typeface="+mn-ea"/>
                        </a:rPr>
                        <a:t>60</a:t>
                      </a:r>
                      <a:r>
                        <a:rPr lang="zh-CN" altLang="en-US" sz="1400">
                          <a:solidFill>
                            <a:srgbClr val="000000"/>
                          </a:solidFill>
                          <a:latin typeface="Heiti SC Light" charset="-122"/>
                          <a:ea typeface="Heiti SC Light" charset="-122"/>
                          <a:sym typeface="+mn-ea"/>
                        </a:rPr>
                        <a:t>分</a:t>
                      </a: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Heiti SC Light" charset="-122"/>
                          <a:ea typeface="Heiti SC Light" charset="-122"/>
                          <a:sym typeface="+mn-ea"/>
                        </a:rPr>
                        <a:t>+</a:t>
                      </a:r>
                      <a:endParaRPr lang="en-US" altLang="zh-CN" sz="1400">
                        <a:solidFill>
                          <a:srgbClr val="000000"/>
                        </a:solidFill>
                        <a:latin typeface="Heiti SC Light" charset="-122"/>
                        <a:ea typeface="Heiti SC Light" charset="-122"/>
                      </a:endParaRPr>
                    </a:p>
                    <a:p>
                      <a:pPr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zh-CN" altLang="en-US" sz="1400">
                          <a:solidFill>
                            <a:srgbClr val="000000"/>
                          </a:solidFill>
                          <a:latin typeface="Heiti SC Light" charset="-122"/>
                          <a:ea typeface="Heiti SC Light" charset="-122"/>
                          <a:sym typeface="+mn-ea"/>
                        </a:rPr>
                        <a:t>完成拓展任务</a:t>
                      </a: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Heiti SC Light" charset="-122"/>
                          <a:ea typeface="Heiti SC Light" charset="-122"/>
                          <a:sym typeface="+mn-ea"/>
                        </a:rPr>
                        <a:t>90</a:t>
                      </a:r>
                      <a:r>
                        <a:rPr lang="zh-CN" altLang="en-US" sz="1400">
                          <a:solidFill>
                            <a:srgbClr val="000000"/>
                          </a:solidFill>
                          <a:latin typeface="Heiti SC Light" charset="-122"/>
                          <a:ea typeface="Heiti SC Light" charset="-122"/>
                          <a:sym typeface="+mn-ea"/>
                        </a:rPr>
                        <a:t>分</a:t>
                      </a: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Heiti SC Light" charset="-122"/>
                          <a:ea typeface="Heiti SC Light" charset="-122"/>
                          <a:sym typeface="+mn-ea"/>
                        </a:rPr>
                        <a:t>+</a:t>
                      </a:r>
                      <a:endParaRPr lang="zh-CN" altLang="en-US" sz="1400">
                        <a:solidFill>
                          <a:srgbClr val="000000"/>
                        </a:solidFill>
                        <a:latin typeface="Heiti SC Light" charset="-122"/>
                        <a:ea typeface="Heiti SC Light" charset="-122"/>
                      </a:endParaRPr>
                    </a:p>
                  </a:txBody>
                  <a:tcPr marL="69850" marR="69850" marT="69850" marB="69850" anchor="ctr" anchorCtr="0">
                    <a:lnL w="9525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885190">
                <a:tc>
                  <a:txBody>
                    <a:bodyPr/>
                    <a:p>
                      <a:pPr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ts val="500"/>
                        </a:spcAft>
                      </a:pPr>
                      <a:r>
                        <a:rPr lang="zh-CN" sz="1400">
                          <a:solidFill>
                            <a:srgbClr val="000000"/>
                          </a:solidFill>
                          <a:latin typeface="Heiti SC Light" charset="-122"/>
                          <a:ea typeface="Heiti SC Light" charset="-122"/>
                        </a:rPr>
                        <a:t>实验三</a:t>
                      </a:r>
                      <a:r>
                        <a:rPr lang="zh-CN" altLang="en-US" sz="1400">
                          <a:solidFill>
                            <a:srgbClr val="000000"/>
                          </a:solidFill>
                          <a:latin typeface="Heiti SC Light" charset="-122"/>
                          <a:ea typeface="Heiti SC Light" charset="-122"/>
                        </a:rPr>
                        <a:t> </a:t>
                      </a:r>
                      <a:r>
                        <a:rPr lang="zh-CN" sz="1400">
                          <a:solidFill>
                            <a:srgbClr val="000000"/>
                          </a:solidFill>
                          <a:latin typeface="Heiti SC Light" charset="-122"/>
                          <a:ea typeface="Heiti SC Light" charset="-122"/>
                        </a:rPr>
                        <a:t>车货匹配</a:t>
                      </a:r>
                      <a:endParaRPr lang="zh-CN" sz="1400">
                        <a:solidFill>
                          <a:srgbClr val="000000"/>
                        </a:solidFill>
                        <a:latin typeface="Heiti SC Light" charset="-122"/>
                        <a:ea typeface="Heiti SC Light" charset="-122"/>
                      </a:endParaRPr>
                    </a:p>
                  </a:txBody>
                  <a:tcPr marL="69850" marR="69850" marT="69850" marB="69850" anchor="ctr" anchorCtr="0">
                    <a:lnL w="9525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ts val="500"/>
                        </a:spcAft>
                      </a:pPr>
                      <a:r>
                        <a:rPr lang="zh-CN" sz="1400">
                          <a:solidFill>
                            <a:srgbClr val="000000"/>
                          </a:solidFill>
                          <a:latin typeface="Heiti SC Light" charset="-122"/>
                          <a:ea typeface="Heiti SC Light" charset="-122"/>
                        </a:rPr>
                        <a:t>第三章</a:t>
                      </a:r>
                      <a:r>
                        <a:rPr lang="zh-CN" altLang="en-US" sz="1400">
                          <a:solidFill>
                            <a:srgbClr val="000000"/>
                          </a:solidFill>
                          <a:latin typeface="Heiti SC Light" charset="-122"/>
                          <a:ea typeface="Heiti SC Light" charset="-122"/>
                        </a:rPr>
                        <a:t> </a:t>
                      </a:r>
                      <a:r>
                        <a:rPr lang="zh-CN" sz="1400">
                          <a:solidFill>
                            <a:srgbClr val="000000"/>
                          </a:solidFill>
                          <a:latin typeface="Heiti SC Light" charset="-122"/>
                          <a:ea typeface="Heiti SC Light" charset="-122"/>
                        </a:rPr>
                        <a:t>智慧物流与应用</a:t>
                      </a:r>
                      <a:endParaRPr lang="zh-CN" sz="1400">
                        <a:solidFill>
                          <a:srgbClr val="000000"/>
                        </a:solidFill>
                        <a:latin typeface="Heiti SC Light" charset="-122"/>
                        <a:ea typeface="Heiti SC Light" charset="-122"/>
                      </a:endParaRPr>
                    </a:p>
                  </a:txBody>
                  <a:tcPr marL="69850" marR="69850" marT="69850" marB="69850" anchor="ctr" anchorCtr="0">
                    <a:lnL w="9525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ts val="500"/>
                        </a:spcAft>
                      </a:pPr>
                      <a:r>
                        <a:rPr lang="zh-CN" sz="1400">
                          <a:solidFill>
                            <a:srgbClr val="000000"/>
                          </a:solidFill>
                          <a:latin typeface="Heiti SC Light" charset="-122"/>
                          <a:ea typeface="Heiti SC Light" charset="-122"/>
                        </a:rPr>
                        <a:t>车货匹配求解器程序、求解器性能报告、</a:t>
                      </a:r>
                      <a:r>
                        <a:rPr lang="zh-CN" sz="1400">
                          <a:solidFill>
                            <a:srgbClr val="000000"/>
                          </a:solidFill>
                          <a:latin typeface="Heiti SC Light" charset="-122"/>
                          <a:ea typeface="Heiti SC Light" charset="-122"/>
                        </a:rPr>
                        <a:t>实验过程报告</a:t>
                      </a:r>
                      <a:endParaRPr lang="zh-CN" sz="1400">
                        <a:solidFill>
                          <a:srgbClr val="000000"/>
                        </a:solidFill>
                        <a:latin typeface="Heiti SC Light" charset="-122"/>
                        <a:ea typeface="Heiti SC Light" charset="-122"/>
                      </a:endParaRPr>
                    </a:p>
                  </a:txBody>
                  <a:tcPr marL="69850" marR="69850" marT="69850" marB="69850" anchor="ctr" anchorCtr="0">
                    <a:lnL w="9525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zh-CN" altLang="en-US" sz="1400">
                          <a:solidFill>
                            <a:srgbClr val="000000"/>
                          </a:solidFill>
                          <a:latin typeface="Heiti SC Light" charset="-122"/>
                          <a:ea typeface="Heiti SC Light" charset="-122"/>
                          <a:sym typeface="+mn-ea"/>
                        </a:rPr>
                        <a:t>完成基础任务</a:t>
                      </a: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Heiti SC Light" charset="-122"/>
                          <a:ea typeface="Heiti SC Light" charset="-122"/>
                          <a:sym typeface="+mn-ea"/>
                        </a:rPr>
                        <a:t>60</a:t>
                      </a:r>
                      <a:r>
                        <a:rPr lang="zh-CN" altLang="en-US" sz="1400">
                          <a:solidFill>
                            <a:srgbClr val="000000"/>
                          </a:solidFill>
                          <a:latin typeface="Heiti SC Light" charset="-122"/>
                          <a:ea typeface="Heiti SC Light" charset="-122"/>
                          <a:sym typeface="+mn-ea"/>
                        </a:rPr>
                        <a:t>分</a:t>
                      </a: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Heiti SC Light" charset="-122"/>
                          <a:ea typeface="Heiti SC Light" charset="-122"/>
                          <a:sym typeface="+mn-ea"/>
                        </a:rPr>
                        <a:t>+</a:t>
                      </a:r>
                      <a:endParaRPr lang="en-US" altLang="zh-CN" sz="1400">
                        <a:solidFill>
                          <a:srgbClr val="000000"/>
                        </a:solidFill>
                        <a:latin typeface="Heiti SC Light" charset="-122"/>
                        <a:ea typeface="Heiti SC Light" charset="-122"/>
                      </a:endParaRPr>
                    </a:p>
                    <a:p>
                      <a:pPr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zh-CN" altLang="en-US" sz="1400">
                          <a:solidFill>
                            <a:srgbClr val="000000"/>
                          </a:solidFill>
                          <a:latin typeface="Heiti SC Light" charset="-122"/>
                          <a:ea typeface="Heiti SC Light" charset="-122"/>
                          <a:sym typeface="+mn-ea"/>
                        </a:rPr>
                        <a:t>完成拓展任务</a:t>
                      </a: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Heiti SC Light" charset="-122"/>
                          <a:ea typeface="Heiti SC Light" charset="-122"/>
                          <a:sym typeface="+mn-ea"/>
                        </a:rPr>
                        <a:t>90</a:t>
                      </a:r>
                      <a:r>
                        <a:rPr lang="zh-CN" altLang="en-US" sz="1400">
                          <a:solidFill>
                            <a:srgbClr val="000000"/>
                          </a:solidFill>
                          <a:latin typeface="Heiti SC Light" charset="-122"/>
                          <a:ea typeface="Heiti SC Light" charset="-122"/>
                          <a:sym typeface="+mn-ea"/>
                        </a:rPr>
                        <a:t>分</a:t>
                      </a: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Heiti SC Light" charset="-122"/>
                          <a:ea typeface="Heiti SC Light" charset="-122"/>
                          <a:sym typeface="+mn-ea"/>
                        </a:rPr>
                        <a:t>+</a:t>
                      </a:r>
                      <a:endParaRPr lang="zh-CN" altLang="en-US" sz="1400">
                        <a:solidFill>
                          <a:srgbClr val="000000"/>
                        </a:solidFill>
                        <a:latin typeface="Heiti SC Light" charset="-122"/>
                        <a:ea typeface="Heiti SC Light" charset="-122"/>
                      </a:endParaRPr>
                    </a:p>
                  </a:txBody>
                  <a:tcPr marL="69850" marR="69850" marT="69850" marB="69850" anchor="ctr" anchorCtr="0">
                    <a:lnL w="9525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0865">
                <a:tc>
                  <a:txBody>
                    <a:bodyPr/>
                    <a:p>
                      <a:pPr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ts val="500"/>
                        </a:spcAft>
                      </a:pPr>
                      <a:r>
                        <a:rPr lang="zh-CN" sz="1400">
                          <a:solidFill>
                            <a:srgbClr val="000000"/>
                          </a:solidFill>
                          <a:latin typeface="Heiti SC Light" charset="-122"/>
                          <a:ea typeface="Heiti SC Light" charset="-122"/>
                        </a:rPr>
                        <a:t>综合课程设计</a:t>
                      </a:r>
                      <a:endParaRPr lang="zh-CN" sz="1400">
                        <a:solidFill>
                          <a:srgbClr val="000000"/>
                        </a:solidFill>
                        <a:latin typeface="Heiti SC Light" charset="-122"/>
                        <a:ea typeface="Heiti SC Light" charset="-122"/>
                      </a:endParaRPr>
                    </a:p>
                  </a:txBody>
                  <a:tcPr marL="69850" marR="69850" marT="69850" marB="69850" anchor="ctr" anchorCtr="0">
                    <a:lnL w="9525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ts val="500"/>
                        </a:spcAft>
                      </a:pPr>
                      <a:r>
                        <a:rPr lang="zh-CN" sz="1400">
                          <a:solidFill>
                            <a:srgbClr val="000000"/>
                          </a:solidFill>
                          <a:latin typeface="Heiti SC Light" charset="-122"/>
                          <a:ea typeface="Heiti SC Light" charset="-122"/>
                        </a:rPr>
                        <a:t>第四章</a:t>
                      </a:r>
                      <a:r>
                        <a:rPr lang="zh-CN" altLang="en-US" sz="1400">
                          <a:solidFill>
                            <a:srgbClr val="000000"/>
                          </a:solidFill>
                          <a:latin typeface="Heiti SC Light" charset="-122"/>
                          <a:ea typeface="Heiti SC Light" charset="-122"/>
                        </a:rPr>
                        <a:t> </a:t>
                      </a:r>
                      <a:r>
                        <a:rPr lang="zh-CN" sz="1400">
                          <a:solidFill>
                            <a:srgbClr val="000000"/>
                          </a:solidFill>
                          <a:latin typeface="Heiti SC Light" charset="-122"/>
                          <a:ea typeface="Heiti SC Light" charset="-122"/>
                        </a:rPr>
                        <a:t>智慧城市应用前沿</a:t>
                      </a:r>
                      <a:endParaRPr lang="zh-CN" sz="1400">
                        <a:solidFill>
                          <a:srgbClr val="000000"/>
                        </a:solidFill>
                        <a:latin typeface="Heiti SC Light" charset="-122"/>
                        <a:ea typeface="Heiti SC Light" charset="-122"/>
                      </a:endParaRPr>
                    </a:p>
                  </a:txBody>
                  <a:tcPr marL="69850" marR="69850" marT="69850" marB="69850" anchor="ctr" anchorCtr="0">
                    <a:lnL w="9525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ts val="500"/>
                        </a:spcAft>
                      </a:pPr>
                      <a:r>
                        <a:rPr lang="zh-CN" sz="1400">
                          <a:solidFill>
                            <a:srgbClr val="000000"/>
                          </a:solidFill>
                          <a:latin typeface="Heiti SC Light" charset="-122"/>
                          <a:ea typeface="Heiti SC Light" charset="-122"/>
                        </a:rPr>
                        <a:t>研究报告、可复现代码</a:t>
                      </a:r>
                      <a:r>
                        <a:rPr lang="zh-CN" sz="1400">
                          <a:solidFill>
                            <a:srgbClr val="000000"/>
                          </a:solidFill>
                          <a:latin typeface="Heiti SC Light" charset="-122"/>
                          <a:ea typeface="Heiti SC Light" charset="-122"/>
                        </a:rPr>
                        <a:t>包、路演答辩</a:t>
                      </a:r>
                      <a:endParaRPr lang="zh-CN" sz="1400">
                        <a:solidFill>
                          <a:srgbClr val="000000"/>
                        </a:solidFill>
                        <a:latin typeface="Heiti SC Light" charset="-122"/>
                        <a:ea typeface="Heiti SC Light" charset="-122"/>
                      </a:endParaRPr>
                    </a:p>
                  </a:txBody>
                  <a:tcPr marL="69850" marR="69850" marT="69850" marB="69850" anchor="ctr" anchorCtr="0">
                    <a:lnL w="9525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ts val="500"/>
                        </a:spcAft>
                        <a:buNone/>
                      </a:pPr>
                      <a:endParaRPr lang="zh-CN" altLang="en-US" sz="1400">
                        <a:solidFill>
                          <a:srgbClr val="000000"/>
                        </a:solidFill>
                        <a:latin typeface="Heiti SC Light" charset="-122"/>
                        <a:ea typeface="Heiti SC Light" charset="-122"/>
                      </a:endParaRPr>
                    </a:p>
                  </a:txBody>
                  <a:tcPr marL="69850" marR="69850" marT="69850" marB="69850" anchor="ctr" anchorCtr="0">
                    <a:lnL w="9525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 advTm="74232">
    <p:push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图片 99"/>
          <p:cNvPicPr/>
          <p:nvPr/>
        </p:nvPicPr>
        <p:blipFill>
          <a:blip r:embed="rId1" r:link="rId2"/>
          <a:srcRect t="42487" b="40376"/>
          <a:stretch>
            <a:fillRect/>
          </a:stretch>
        </p:blipFill>
        <p:spPr>
          <a:xfrm>
            <a:off x="-635" y="-47625"/>
            <a:ext cx="10560573" cy="140716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矩形 1"/>
          <p:cNvSpPr/>
          <p:nvPr/>
        </p:nvSpPr>
        <p:spPr>
          <a:xfrm>
            <a:off x="1" y="-143510"/>
            <a:ext cx="10559938" cy="1503045"/>
          </a:xfrm>
          <a:prstGeom prst="rect">
            <a:avLst/>
          </a:prstGeom>
          <a:solidFill>
            <a:srgbClr val="9F3A3D">
              <a:alpha val="8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7664" name="文本框 3"/>
          <p:cNvSpPr txBox="1"/>
          <p:nvPr/>
        </p:nvSpPr>
        <p:spPr>
          <a:xfrm>
            <a:off x="931810" y="264610"/>
            <a:ext cx="2492990" cy="646331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charset="0"/>
                <a:ea typeface="思源黑体 CN Normal" charset="-122"/>
                <a:cs typeface="Times New Roman" panose="02020603050405020304" charset="0"/>
              </a:rPr>
              <a:t>实验课内容</a:t>
            </a:r>
            <a:endParaRPr lang="zh-CN" altLang="en-US" sz="3600" b="1" dirty="0">
              <a:solidFill>
                <a:schemeClr val="bg1"/>
              </a:solidFill>
              <a:latin typeface="Times New Roman" panose="02020603050405020304" charset="0"/>
              <a:ea typeface="思源黑体 CN Normal" charset="-122"/>
              <a:cs typeface="Times New Roman" panose="02020603050405020304" charset="0"/>
            </a:endParaRPr>
          </a:p>
        </p:txBody>
      </p:sp>
      <p:cxnSp>
        <p:nvCxnSpPr>
          <p:cNvPr id="30" name="直接连接符 29"/>
          <p:cNvCxnSpPr/>
          <p:nvPr/>
        </p:nvCxnSpPr>
        <p:spPr>
          <a:xfrm>
            <a:off x="549910" y="909955"/>
            <a:ext cx="304800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5935" y="45047"/>
            <a:ext cx="1223983" cy="1223983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488440" y="1929130"/>
            <a:ext cx="9100820" cy="3874770"/>
          </a:xfrm>
          <a:prstGeom prst="rect">
            <a:avLst/>
          </a:prstGeom>
        </p:spPr>
        <p:txBody>
          <a:bodyPr wrap="square">
            <a:noAutofit/>
          </a:bodyPr>
          <a:p>
            <a:pPr defTabSz="266700">
              <a:lnSpc>
                <a:spcPct val="185000"/>
              </a:lnSpc>
              <a:spcAft>
                <a:spcPts val="500"/>
              </a:spcAft>
            </a:pPr>
            <a:r>
              <a:rPr lang="zh-CN" altLang="en-US" sz="1700" b="1">
                <a:solidFill>
                  <a:srgbClr val="8B5CF6"/>
                </a:solidFill>
                <a:latin typeface="Heiti SC Light" charset="-122"/>
                <a:ea typeface="Heiti SC Light" charset="-122"/>
              </a:rPr>
              <a:t>【</a:t>
            </a:r>
            <a:r>
              <a:rPr lang="en-US" altLang="zh-CN" sz="1700" b="1">
                <a:solidFill>
                  <a:srgbClr val="8B5CF6"/>
                </a:solidFill>
                <a:latin typeface="Heiti SC Light" charset="-122"/>
                <a:ea typeface="Heiti SC Light" charset="-122"/>
              </a:rPr>
              <a:t>AI</a:t>
            </a:r>
            <a:r>
              <a:rPr lang="zh-CN" altLang="en-US" sz="1700" b="1">
                <a:solidFill>
                  <a:srgbClr val="8B5CF6"/>
                </a:solidFill>
                <a:latin typeface="Heiti SC Light" charset="-122"/>
                <a:ea typeface="Heiti SC Light" charset="-122"/>
              </a:rPr>
              <a:t>生成内容的准确性批判】</a:t>
            </a:r>
            <a:r>
              <a:rPr lang="zh-CN" altLang="en-US" sz="1600" b="1">
                <a:solidFill>
                  <a:srgbClr val="000000"/>
                </a:solidFill>
                <a:latin typeface="Heiti SC Medium" charset="-122"/>
                <a:ea typeface="Heiti SC Medium" charset="-122"/>
              </a:rPr>
              <a:t>提示词示例：“请为共享单车轨迹设计清洗流程并给出阈值。”</a:t>
            </a:r>
            <a:endParaRPr lang="zh-CN" altLang="en-US" sz="1600" b="1">
              <a:solidFill>
                <a:srgbClr val="000000"/>
              </a:solidFill>
              <a:latin typeface="Heiti SC Medium" charset="-122"/>
              <a:ea typeface="Heiti SC Medium" charset="-122"/>
            </a:endParaRPr>
          </a:p>
          <a:p>
            <a:pPr defTabSz="266700">
              <a:lnSpc>
                <a:spcPct val="185000"/>
              </a:lnSpc>
              <a:spcAft>
                <a:spcPts val="500"/>
              </a:spcAft>
            </a:pPr>
            <a:r>
              <a:rPr lang="zh-CN" altLang="en-US" sz="1600">
                <a:solidFill>
                  <a:srgbClr val="000000"/>
                </a:solidFill>
                <a:latin typeface="Heiti SC Light" charset="-122"/>
                <a:ea typeface="Heiti SC Light" charset="-122"/>
              </a:rPr>
              <a:t>批判要求：检查其是否混淆速度单位、是否把经纬度直接当平面坐标、是否对缺失值做无依据插值；至少构造一组反例，记录修改前后指标，并说明哪些建议被拒绝以及原因。</a:t>
            </a:r>
            <a:endParaRPr lang="zh-CN" altLang="en-US" sz="1600">
              <a:solidFill>
                <a:srgbClr val="000000"/>
              </a:solidFill>
              <a:latin typeface="Heiti SC Light" charset="-122"/>
              <a:ea typeface="Heiti SC Light" charset="-122"/>
            </a:endParaRPr>
          </a:p>
          <a:p>
            <a:pPr defTabSz="266700">
              <a:lnSpc>
                <a:spcPct val="185000"/>
              </a:lnSpc>
              <a:spcAft>
                <a:spcPts val="500"/>
              </a:spcAft>
            </a:pPr>
            <a:r>
              <a:rPr lang="zh-CN" altLang="en-US" sz="1700" b="1">
                <a:solidFill>
                  <a:srgbClr val="8B5CF6"/>
                </a:solidFill>
                <a:latin typeface="Heiti SC Light" charset="-122"/>
                <a:ea typeface="Heiti SC Light" charset="-122"/>
              </a:rPr>
              <a:t>【</a:t>
            </a:r>
            <a:r>
              <a:rPr lang="en-US" altLang="zh-CN" sz="1700" b="1">
                <a:solidFill>
                  <a:srgbClr val="8B5CF6"/>
                </a:solidFill>
                <a:latin typeface="Heiti SC Light" charset="-122"/>
                <a:ea typeface="Heiti SC Light" charset="-122"/>
              </a:rPr>
              <a:t>AI</a:t>
            </a:r>
            <a:r>
              <a:rPr lang="zh-CN" altLang="en-US" sz="1700" b="1">
                <a:solidFill>
                  <a:srgbClr val="8B5CF6"/>
                </a:solidFill>
                <a:latin typeface="Heiti SC Light" charset="-122"/>
                <a:ea typeface="Heiti SC Light" charset="-122"/>
              </a:rPr>
              <a:t>建议的隐含假设分析与批判】</a:t>
            </a:r>
            <a:r>
              <a:rPr lang="zh-CN" altLang="en-US" sz="1600" b="1">
                <a:solidFill>
                  <a:srgbClr val="000000"/>
                </a:solidFill>
                <a:latin typeface="Heiti SC Medium" charset="-122"/>
                <a:ea typeface="Heiti SC Medium" charset="-122"/>
              </a:rPr>
              <a:t>提示词示例：“</a:t>
            </a:r>
            <a:r>
              <a:rPr lang="en-US" altLang="zh-CN" sz="1600" b="1">
                <a:solidFill>
                  <a:srgbClr val="000000"/>
                </a:solidFill>
                <a:latin typeface="Heiti SC Medium" charset="-122"/>
                <a:ea typeface="Heiti SC Medium" charset="-122"/>
              </a:rPr>
              <a:t>AI</a:t>
            </a:r>
            <a:r>
              <a:rPr lang="zh-CN" altLang="en-US" sz="1600" b="1">
                <a:solidFill>
                  <a:srgbClr val="000000"/>
                </a:solidFill>
                <a:latin typeface="Heiti SC Medium" charset="-122"/>
                <a:ea typeface="Heiti SC Medium" charset="-122"/>
              </a:rPr>
              <a:t>建议‘缺失值用线性插值’，其隐含假设是‘轨迹在缺失期间匀速直线运动’，这个假设在什么情况下不成立</a:t>
            </a:r>
            <a:r>
              <a:rPr lang="zh-CN" altLang="en-US" sz="1600">
                <a:solidFill>
                  <a:srgbClr val="000000"/>
                </a:solidFill>
                <a:latin typeface="Heiti SC Light" charset="-122"/>
                <a:ea typeface="Heiti SC Light" charset="-122"/>
              </a:rPr>
              <a:t>？”</a:t>
            </a:r>
            <a:endParaRPr lang="zh-CN" altLang="en-US" sz="1600">
              <a:solidFill>
                <a:srgbClr val="000000"/>
              </a:solidFill>
              <a:latin typeface="Heiti SC Light" charset="-122"/>
              <a:ea typeface="Heiti SC Light" charset="-122"/>
            </a:endParaRPr>
          </a:p>
          <a:p>
            <a:pPr defTabSz="266700">
              <a:lnSpc>
                <a:spcPct val="185000"/>
              </a:lnSpc>
              <a:spcAft>
                <a:spcPts val="500"/>
              </a:spcAft>
            </a:pPr>
            <a:r>
              <a:rPr lang="zh-CN" altLang="en-US" sz="1600">
                <a:solidFill>
                  <a:srgbClr val="000000"/>
                </a:solidFill>
                <a:latin typeface="Heiti SC Light" charset="-122"/>
                <a:ea typeface="Heiti SC Light" charset="-122"/>
              </a:rPr>
              <a:t>批判要求：可以主动向</a:t>
            </a:r>
            <a:r>
              <a:rPr lang="en-US" altLang="zh-CN" sz="1600">
                <a:solidFill>
                  <a:srgbClr val="000000"/>
                </a:solidFill>
                <a:latin typeface="Heiti SC Light" charset="-122"/>
                <a:ea typeface="Heiti SC Light" charset="-122"/>
              </a:rPr>
              <a:t>AI</a:t>
            </a:r>
            <a:r>
              <a:rPr lang="zh-CN" altLang="en-US" sz="1600">
                <a:solidFill>
                  <a:srgbClr val="000000"/>
                </a:solidFill>
                <a:latin typeface="Heiti SC Light" charset="-122"/>
                <a:ea typeface="Heiti SC Light" charset="-122"/>
              </a:rPr>
              <a:t>提问是否存在前提假设，也可以根据自己的思考对</a:t>
            </a:r>
            <a:r>
              <a:rPr lang="en-US" altLang="zh-CN" sz="1600">
                <a:solidFill>
                  <a:srgbClr val="000000"/>
                </a:solidFill>
                <a:latin typeface="Heiti SC Light" charset="-122"/>
                <a:ea typeface="Heiti SC Light" charset="-122"/>
              </a:rPr>
              <a:t>AI</a:t>
            </a:r>
            <a:r>
              <a:rPr lang="zh-CN" altLang="en-US" sz="1600">
                <a:solidFill>
                  <a:srgbClr val="000000"/>
                </a:solidFill>
                <a:latin typeface="Heiti SC Light" charset="-122"/>
                <a:ea typeface="Heiti SC Light" charset="-122"/>
              </a:rPr>
              <a:t>进行反问，相关内容需要写入实验报告。</a:t>
            </a:r>
            <a:endParaRPr lang="zh-CN" altLang="en-US" sz="1600">
              <a:solidFill>
                <a:srgbClr val="000000"/>
              </a:solidFill>
              <a:latin typeface="Heiti SC Light" charset="-122"/>
              <a:ea typeface="Heiti SC Light" charset="-122"/>
            </a:endParaRPr>
          </a:p>
        </p:txBody>
      </p:sp>
    </p:spTree>
  </p:cSld>
  <p:clrMapOvr>
    <a:masterClrMapping/>
  </p:clrMapOvr>
  <p:transition spd="slow" advTm="74232">
    <p:push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图片 99"/>
          <p:cNvPicPr/>
          <p:nvPr/>
        </p:nvPicPr>
        <p:blipFill>
          <a:blip r:embed="rId1" r:link="rId2"/>
          <a:srcRect t="42487" b="40376"/>
          <a:stretch>
            <a:fillRect/>
          </a:stretch>
        </p:blipFill>
        <p:spPr>
          <a:xfrm>
            <a:off x="-635" y="-47625"/>
            <a:ext cx="10560573" cy="140716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矩形 1"/>
          <p:cNvSpPr/>
          <p:nvPr/>
        </p:nvSpPr>
        <p:spPr>
          <a:xfrm>
            <a:off x="1" y="-143510"/>
            <a:ext cx="10559938" cy="1503045"/>
          </a:xfrm>
          <a:prstGeom prst="rect">
            <a:avLst/>
          </a:prstGeom>
          <a:solidFill>
            <a:srgbClr val="9F3A3D">
              <a:alpha val="8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7664" name="文本框 3"/>
          <p:cNvSpPr txBox="1"/>
          <p:nvPr/>
        </p:nvSpPr>
        <p:spPr>
          <a:xfrm>
            <a:off x="250445" y="264610"/>
            <a:ext cx="3855720" cy="64516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charset="0"/>
                <a:ea typeface="思源黑体 CN Normal" charset="-122"/>
                <a:cs typeface="Times New Roman" panose="02020603050405020304" charset="0"/>
              </a:rPr>
              <a:t>课程设计时间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charset="0"/>
                <a:ea typeface="思源黑体 CN Normal" charset="-122"/>
                <a:cs typeface="Times New Roman" panose="02020603050405020304" charset="0"/>
              </a:rPr>
              <a:t>安排</a:t>
            </a:r>
            <a:endParaRPr lang="zh-CN" altLang="en-US" sz="3600" b="1" dirty="0">
              <a:solidFill>
                <a:schemeClr val="bg1"/>
              </a:solidFill>
              <a:latin typeface="Times New Roman" panose="02020603050405020304" charset="0"/>
              <a:ea typeface="思源黑体 CN Normal" charset="-122"/>
              <a:cs typeface="Times New Roman" panose="02020603050405020304" charset="0"/>
            </a:endParaRPr>
          </a:p>
        </p:txBody>
      </p:sp>
      <p:cxnSp>
        <p:nvCxnSpPr>
          <p:cNvPr id="30" name="直接连接符 29"/>
          <p:cNvCxnSpPr/>
          <p:nvPr/>
        </p:nvCxnSpPr>
        <p:spPr>
          <a:xfrm>
            <a:off x="549910" y="909955"/>
            <a:ext cx="304800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5935" y="45047"/>
            <a:ext cx="1223983" cy="1223983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624076" y="3716996"/>
            <a:ext cx="1043985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18757" y="1487348"/>
            <a:ext cx="772599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u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课程设计时间安排：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28069" y="2139566"/>
            <a:ext cx="687461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第二周 9月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24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日 确定人员分组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第五周 10月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22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日 开题答辩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第十一周 1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1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月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16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日 中期进度汇报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第十六/十七周 1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2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月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31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日/1月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8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日 最终答辩（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待定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）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50190" y="4220845"/>
            <a:ext cx="1188720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6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 </a:t>
            </a:r>
            <a:endParaRPr lang="en-US" altLang="zh-CN" sz="6000"/>
          </a:p>
        </p:txBody>
      </p:sp>
      <p:sp>
        <p:nvSpPr>
          <p:cNvPr id="5" name="文本框 4"/>
          <p:cNvSpPr txBox="1"/>
          <p:nvPr/>
        </p:nvSpPr>
        <p:spPr>
          <a:xfrm>
            <a:off x="2496185" y="450913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https://developer.ecnu.edu.cn/vitepress/llm/model.html</a:t>
            </a:r>
            <a:endParaRPr lang="zh-CN" altLang="en-US"/>
          </a:p>
        </p:txBody>
      </p:sp>
    </p:spTree>
  </p:cSld>
  <p:clrMapOvr>
    <a:masterClrMapping/>
  </p:clrMapOvr>
  <p:transition spd="slow" advTm="74232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图片 99"/>
          <p:cNvPicPr/>
          <p:nvPr/>
        </p:nvPicPr>
        <p:blipFill>
          <a:blip r:embed="rId1" r:link="rId2"/>
          <a:srcRect t="42487" b="40376"/>
          <a:stretch>
            <a:fillRect/>
          </a:stretch>
        </p:blipFill>
        <p:spPr>
          <a:xfrm>
            <a:off x="-635" y="-47625"/>
            <a:ext cx="10560573" cy="140716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矩形 1"/>
          <p:cNvSpPr/>
          <p:nvPr/>
        </p:nvSpPr>
        <p:spPr>
          <a:xfrm>
            <a:off x="1" y="-143510"/>
            <a:ext cx="10559938" cy="1503045"/>
          </a:xfrm>
          <a:prstGeom prst="rect">
            <a:avLst/>
          </a:prstGeom>
          <a:solidFill>
            <a:srgbClr val="9F3A3D">
              <a:alpha val="8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7664" name="文本框 3"/>
          <p:cNvSpPr txBox="1"/>
          <p:nvPr/>
        </p:nvSpPr>
        <p:spPr>
          <a:xfrm>
            <a:off x="250445" y="264610"/>
            <a:ext cx="3855720" cy="64516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charset="0"/>
                <a:ea typeface="思源黑体 CN Normal" charset="-122"/>
                <a:cs typeface="Times New Roman" panose="02020603050405020304" charset="0"/>
              </a:rPr>
              <a:t>课程设计时间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charset="0"/>
                <a:ea typeface="思源黑体 CN Normal" charset="-122"/>
                <a:cs typeface="Times New Roman" panose="02020603050405020304" charset="0"/>
              </a:rPr>
              <a:t>安排</a:t>
            </a:r>
            <a:endParaRPr lang="zh-CN" altLang="en-US" sz="3600" b="1" dirty="0">
              <a:solidFill>
                <a:schemeClr val="bg1"/>
              </a:solidFill>
              <a:latin typeface="Times New Roman" panose="02020603050405020304" charset="0"/>
              <a:ea typeface="思源黑体 CN Normal" charset="-122"/>
              <a:cs typeface="Times New Roman" panose="02020603050405020304" charset="0"/>
            </a:endParaRPr>
          </a:p>
        </p:txBody>
      </p:sp>
      <p:cxnSp>
        <p:nvCxnSpPr>
          <p:cNvPr id="30" name="直接连接符 29"/>
          <p:cNvCxnSpPr/>
          <p:nvPr/>
        </p:nvCxnSpPr>
        <p:spPr>
          <a:xfrm>
            <a:off x="549910" y="909955"/>
            <a:ext cx="304800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5935" y="45047"/>
            <a:ext cx="1223983" cy="1223983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50190" y="4220845"/>
            <a:ext cx="1188720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6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 </a:t>
            </a:r>
            <a:endParaRPr lang="en-US" altLang="zh-CN" sz="6000"/>
          </a:p>
        </p:txBody>
      </p:sp>
      <p:sp>
        <p:nvSpPr>
          <p:cNvPr id="5" name="文本框 4"/>
          <p:cNvSpPr txBox="1"/>
          <p:nvPr/>
        </p:nvSpPr>
        <p:spPr>
          <a:xfrm>
            <a:off x="264160" y="148526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https://developer.ecnu.edu.cn/vitepress/llm/model.html</a:t>
            </a:r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405" y="1853565"/>
            <a:ext cx="6306820" cy="272351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5910" y="3213100"/>
            <a:ext cx="6345555" cy="341884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6499860" y="1771015"/>
            <a:ext cx="499618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建议大家用</a:t>
            </a:r>
            <a:r>
              <a:rPr lang="en-US" altLang="zh-CN">
                <a:solidFill>
                  <a:srgbClr val="FF0000"/>
                </a:solidFill>
              </a:rPr>
              <a:t>deepseek harness</a:t>
            </a:r>
            <a:endParaRPr lang="en-US" altLang="zh-CN">
              <a:solidFill>
                <a:srgbClr val="FF0000"/>
              </a:solidFill>
            </a:endParaRPr>
          </a:p>
          <a:p>
            <a:endParaRPr lang="en-US" altLang="zh-CN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rgbClr val="FF0000"/>
                </a:solidFill>
              </a:rPr>
              <a:t>能不用</a:t>
            </a:r>
            <a:r>
              <a:rPr lang="en-US" altLang="zh-CN">
                <a:solidFill>
                  <a:srgbClr val="FF0000"/>
                </a:solidFill>
              </a:rPr>
              <a:t>codex</a:t>
            </a:r>
            <a:r>
              <a:rPr lang="zh-CN" altLang="en-US">
                <a:solidFill>
                  <a:srgbClr val="FF0000"/>
                </a:solidFill>
              </a:rPr>
              <a:t>、</a:t>
            </a:r>
            <a:r>
              <a:rPr lang="en-US" altLang="zh-CN">
                <a:solidFill>
                  <a:srgbClr val="FF0000"/>
                </a:solidFill>
              </a:rPr>
              <a:t>CC</a:t>
            </a:r>
            <a:r>
              <a:rPr lang="zh-CN" altLang="en-US">
                <a:solidFill>
                  <a:srgbClr val="FF0000"/>
                </a:solidFill>
              </a:rPr>
              <a:t>、</a:t>
            </a:r>
            <a:r>
              <a:rPr lang="en-US" altLang="zh-CN">
                <a:solidFill>
                  <a:srgbClr val="FF0000"/>
                </a:solidFill>
              </a:rPr>
              <a:t>KIMI CODE</a:t>
            </a:r>
            <a:r>
              <a:rPr lang="zh-CN" altLang="en-US">
                <a:solidFill>
                  <a:srgbClr val="FF0000"/>
                </a:solidFill>
              </a:rPr>
              <a:t>就不要用</a:t>
            </a:r>
            <a:endParaRPr lang="zh-CN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slow" advTm="74232">
    <p:push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8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图片 104"/>
          <p:cNvPicPr/>
          <p:nvPr/>
        </p:nvPicPr>
        <p:blipFill>
          <a:blip r:embed="rId1" r:link="rId2"/>
          <a:srcRect t="24211" r="3780" b="21843"/>
          <a:stretch>
            <a:fillRect/>
          </a:stretch>
        </p:blipFill>
        <p:spPr>
          <a:xfrm>
            <a:off x="-27305" y="1681480"/>
            <a:ext cx="12205335" cy="3746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7411" name="矩形 1"/>
          <p:cNvSpPr/>
          <p:nvPr/>
        </p:nvSpPr>
        <p:spPr>
          <a:xfrm>
            <a:off x="-23495" y="1631950"/>
            <a:ext cx="12267565" cy="3803650"/>
          </a:xfrm>
          <a:prstGeom prst="rect">
            <a:avLst/>
          </a:prstGeom>
          <a:solidFill>
            <a:srgbClr val="9F3A3D">
              <a:alpha val="83000"/>
            </a:srgbClr>
          </a:solidFill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00" dirty="0"/>
          </a:p>
        </p:txBody>
      </p:sp>
      <p:sp>
        <p:nvSpPr>
          <p:cNvPr id="17412" name="文本框 3"/>
          <p:cNvSpPr txBox="1"/>
          <p:nvPr/>
        </p:nvSpPr>
        <p:spPr>
          <a:xfrm>
            <a:off x="1455328" y="2979777"/>
            <a:ext cx="9509240" cy="11068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algn="ctr">
              <a:buNone/>
            </a:pPr>
            <a:r>
              <a:rPr lang="zh-CN" altLang="en-US" sz="6600" b="1" dirty="0">
                <a:solidFill>
                  <a:srgbClr val="FDF8F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轨迹数据质量</a:t>
            </a:r>
            <a:r>
              <a:rPr lang="zh-CN" altLang="en-US" sz="6600" b="1" dirty="0">
                <a:solidFill>
                  <a:srgbClr val="FDF8F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提升</a:t>
            </a:r>
            <a:endParaRPr lang="zh-CN" altLang="en-US" sz="6600" b="1" dirty="0">
              <a:solidFill>
                <a:srgbClr val="FDF8F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 flipV="1">
            <a:off x="-23495" y="5121275"/>
            <a:ext cx="12267565" cy="361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-27305" y="1858645"/>
            <a:ext cx="12267565" cy="361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9835054" y="4312107"/>
            <a:ext cx="1372811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董</a:t>
            </a:r>
            <a:r>
              <a:rPr lang="zh-CN" altLang="en-US" sz="2000" b="1" dirty="0">
                <a:solidFill>
                  <a:schemeClr val="bg1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宜滔 </a:t>
            </a:r>
            <a:endParaRPr lang="en-US" altLang="zh-CN" sz="2000" b="1" dirty="0">
              <a:solidFill>
                <a:schemeClr val="bg1"/>
              </a:solidFill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20260917</a:t>
            </a:r>
            <a:endParaRPr lang="en-US" sz="2000" b="1" dirty="0">
              <a:solidFill>
                <a:schemeClr val="bg1"/>
              </a:solidFill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15" y="159385"/>
            <a:ext cx="2361565" cy="2361565"/>
          </a:xfrm>
          <a:prstGeom prst="rect">
            <a:avLst/>
          </a:prstGeom>
        </p:spPr>
      </p:pic>
      <p:pic>
        <p:nvPicPr>
          <p:cNvPr id="106" name="图片 105"/>
          <p:cNvPicPr/>
          <p:nvPr/>
        </p:nvPicPr>
        <p:blipFill>
          <a:blip r:embed="rId4" r:link="rId5"/>
          <a:srcRect r="75509"/>
          <a:stretch>
            <a:fillRect/>
          </a:stretch>
        </p:blipFill>
        <p:spPr>
          <a:xfrm>
            <a:off x="10967085" y="5638165"/>
            <a:ext cx="1216660" cy="121983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5940" y="45047"/>
            <a:ext cx="1511979" cy="1511979"/>
          </a:xfrm>
          <a:prstGeom prst="rect">
            <a:avLst/>
          </a:prstGeom>
        </p:spPr>
      </p:pic>
    </p:spTree>
  </p:cSld>
  <p:clrMapOvr>
    <a:masterClrMapping/>
  </p:clrMapOvr>
  <p:transition spd="slow" advTm="20716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图片 99"/>
          <p:cNvPicPr/>
          <p:nvPr>
            <p:custDataLst>
              <p:tags r:id="rId1"/>
            </p:custDataLst>
          </p:nvPr>
        </p:nvPicPr>
        <p:blipFill>
          <a:blip r:embed="rId2" r:link="rId3"/>
          <a:srcRect t="42487" b="40376"/>
          <a:stretch>
            <a:fillRect/>
          </a:stretch>
        </p:blipFill>
        <p:spPr>
          <a:xfrm>
            <a:off x="-635" y="-47625"/>
            <a:ext cx="10560573" cy="140716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矩形 1"/>
          <p:cNvSpPr/>
          <p:nvPr/>
        </p:nvSpPr>
        <p:spPr>
          <a:xfrm>
            <a:off x="1" y="-143510"/>
            <a:ext cx="10559938" cy="1503045"/>
          </a:xfrm>
          <a:prstGeom prst="rect">
            <a:avLst/>
          </a:prstGeom>
          <a:solidFill>
            <a:srgbClr val="9F3A3D">
              <a:alpha val="8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7664" name="文本框 3"/>
          <p:cNvSpPr txBox="1"/>
          <p:nvPr/>
        </p:nvSpPr>
        <p:spPr>
          <a:xfrm>
            <a:off x="324448" y="117046"/>
            <a:ext cx="4955203" cy="646331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charset="0"/>
                <a:ea typeface="思源黑体 CN Normal" charset="-122"/>
                <a:cs typeface="Times New Roman" panose="02020603050405020304" charset="0"/>
              </a:rPr>
              <a:t>实验一</a:t>
            </a:r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charset="0"/>
                <a:ea typeface="思源黑体 CN Normal" charset="-122"/>
                <a:cs typeface="Times New Roman" panose="02020603050405020304" charset="0"/>
              </a:rPr>
              <a:t>-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charset="0"/>
                <a:ea typeface="思源黑体 CN Normal" charset="-122"/>
                <a:cs typeface="Times New Roman" panose="02020603050405020304" charset="0"/>
              </a:rPr>
              <a:t>轨迹数据预处理</a:t>
            </a:r>
            <a:endParaRPr lang="zh-CN" altLang="en-US" sz="3600" b="1" dirty="0">
              <a:solidFill>
                <a:schemeClr val="bg1"/>
              </a:solidFill>
              <a:latin typeface="Times New Roman" panose="02020603050405020304" charset="0"/>
              <a:ea typeface="思源黑体 CN Normal" charset="-122"/>
              <a:cs typeface="Times New Roman" panose="02020603050405020304" charset="0"/>
            </a:endParaRPr>
          </a:p>
        </p:txBody>
      </p:sp>
      <p:cxnSp>
        <p:nvCxnSpPr>
          <p:cNvPr id="30" name="直接连接符 29"/>
          <p:cNvCxnSpPr/>
          <p:nvPr/>
        </p:nvCxnSpPr>
        <p:spPr>
          <a:xfrm>
            <a:off x="549910" y="909955"/>
            <a:ext cx="304800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5935" y="45047"/>
            <a:ext cx="1223983" cy="122398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/>
              <p:cNvSpPr txBox="1"/>
              <p:nvPr/>
            </p:nvSpPr>
            <p:spPr>
              <a:xfrm>
                <a:off x="804072" y="3262005"/>
                <a:ext cx="10583853" cy="21098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定义</a:t>
                </a:r>
                <a:r>
                  <a:rPr lang="en-US" altLang="zh-CN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  <a:r>
                  <a:rPr lang="zh-CN" altLang="en-US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：轨迹</a:t>
                </a:r>
                <a:endParaRPr lang="en-US" altLang="zh-CN" sz="24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  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一条轨迹可以表示为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1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tr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zh-CN" altLang="en-US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𝑝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𝑝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,…,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𝑝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b>
                    </m:sSub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 </m:t>
                    </m:r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𝑝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表示轨迹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i="1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tr</m:t>
                    </m:r>
                    <m:r>
                      <a:rPr lang="zh-CN" altLang="en-US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中</m:t>
                    </m:r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第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i="1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i</m:t>
                    </m:r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个轨迹点。由于在一条轨迹中轨迹点是连续的，即每个点是按采样的时间顺序（时间戳大小）进行排序的，因此对</a:t>
                </a:r>
                <a14:m>
                  <m:oMath xmlns:m="http://schemas.openxmlformats.org/officeDocument/2006/math">
                    <m:r>
                      <a:rPr lang="zh-CN" altLang="en-US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∀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𝑖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&lt; 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𝑗</m:t>
                    </m:r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，满足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𝑝</m:t>
                        </m:r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</m:t>
                        </m:r>
                      </m:sub>
                    </m:sSub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.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𝑡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&lt;</m:t>
                    </m:r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i="1" dirty="0" err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𝑝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𝑗</m:t>
                        </m:r>
                      </m:sub>
                    </m:sSub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.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𝑡</m:t>
                    </m:r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</a:t>
                </a:r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072" y="3262005"/>
                <a:ext cx="10583853" cy="2109873"/>
              </a:xfrm>
              <a:prstGeom prst="rect">
                <a:avLst/>
              </a:prstGeom>
              <a:blipFill rotWithShape="1">
                <a:blip r:embed="rId6"/>
                <a:stretch>
                  <a:fillRect l="-2" r="4" b="-30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/>
            </p:nvSpPr>
            <p:spPr>
              <a:xfrm>
                <a:off x="804072" y="1624574"/>
                <a:ext cx="11195846" cy="10125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定义</a:t>
                </a:r>
                <a:r>
                  <a:rPr lang="en-US" altLang="zh-CN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zh-CN" altLang="en-US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：轨迹点</a:t>
                </a:r>
                <a:endParaRPr lang="en-US" altLang="zh-CN" sz="24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  一个轨迹点可以表示为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𝑝𝑖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zh-CN" altLang="en-US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𝑜𝑏</m:t>
                    </m:r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𝑗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</m:t>
                        </m:r>
                      </m:sub>
                    </m:sSub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𝑙𝑛</m:t>
                    </m:r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𝑔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</m:t>
                        </m:r>
                      </m:sub>
                    </m:sSub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𝑙𝑎</m:t>
                    </m:r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𝑡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</m:t>
                        </m:r>
                      </m:sub>
                    </m:sSub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𝑡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</m:t>
                        </m:r>
                      </m:sub>
                    </m:sSub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，含义是移动对象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obj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i</m:t>
                        </m:r>
                      </m:sub>
                    </m:sSub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在时刻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𝑡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时位于</a:t>
                </a:r>
                <a14:m>
                  <m:oMath xmlns:m="http://schemas.openxmlformats.org/officeDocument/2006/math">
                    <m:r>
                      <a:rPr lang="en-US" altLang="zh-CN" b="0" i="0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&lt;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𝑙𝑛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𝑔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𝑙𝑎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𝑡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</m:t>
                        </m:r>
                      </m:sub>
                    </m:sSub>
                    <m:r>
                      <a:rPr lang="en-US" altLang="zh-CN" b="0" i="0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&gt;</m:t>
                    </m:r>
                    <m:r>
                      <a:rPr lang="zh-CN" altLang="en-US" i="1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处</m:t>
                    </m:r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072" y="1624574"/>
                <a:ext cx="11195846" cy="1012521"/>
              </a:xfrm>
              <a:prstGeom prst="rect">
                <a:avLst/>
              </a:prstGeom>
              <a:blipFill rotWithShape="1">
                <a:blip r:embed="rId7"/>
                <a:stretch>
                  <a:fillRect l="-1" t="-24" r="3" b="-62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/>
          <p:cNvSpPr txBox="1"/>
          <p:nvPr/>
        </p:nvSpPr>
        <p:spPr>
          <a:xfrm>
            <a:off x="351155" y="285940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slow" advTm="74232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6065" y="1867536"/>
            <a:ext cx="5687921" cy="4340783"/>
          </a:xfrm>
          <a:prstGeom prst="rect">
            <a:avLst/>
          </a:prstGeom>
        </p:spPr>
      </p:pic>
      <p:pic>
        <p:nvPicPr>
          <p:cNvPr id="7" name="图片 6"/>
          <p:cNvPicPr/>
          <p:nvPr/>
        </p:nvPicPr>
        <p:blipFill>
          <a:blip r:embed="rId2" r:link="rId3"/>
          <a:srcRect t="42487" b="40376"/>
          <a:stretch>
            <a:fillRect/>
          </a:stretch>
        </p:blipFill>
        <p:spPr>
          <a:xfrm>
            <a:off x="-635" y="-47625"/>
            <a:ext cx="10560573" cy="140716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矩形 7"/>
          <p:cNvSpPr/>
          <p:nvPr/>
        </p:nvSpPr>
        <p:spPr>
          <a:xfrm>
            <a:off x="1" y="-143510"/>
            <a:ext cx="10559938" cy="1503045"/>
          </a:xfrm>
          <a:prstGeom prst="rect">
            <a:avLst/>
          </a:prstGeom>
          <a:solidFill>
            <a:srgbClr val="9F3A3D">
              <a:alpha val="8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文本框 3"/>
          <p:cNvSpPr txBox="1"/>
          <p:nvPr/>
        </p:nvSpPr>
        <p:spPr>
          <a:xfrm>
            <a:off x="1058257" y="189230"/>
            <a:ext cx="2031325" cy="646331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charset="0"/>
                <a:ea typeface="思源黑体 CN Normal" charset="-122"/>
                <a:cs typeface="Times New Roman" panose="02020603050405020304" charset="0"/>
              </a:rPr>
              <a:t>数据示例</a:t>
            </a:r>
            <a:endParaRPr lang="en-US" altLang="zh-CN" sz="3600" b="1" dirty="0">
              <a:solidFill>
                <a:schemeClr val="bg1"/>
              </a:solidFill>
              <a:latin typeface="Times New Roman" panose="02020603050405020304" charset="0"/>
              <a:ea typeface="思源黑体 CN Normal" charset="-122"/>
              <a:cs typeface="Times New Roman" panose="02020603050405020304" charset="0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549910" y="909955"/>
            <a:ext cx="304800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片 1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5935" y="45047"/>
            <a:ext cx="1223983" cy="122398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/>
              <p:cNvSpPr txBox="1"/>
              <p:nvPr/>
            </p:nvSpPr>
            <p:spPr>
              <a:xfrm>
                <a:off x="7423963" y="4309155"/>
                <a:ext cx="3743948" cy="1569660"/>
              </a:xfrm>
              <a:prstGeom prst="rect">
                <a:avLst/>
              </a:prstGeom>
              <a:noFill/>
              <a:ln>
                <a:solidFill>
                  <a:srgbClr val="002060"/>
                </a:solidFill>
              </a:ln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𝑜𝑏</m:t>
                    </m:r>
                    <m:sSub>
                      <m:sSub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𝑗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400" dirty="0">
                    <a:solidFill>
                      <a:srgbClr val="000000"/>
                    </a:solidFill>
                    <a:ea typeface="微软雅黑" panose="020B0503020204020204" pitchFamily="34" charset="-122"/>
                  </a:rPr>
                  <a:t>=123</a:t>
                </a:r>
                <a:endParaRPr lang="en-US" altLang="zh-CN" sz="2400" b="0" i="1" dirty="0"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𝑙𝑛</m:t>
                    </m:r>
                    <m:sSub>
                      <m:sSub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𝑔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400" dirty="0">
                    <a:ea typeface="微软雅黑" panose="020B0503020204020204" pitchFamily="34" charset="-122"/>
                  </a:rPr>
                  <a:t>=</a:t>
                </a:r>
                <a:r>
                  <a:rPr lang="en-US" altLang="zh-CN" sz="2400" dirty="0"/>
                  <a:t>121.4330462</a:t>
                </a:r>
                <a:endParaRPr lang="en-US" altLang="zh-CN" sz="2400" b="0" i="1" dirty="0"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𝑙𝑎</m:t>
                    </m:r>
                    <m:sSub>
                      <m:sSub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400" b="0" dirty="0">
                    <a:ea typeface="微软雅黑" panose="020B0503020204020204" pitchFamily="34" charset="-122"/>
                  </a:rPr>
                  <a:t>=</a:t>
                </a:r>
                <a:r>
                  <a:rPr lang="en-US" altLang="zh-CN" sz="2400" dirty="0"/>
                  <a:t>31.21349962</a:t>
                </a:r>
                <a:endParaRPr lang="en-US" altLang="zh-CN" sz="2400" b="0" dirty="0">
                  <a:ea typeface="微软雅黑" panose="020B0503020204020204" pitchFamily="34" charset="-122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400" dirty="0"/>
                  <a:t>= 2018-03-20 21:39:40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3963" y="4309155"/>
                <a:ext cx="3743948" cy="1569660"/>
              </a:xfrm>
              <a:prstGeom prst="rect">
                <a:avLst/>
              </a:prstGeom>
              <a:blipFill rotWithShape="1">
                <a:blip r:embed="rId5"/>
                <a:stretch>
                  <a:fillRect l="-174" t="-407" r="-165" b="-12137"/>
                </a:stretch>
              </a:blipFill>
              <a:ln>
                <a:solidFill>
                  <a:srgbClr val="00206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本框 14"/>
              <p:cNvSpPr txBox="1"/>
              <p:nvPr/>
            </p:nvSpPr>
            <p:spPr>
              <a:xfrm>
                <a:off x="7423962" y="2365182"/>
                <a:ext cx="3959945" cy="1569660"/>
              </a:xfrm>
              <a:prstGeom prst="rect">
                <a:avLst/>
              </a:prstGeom>
              <a:noFill/>
              <a:ln>
                <a:solidFill>
                  <a:srgbClr val="002060"/>
                </a:solidFill>
              </a:ln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𝑜𝑏</m:t>
                    </m:r>
                    <m:sSub>
                      <m:sSub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𝑗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</m:t>
                        </m:r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dirty="0">
                    <a:solidFill>
                      <a:srgbClr val="000000"/>
                    </a:solidFill>
                    <a:ea typeface="微软雅黑" panose="020B0503020204020204" pitchFamily="34" charset="-122"/>
                  </a:rPr>
                  <a:t>=123</a:t>
                </a:r>
                <a:endParaRPr lang="en-US" altLang="zh-CN" sz="2400" b="0" i="1" dirty="0"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𝑙𝑛</m:t>
                    </m:r>
                    <m:sSub>
                      <m:sSub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𝑔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</m:t>
                        </m:r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dirty="0">
                    <a:ea typeface="微软雅黑" panose="020B0503020204020204" pitchFamily="34" charset="-122"/>
                  </a:rPr>
                  <a:t>=</a:t>
                </a:r>
                <a:r>
                  <a:rPr lang="en-US" altLang="zh-CN" sz="2400" dirty="0"/>
                  <a:t>121.4334155</a:t>
                </a:r>
                <a:endParaRPr lang="en-US" altLang="zh-CN" sz="2400" b="0" i="1" dirty="0"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𝑙𝑎</m:t>
                    </m:r>
                    <m:sSub>
                      <m:sSub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</m:t>
                        </m:r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dirty="0">
                    <a:ea typeface="微软雅黑" panose="020B0503020204020204" pitchFamily="34" charset="-122"/>
                  </a:rPr>
                  <a:t>=</a:t>
                </a:r>
                <a:r>
                  <a:rPr lang="en-US" altLang="zh-CN" sz="2400" dirty="0"/>
                  <a:t>31.21379059</a:t>
                </a:r>
                <a:endParaRPr lang="en-US" altLang="zh-CN" sz="2400" b="0" dirty="0">
                  <a:ea typeface="微软雅黑" panose="020B0503020204020204" pitchFamily="34" charset="-122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</m:t>
                        </m:r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dirty="0"/>
                  <a:t>= 2018-03-20 21:39:50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15" name="文本框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3962" y="2365182"/>
                <a:ext cx="3959945" cy="1569660"/>
              </a:xfrm>
              <a:prstGeom prst="rect">
                <a:avLst/>
              </a:prstGeom>
              <a:blipFill rotWithShape="1">
                <a:blip r:embed="rId6"/>
                <a:stretch>
                  <a:fillRect l="-165" t="-433" r="-154" b="-12112"/>
                </a:stretch>
              </a:blipFill>
              <a:ln>
                <a:solidFill>
                  <a:srgbClr val="00206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直接箭头连接符 16"/>
          <p:cNvCxnSpPr/>
          <p:nvPr/>
        </p:nvCxnSpPr>
        <p:spPr>
          <a:xfrm flipH="1" flipV="1">
            <a:off x="5047996" y="4021159"/>
            <a:ext cx="2303968" cy="93598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/>
          <p:nvPr/>
        </p:nvCxnSpPr>
        <p:spPr>
          <a:xfrm flipH="1">
            <a:off x="5839985" y="3229170"/>
            <a:ext cx="1439980" cy="7199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/>
        </p:nvPicPr>
        <p:blipFill>
          <a:blip r:embed="rId1" r:link="rId2"/>
          <a:srcRect t="42487" b="40376"/>
          <a:stretch>
            <a:fillRect/>
          </a:stretch>
        </p:blipFill>
        <p:spPr>
          <a:xfrm>
            <a:off x="-635" y="-47625"/>
            <a:ext cx="10560573" cy="140716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矩形 7"/>
          <p:cNvSpPr/>
          <p:nvPr/>
        </p:nvSpPr>
        <p:spPr>
          <a:xfrm>
            <a:off x="1" y="-143510"/>
            <a:ext cx="10559938" cy="1503045"/>
          </a:xfrm>
          <a:prstGeom prst="rect">
            <a:avLst/>
          </a:prstGeom>
          <a:solidFill>
            <a:srgbClr val="9F3A3D">
              <a:alpha val="8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文本框 3"/>
          <p:cNvSpPr txBox="1"/>
          <p:nvPr/>
        </p:nvSpPr>
        <p:spPr>
          <a:xfrm>
            <a:off x="1064273" y="189230"/>
            <a:ext cx="2019300" cy="64516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charset="0"/>
                <a:ea typeface="思源黑体 CN Normal" charset="-122"/>
                <a:cs typeface="Times New Roman" panose="02020603050405020304" charset="0"/>
              </a:rPr>
              <a:t>数据示例</a:t>
            </a:r>
            <a:endParaRPr lang="zh-CN" altLang="en-US" sz="3600" b="1" dirty="0">
              <a:solidFill>
                <a:schemeClr val="bg1"/>
              </a:solidFill>
              <a:latin typeface="Times New Roman" panose="02020603050405020304" charset="0"/>
              <a:ea typeface="思源黑体 CN Normal" charset="-122"/>
              <a:cs typeface="Times New Roman" panose="02020603050405020304" charset="0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549910" y="909955"/>
            <a:ext cx="304800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片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5935" y="45047"/>
            <a:ext cx="1223983" cy="1223983"/>
          </a:xfrm>
          <a:prstGeom prst="rect">
            <a:avLst/>
          </a:prstGeom>
        </p:spPr>
      </p:pic>
      <p:graphicFrame>
        <p:nvGraphicFramePr>
          <p:cNvPr id="5" name="表格 5"/>
          <p:cNvGraphicFramePr>
            <a:graphicFrameLocks noGrp="1"/>
          </p:cNvGraphicFramePr>
          <p:nvPr>
            <p:custDataLst>
              <p:tags r:id="rId4"/>
            </p:custDataLst>
          </p:nvPr>
        </p:nvGraphicFramePr>
        <p:xfrm>
          <a:off x="2746622" y="2072790"/>
          <a:ext cx="6112028" cy="3708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5992"/>
                <a:gridCol w="2480022"/>
                <a:gridCol w="1528007"/>
                <a:gridCol w="1528007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obj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time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err="1"/>
                        <a:t>lng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err="1"/>
                        <a:t>lat</a:t>
                      </a:r>
                      <a:endParaRPr lang="zh-CN" altLang="en-US" sz="1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17</a:t>
                      </a:r>
                      <a:endParaRPr lang="en-US" altLang="zh-CN" sz="1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2018/4/10 0:12:57</a:t>
                      </a:r>
                      <a:endParaRPr lang="en-US" altLang="zh-CN" sz="1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121.4742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31.25729</a:t>
                      </a:r>
                      <a:endParaRPr lang="en-US" altLang="zh-CN" sz="1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3" marR="4763" marT="4763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17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2018/4/10 0:13:07</a:t>
                      </a:r>
                      <a:endParaRPr lang="en-US" altLang="zh-CN" sz="1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121.4742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31.25729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3" marR="4763" marT="4763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17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2018/4/10 0:13:27</a:t>
                      </a:r>
                      <a:endParaRPr lang="en-US" altLang="zh-CN" sz="1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121.4742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31.25729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3" marR="4763" marT="4763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17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2018/4/10 0:13:37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121.4742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31.25729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3" marR="4763" marT="4763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17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2018/4/10 0:13:47</a:t>
                      </a:r>
                      <a:endParaRPr lang="en-US" altLang="zh-CN" sz="1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121.4742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31.25729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3" marR="4763" marT="4763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17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2018/4/10 0:13:57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121.4742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31.25729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3" marR="4763" marT="4763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17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2018/4/10 0:14:08</a:t>
                      </a:r>
                      <a:endParaRPr lang="en-US" altLang="zh-CN" sz="1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121.4742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31.25729</a:t>
                      </a:r>
                      <a:endParaRPr lang="en-US" altLang="zh-CN" sz="1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3" marR="4763" marT="4763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49</a:t>
                      </a:r>
                      <a:endParaRPr lang="en-US" altLang="zh-CN" sz="1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2018/4/10 0:00:00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121.4483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31.22085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3" marR="4763" marT="4763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49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2018/4/10 0:00:09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121.4483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31.22085</a:t>
                      </a:r>
                      <a:endParaRPr lang="en-US" altLang="zh-CN" sz="1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3" marR="4763" marT="4763" marB="0" anchor="ctr"/>
                </a:tc>
              </a:tr>
            </a:tbl>
          </a:graphicData>
        </a:graphic>
      </p:graphicFrame>
    </p:spTree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/>
        </p:nvPicPr>
        <p:blipFill>
          <a:blip r:embed="rId1" r:link="rId2"/>
          <a:srcRect t="42487" b="40376"/>
          <a:stretch>
            <a:fillRect/>
          </a:stretch>
        </p:blipFill>
        <p:spPr>
          <a:xfrm>
            <a:off x="-635" y="-47625"/>
            <a:ext cx="10560573" cy="140716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矩形 7"/>
          <p:cNvSpPr/>
          <p:nvPr/>
        </p:nvSpPr>
        <p:spPr>
          <a:xfrm>
            <a:off x="1" y="-143510"/>
            <a:ext cx="10559938" cy="1503045"/>
          </a:xfrm>
          <a:prstGeom prst="rect">
            <a:avLst/>
          </a:prstGeom>
          <a:solidFill>
            <a:srgbClr val="9F3A3D">
              <a:alpha val="8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文本框 3"/>
          <p:cNvSpPr txBox="1"/>
          <p:nvPr/>
        </p:nvSpPr>
        <p:spPr>
          <a:xfrm>
            <a:off x="840252" y="189230"/>
            <a:ext cx="2467342" cy="646331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charset="0"/>
                <a:ea typeface="思源黑体 CN Normal" charset="-122"/>
                <a:cs typeface="Times New Roman" panose="02020603050405020304" charset="0"/>
              </a:rPr>
              <a:t>GPS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charset="0"/>
                <a:ea typeface="思源黑体 CN Normal" charset="-122"/>
                <a:cs typeface="Times New Roman" panose="02020603050405020304" charset="0"/>
              </a:rPr>
              <a:t>坐标系</a:t>
            </a:r>
            <a:endParaRPr lang="en-US" altLang="zh-CN" sz="3600" b="1" dirty="0">
              <a:solidFill>
                <a:schemeClr val="bg1"/>
              </a:solidFill>
              <a:latin typeface="Times New Roman" panose="02020603050405020304" charset="0"/>
              <a:ea typeface="思源黑体 CN Normal" charset="-122"/>
              <a:cs typeface="Times New Roman" panose="02020603050405020304" charset="0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549910" y="909955"/>
            <a:ext cx="304800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片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5935" y="45047"/>
            <a:ext cx="1223983" cy="1223983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840252" y="1643342"/>
            <a:ext cx="1058385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WGS84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坐标系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即地球坐标系（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World Geodetic System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），国际上通用的坐标系。设备包含的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GPS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芯片或者北斗芯片获取的经纬度一般都是为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WGS84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地理坐标系，目前谷歌地图采用的是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WGS84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坐标系。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840252" y="4148990"/>
            <a:ext cx="10583853" cy="14284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GCJ02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坐标系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即火星坐标系，国测局坐标系。是由中国国家测绘局制定。由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WGS84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坐标系经加密后的坐标系。谷歌中国和搜搜中国采用的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GCJ02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地理坐标系。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/>
        </p:nvPicPr>
        <p:blipFill>
          <a:blip r:embed="rId1" r:link="rId2"/>
          <a:srcRect t="42487" b="40376"/>
          <a:stretch>
            <a:fillRect/>
          </a:stretch>
        </p:blipFill>
        <p:spPr>
          <a:xfrm>
            <a:off x="-635" y="-47625"/>
            <a:ext cx="10560573" cy="140716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矩形 7"/>
          <p:cNvSpPr/>
          <p:nvPr/>
        </p:nvSpPr>
        <p:spPr>
          <a:xfrm>
            <a:off x="1" y="-143510"/>
            <a:ext cx="10559938" cy="1503045"/>
          </a:xfrm>
          <a:prstGeom prst="rect">
            <a:avLst/>
          </a:prstGeom>
          <a:solidFill>
            <a:srgbClr val="9F3A3D">
              <a:alpha val="8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文本框 3"/>
          <p:cNvSpPr txBox="1"/>
          <p:nvPr/>
        </p:nvSpPr>
        <p:spPr>
          <a:xfrm>
            <a:off x="834721" y="189230"/>
            <a:ext cx="2478405" cy="64516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charset="0"/>
                <a:ea typeface="思源黑体 CN Normal" charset="-122"/>
                <a:cs typeface="Times New Roman" panose="02020603050405020304" charset="0"/>
              </a:rPr>
              <a:t>投影坐标系</a:t>
            </a:r>
            <a:endParaRPr lang="en-US" altLang="zh-CN" sz="3600" b="1" dirty="0">
              <a:solidFill>
                <a:schemeClr val="bg1"/>
              </a:solidFill>
              <a:latin typeface="Times New Roman" panose="02020603050405020304" charset="0"/>
              <a:ea typeface="思源黑体 CN Normal" charset="-122"/>
              <a:cs typeface="Times New Roman" panose="02020603050405020304" charset="0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549910" y="909955"/>
            <a:ext cx="304800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片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5935" y="45047"/>
            <a:ext cx="1223983" cy="1223983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703157" y="1492109"/>
            <a:ext cx="10583853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平面坐标系，常以米为单位。球面是曲面，但我们的地图是画在平面上的，这里要有一个换算过程。采取的就是投影法。</a:t>
            </a:r>
            <a:endParaRPr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比如墨卡托投影，用圆柱形的纸板将地球蒙起来，然后有一根蜡烛在地球球心，发光发热，将地球投射在这块纸板上，于是就得到了地球的平面图。</a:t>
            </a:r>
            <a:endParaRPr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/>
        </p:nvPicPr>
        <p:blipFill>
          <a:blip r:embed="rId1" r:link="rId2"/>
          <a:srcRect t="42487" b="40376"/>
          <a:stretch>
            <a:fillRect/>
          </a:stretch>
        </p:blipFill>
        <p:spPr>
          <a:xfrm>
            <a:off x="-635" y="-47625"/>
            <a:ext cx="10560573" cy="140716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矩形 7"/>
          <p:cNvSpPr/>
          <p:nvPr/>
        </p:nvSpPr>
        <p:spPr>
          <a:xfrm>
            <a:off x="1" y="-143510"/>
            <a:ext cx="10559938" cy="1503045"/>
          </a:xfrm>
          <a:prstGeom prst="rect">
            <a:avLst/>
          </a:prstGeom>
          <a:solidFill>
            <a:srgbClr val="9F3A3D">
              <a:alpha val="8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文本框 3"/>
          <p:cNvSpPr txBox="1"/>
          <p:nvPr/>
        </p:nvSpPr>
        <p:spPr>
          <a:xfrm>
            <a:off x="834721" y="189230"/>
            <a:ext cx="2478405" cy="64516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charset="0"/>
                <a:ea typeface="思源黑体 CN Normal" charset="-122"/>
                <a:cs typeface="Times New Roman" panose="02020603050405020304" charset="0"/>
              </a:rPr>
              <a:t>投影坐标系</a:t>
            </a:r>
            <a:endParaRPr lang="en-US" altLang="zh-CN" sz="3600" b="1" dirty="0">
              <a:solidFill>
                <a:schemeClr val="bg1"/>
              </a:solidFill>
              <a:latin typeface="Times New Roman" panose="02020603050405020304" charset="0"/>
              <a:ea typeface="思源黑体 CN Normal" charset="-122"/>
              <a:cs typeface="Times New Roman" panose="02020603050405020304" charset="0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549910" y="909955"/>
            <a:ext cx="304800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片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5935" y="45047"/>
            <a:ext cx="1223983" cy="1223983"/>
          </a:xfrm>
          <a:prstGeom prst="rect">
            <a:avLst/>
          </a:prstGeom>
        </p:spPr>
      </p:pic>
      <p:pic>
        <p:nvPicPr>
          <p:cNvPr id="105" name="图片 104"/>
          <p:cNvPicPr/>
          <p:nvPr/>
        </p:nvPicPr>
        <p:blipFill>
          <a:blip r:embed="rId4"/>
          <a:stretch>
            <a:fillRect/>
          </a:stretch>
        </p:blipFill>
        <p:spPr>
          <a:xfrm>
            <a:off x="3700145" y="2705735"/>
            <a:ext cx="4363085" cy="31591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" name="图片 1" descr="165220-20190904184435623-81311265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8820" y="2454275"/>
            <a:ext cx="3661410" cy="366141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16865" y="1553210"/>
            <a:ext cx="1119632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对于墨卡托投影来说，越到高纬度，大小扭曲越严重，到两极会被放到无限大，所以，墨卡托投影无法显示极地地区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9225" y="2988310"/>
            <a:ext cx="3361690" cy="2594610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/>
          <p:nvPr/>
        </p:nvPicPr>
        <p:blipFill>
          <a:blip r:embed="rId1" r:link="rId2"/>
          <a:srcRect t="42487" b="40376"/>
          <a:stretch>
            <a:fillRect/>
          </a:stretch>
        </p:blipFill>
        <p:spPr>
          <a:xfrm>
            <a:off x="-635" y="-47625"/>
            <a:ext cx="10560573" cy="140716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矩形 6"/>
          <p:cNvSpPr/>
          <p:nvPr/>
        </p:nvSpPr>
        <p:spPr>
          <a:xfrm>
            <a:off x="1" y="-143510"/>
            <a:ext cx="10559938" cy="1503045"/>
          </a:xfrm>
          <a:prstGeom prst="rect">
            <a:avLst/>
          </a:prstGeom>
          <a:solidFill>
            <a:srgbClr val="9F3A3D">
              <a:alpha val="8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文本框 3"/>
          <p:cNvSpPr txBox="1"/>
          <p:nvPr/>
        </p:nvSpPr>
        <p:spPr>
          <a:xfrm>
            <a:off x="-81290" y="162971"/>
            <a:ext cx="6420547" cy="64633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charset="0"/>
                <a:ea typeface="思源黑体 CN Normal" charset="-122"/>
                <a:cs typeface="Times New Roman" panose="02020603050405020304" charset="0"/>
              </a:rPr>
              <a:t>作业一</a:t>
            </a:r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charset="0"/>
                <a:ea typeface="思源黑体 CN Normal" charset="-122"/>
                <a:cs typeface="Times New Roman" panose="02020603050405020304" charset="0"/>
              </a:rPr>
              <a:t>-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charset="0"/>
                <a:ea typeface="思源黑体 CN Normal" charset="-122"/>
                <a:cs typeface="Times New Roman" panose="02020603050405020304" charset="0"/>
              </a:rPr>
              <a:t>轨迹数据预处理</a:t>
            </a:r>
            <a:endParaRPr lang="en-US" altLang="zh-CN" sz="3600" b="1" dirty="0">
              <a:solidFill>
                <a:schemeClr val="bg1"/>
              </a:solidFill>
              <a:latin typeface="Times New Roman" panose="02020603050405020304" charset="0"/>
              <a:ea typeface="思源黑体 CN Normal" charset="-122"/>
              <a:cs typeface="Times New Roman" panose="02020603050405020304" charset="0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552077" y="909035"/>
            <a:ext cx="503993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5935" y="45047"/>
            <a:ext cx="1223983" cy="1223983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74" y="1542937"/>
            <a:ext cx="10116362" cy="5147548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/>
          <p:nvPr/>
        </p:nvPicPr>
        <p:blipFill>
          <a:blip r:embed="rId1" r:link="rId2"/>
          <a:srcRect t="42487" b="40376"/>
          <a:stretch>
            <a:fillRect/>
          </a:stretch>
        </p:blipFill>
        <p:spPr>
          <a:xfrm>
            <a:off x="-635" y="-47625"/>
            <a:ext cx="10560573" cy="140716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矩形 6"/>
          <p:cNvSpPr/>
          <p:nvPr/>
        </p:nvSpPr>
        <p:spPr>
          <a:xfrm>
            <a:off x="1" y="-143510"/>
            <a:ext cx="10559938" cy="1503045"/>
          </a:xfrm>
          <a:prstGeom prst="rect">
            <a:avLst/>
          </a:prstGeom>
          <a:solidFill>
            <a:srgbClr val="9F3A3D">
              <a:alpha val="8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文本框 3"/>
          <p:cNvSpPr txBox="1"/>
          <p:nvPr/>
        </p:nvSpPr>
        <p:spPr>
          <a:xfrm>
            <a:off x="-81290" y="162971"/>
            <a:ext cx="6420547" cy="64633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charset="0"/>
                <a:ea typeface="思源黑体 CN Normal" charset="-122"/>
                <a:cs typeface="Times New Roman" panose="02020603050405020304" charset="0"/>
              </a:rPr>
              <a:t>为什么需要轨迹数据预处理</a:t>
            </a:r>
            <a:endParaRPr lang="en-US" altLang="zh-CN" sz="3600" b="1" dirty="0">
              <a:solidFill>
                <a:schemeClr val="bg1"/>
              </a:solidFill>
              <a:latin typeface="Times New Roman" panose="02020603050405020304" charset="0"/>
              <a:ea typeface="思源黑体 CN Normal" charset="-122"/>
              <a:cs typeface="Times New Roman" panose="02020603050405020304" charset="0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552077" y="909035"/>
            <a:ext cx="503993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5935" y="45047"/>
            <a:ext cx="1223983" cy="1223983"/>
          </a:xfrm>
          <a:prstGeom prst="rect">
            <a:avLst/>
          </a:prstGeom>
        </p:spPr>
      </p:pic>
      <p:grpSp>
        <p:nvGrpSpPr>
          <p:cNvPr id="15" name="组合 14"/>
          <p:cNvGrpSpPr>
            <a:grpSpLocks noChangeAspect="1"/>
          </p:cNvGrpSpPr>
          <p:nvPr/>
        </p:nvGrpSpPr>
        <p:grpSpPr>
          <a:xfrm>
            <a:off x="984071" y="2061019"/>
            <a:ext cx="4413744" cy="3887946"/>
            <a:chOff x="4324845" y="1357971"/>
            <a:chExt cx="3599950" cy="3171097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24845" y="1357971"/>
              <a:ext cx="3599950" cy="3171097"/>
            </a:xfrm>
            <a:prstGeom prst="rect">
              <a:avLst/>
            </a:prstGeom>
          </p:spPr>
        </p:pic>
        <p:cxnSp>
          <p:nvCxnSpPr>
            <p:cNvPr id="11" name="直线连接符 10"/>
            <p:cNvCxnSpPr/>
            <p:nvPr/>
          </p:nvCxnSpPr>
          <p:spPr>
            <a:xfrm>
              <a:off x="5088014" y="2421014"/>
              <a:ext cx="1799975" cy="71999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文本框 15"/>
          <p:cNvSpPr txBox="1"/>
          <p:nvPr/>
        </p:nvSpPr>
        <p:spPr>
          <a:xfrm>
            <a:off x="6231330" y="2268861"/>
            <a:ext cx="4978004" cy="33673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背景：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由于用户误关闭设备或者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GPS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设备故障导致相邻轨迹点的采样时间间隔远大于平均采样间隔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影响：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相邻轨迹点连成的线段无法表示移动对象真实通行的路径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数据分析：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相邻轨迹点的采样时间间隔远大于平均采样间隔；相邻轨迹点的位移距离远大于平均位移距离。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126971" y="1570131"/>
            <a:ext cx="2591964" cy="581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u"/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GPS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信号中断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8" name="直线箭头连接符 17"/>
          <p:cNvCxnSpPr/>
          <p:nvPr/>
        </p:nvCxnSpPr>
        <p:spPr>
          <a:xfrm flipV="1">
            <a:off x="1704061" y="2916689"/>
            <a:ext cx="203042" cy="29631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文本框 18"/>
              <p:cNvSpPr txBox="1"/>
              <p:nvPr/>
            </p:nvSpPr>
            <p:spPr>
              <a:xfrm>
                <a:off x="1200068" y="2493013"/>
                <a:ext cx="4770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kumimoji="1" lang="en-US" altLang="zh-CN" b="0" dirty="0"/>
              </a:p>
            </p:txBody>
          </p:sp>
        </mc:Choice>
        <mc:Fallback>
          <p:sp>
            <p:nvSpPr>
              <p:cNvPr id="19" name="文本框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0068" y="2493013"/>
                <a:ext cx="477054" cy="369332"/>
              </a:xfrm>
              <a:prstGeom prst="rect">
                <a:avLst/>
              </a:prstGeom>
              <a:blipFill rotWithShape="1">
                <a:blip r:embed="rId5"/>
                <a:stretch>
                  <a:fillRect l="-116" t="-1" r="18" b="1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文本框 19"/>
              <p:cNvSpPr txBox="1"/>
              <p:nvPr/>
            </p:nvSpPr>
            <p:spPr>
              <a:xfrm>
                <a:off x="1263814" y="3109673"/>
                <a:ext cx="4717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en-US" altLang="zh-CN" b="0" dirty="0"/>
              </a:p>
            </p:txBody>
          </p:sp>
        </mc:Choice>
        <mc:Fallback>
          <p:sp>
            <p:nvSpPr>
              <p:cNvPr id="20" name="文本框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3814" y="3109673"/>
                <a:ext cx="471732" cy="369332"/>
              </a:xfrm>
              <a:prstGeom prst="rect">
                <a:avLst/>
              </a:prstGeom>
              <a:blipFill rotWithShape="1">
                <a:blip r:embed="rId6"/>
                <a:stretch>
                  <a:fillRect l="-35" t="-21" r="19" b="1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文本框 20"/>
              <p:cNvSpPr txBox="1"/>
              <p:nvPr/>
            </p:nvSpPr>
            <p:spPr>
              <a:xfrm>
                <a:off x="4126632" y="4101153"/>
                <a:ext cx="4770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en-US" altLang="zh-CN" b="0" dirty="0"/>
              </a:p>
            </p:txBody>
          </p:sp>
        </mc:Choice>
        <mc:Fallback>
          <p:sp>
            <p:nvSpPr>
              <p:cNvPr id="21" name="文本框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6632" y="4101153"/>
                <a:ext cx="477054" cy="369332"/>
              </a:xfrm>
              <a:prstGeom prst="rect">
                <a:avLst/>
              </a:prstGeom>
              <a:blipFill rotWithShape="1">
                <a:blip r:embed="rId7"/>
                <a:stretch>
                  <a:fillRect l="-84" t="-87" r="120" b="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文本框 21"/>
              <p:cNvSpPr txBox="1"/>
              <p:nvPr/>
            </p:nvSpPr>
            <p:spPr>
              <a:xfrm>
                <a:off x="1843607" y="3509401"/>
                <a:ext cx="4770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en-US" altLang="zh-CN" b="0" dirty="0"/>
              </a:p>
            </p:txBody>
          </p:sp>
        </mc:Choice>
        <mc:Fallback>
          <p:sp>
            <p:nvSpPr>
              <p:cNvPr id="22" name="文本框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3607" y="3509401"/>
                <a:ext cx="477054" cy="369332"/>
              </a:xfrm>
              <a:prstGeom prst="rect">
                <a:avLst/>
              </a:prstGeom>
              <a:blipFill rotWithShape="1">
                <a:blip r:embed="rId8"/>
                <a:stretch>
                  <a:fillRect l="-42" t="-106" r="78" b="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文本框 22"/>
              <p:cNvSpPr txBox="1"/>
              <p:nvPr/>
            </p:nvSpPr>
            <p:spPr>
              <a:xfrm>
                <a:off x="4008029" y="4508985"/>
                <a:ext cx="47532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kumimoji="1" lang="en-US" altLang="zh-CN" b="0" dirty="0"/>
              </a:p>
            </p:txBody>
          </p:sp>
        </mc:Choice>
        <mc:Fallback>
          <p:sp>
            <p:nvSpPr>
              <p:cNvPr id="23" name="文本框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8029" y="4508985"/>
                <a:ext cx="475323" cy="369332"/>
              </a:xfrm>
              <a:prstGeom prst="rect">
                <a:avLst/>
              </a:prstGeom>
              <a:blipFill rotWithShape="1">
                <a:blip r:embed="rId9"/>
                <a:stretch>
                  <a:fillRect l="-114" t="-131" r="53" b="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文本框 24"/>
              <p:cNvSpPr txBox="1"/>
              <p:nvPr/>
            </p:nvSpPr>
            <p:spPr>
              <a:xfrm>
                <a:off x="1856014" y="2610648"/>
                <a:ext cx="145155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kumimoji="1" lang="en-US" altLang="zh-CN" b="0" dirty="0"/>
              </a:p>
            </p:txBody>
          </p:sp>
        </mc:Choice>
        <mc:Fallback>
          <p:sp>
            <p:nvSpPr>
              <p:cNvPr id="25" name="文本框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014" y="2610648"/>
                <a:ext cx="1451551" cy="369332"/>
              </a:xfrm>
              <a:prstGeom prst="rect">
                <a:avLst/>
              </a:prstGeom>
              <a:blipFill rotWithShape="1">
                <a:blip r:embed="rId10"/>
                <a:stretch>
                  <a:fillRect l="-37" t="-44" r="33" b="1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文本框 25"/>
              <p:cNvSpPr txBox="1"/>
              <p:nvPr/>
            </p:nvSpPr>
            <p:spPr>
              <a:xfrm>
                <a:off x="1646334" y="4098665"/>
                <a:ext cx="158511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30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kumimoji="1" lang="en-US" altLang="zh-CN" b="0" dirty="0"/>
              </a:p>
            </p:txBody>
          </p:sp>
        </mc:Choice>
        <mc:Fallback>
          <p:sp>
            <p:nvSpPr>
              <p:cNvPr id="26" name="文本框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6334" y="4098665"/>
                <a:ext cx="1585114" cy="369332"/>
              </a:xfrm>
              <a:prstGeom prst="rect">
                <a:avLst/>
              </a:prstGeom>
              <a:blipFill rotWithShape="1">
                <a:blip r:embed="rId11"/>
                <a:stretch>
                  <a:fillRect l="-26" t="-102" r="36" b="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直线箭头连接符 26"/>
          <p:cNvCxnSpPr/>
          <p:nvPr/>
        </p:nvCxnSpPr>
        <p:spPr>
          <a:xfrm flipV="1">
            <a:off x="2504875" y="3803968"/>
            <a:ext cx="451377" cy="297185"/>
          </a:xfrm>
          <a:prstGeom prst="straightConnector1">
            <a:avLst/>
          </a:prstGeom>
          <a:ln w="254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文本框 30"/>
              <p:cNvSpPr txBox="1"/>
              <p:nvPr/>
            </p:nvSpPr>
            <p:spPr>
              <a:xfrm>
                <a:off x="4036699" y="5026009"/>
                <a:ext cx="4770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kumimoji="1" lang="en-US" altLang="zh-CN" b="0" dirty="0"/>
              </a:p>
            </p:txBody>
          </p:sp>
        </mc:Choice>
        <mc:Fallback>
          <p:sp>
            <p:nvSpPr>
              <p:cNvPr id="31" name="文本框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6699" y="5026009"/>
                <a:ext cx="477054" cy="369332"/>
              </a:xfrm>
              <a:prstGeom prst="rect">
                <a:avLst/>
              </a:prstGeom>
              <a:blipFill rotWithShape="1">
                <a:blip r:embed="rId12"/>
                <a:stretch>
                  <a:fillRect l="-1" t="-168" r="36" b="1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文本框 31"/>
              <p:cNvSpPr txBox="1"/>
              <p:nvPr/>
            </p:nvSpPr>
            <p:spPr>
              <a:xfrm>
                <a:off x="4034968" y="5444972"/>
                <a:ext cx="4770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kumimoji="1" lang="en-US" altLang="zh-CN" b="0" dirty="0"/>
              </a:p>
            </p:txBody>
          </p:sp>
        </mc:Choice>
        <mc:Fallback>
          <p:sp>
            <p:nvSpPr>
              <p:cNvPr id="32" name="文本框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4968" y="5444972"/>
                <a:ext cx="477054" cy="369332"/>
              </a:xfrm>
              <a:prstGeom prst="rect">
                <a:avLst/>
              </a:prstGeom>
              <a:blipFill rotWithShape="1">
                <a:blip r:embed="rId13"/>
                <a:stretch>
                  <a:fillRect l="-37" t="-131" r="73" b="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slow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/>
        </p:nvSpPr>
        <p:spPr>
          <a:xfrm>
            <a:off x="5918250" y="2537122"/>
            <a:ext cx="6166491" cy="3261831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 defTabSz="685800" eaLnBrk="1" hangingPunct="1">
              <a:lnSpc>
                <a:spcPct val="90000"/>
              </a:lnSpc>
              <a:spcBef>
                <a:spcPts val="750"/>
              </a:spcBef>
              <a:buFont typeface="Arial" panose="020B0704020202020204" pitchFamily="34" charset="0"/>
            </a:pPr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6" name="图片 5"/>
          <p:cNvPicPr/>
          <p:nvPr/>
        </p:nvPicPr>
        <p:blipFill>
          <a:blip r:embed="rId1" r:link="rId2"/>
          <a:srcRect t="42487" b="40376"/>
          <a:stretch>
            <a:fillRect/>
          </a:stretch>
        </p:blipFill>
        <p:spPr>
          <a:xfrm>
            <a:off x="-635" y="-47625"/>
            <a:ext cx="10560573" cy="140716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矩形 6"/>
          <p:cNvSpPr/>
          <p:nvPr/>
        </p:nvSpPr>
        <p:spPr>
          <a:xfrm>
            <a:off x="1" y="-143510"/>
            <a:ext cx="10559938" cy="1503045"/>
          </a:xfrm>
          <a:prstGeom prst="rect">
            <a:avLst/>
          </a:prstGeom>
          <a:solidFill>
            <a:srgbClr val="9F3A3D">
              <a:alpha val="8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文本框 3"/>
          <p:cNvSpPr txBox="1"/>
          <p:nvPr/>
        </p:nvSpPr>
        <p:spPr>
          <a:xfrm>
            <a:off x="-81290" y="162971"/>
            <a:ext cx="6420547" cy="64633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charset="0"/>
                <a:ea typeface="思源黑体 CN Normal" charset="-122"/>
                <a:cs typeface="Times New Roman" panose="02020603050405020304" charset="0"/>
              </a:rPr>
              <a:t>为什么需要轨迹数据预处理</a:t>
            </a:r>
            <a:endParaRPr lang="en-US" altLang="zh-CN" sz="3600" b="1" dirty="0">
              <a:solidFill>
                <a:schemeClr val="bg1"/>
              </a:solidFill>
              <a:latin typeface="Times New Roman" panose="02020603050405020304" charset="0"/>
              <a:ea typeface="思源黑体 CN Normal" charset="-122"/>
              <a:cs typeface="Times New Roman" panose="02020603050405020304" charset="0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552077" y="909035"/>
            <a:ext cx="503993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5935" y="45047"/>
            <a:ext cx="1223983" cy="1223983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6059327" y="2540148"/>
            <a:ext cx="5768588" cy="458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Step1: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定位距离异常、时间间隔异常的相邻轨迹点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564095" y="1585071"/>
            <a:ext cx="4209015" cy="581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u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解决方法：轨迹分段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059327" y="3566432"/>
            <a:ext cx="5768588" cy="458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Step2: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根据定位结果将轨迹分段为多条子轨迹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/>
              <p:nvPr/>
            </p:nvSpPr>
            <p:spPr>
              <a:xfrm>
                <a:off x="8347799" y="3126175"/>
                <a:ext cx="142669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m:t>)</m:t>
                      </m:r>
                    </m:oMath>
                  </m:oMathPara>
                </a14:m>
                <a:endParaRPr lang="en-US" altLang="zh-CN" b="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charset="0"/>
                </a:endParaRPr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7799" y="3126175"/>
                <a:ext cx="1426698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6" t="-19" r="40" b="1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3" name="组合 32"/>
          <p:cNvGrpSpPr/>
          <p:nvPr/>
        </p:nvGrpSpPr>
        <p:grpSpPr>
          <a:xfrm>
            <a:off x="922111" y="2415000"/>
            <a:ext cx="4413744" cy="3887946"/>
            <a:chOff x="984071" y="2061019"/>
            <a:chExt cx="4413744" cy="3887946"/>
          </a:xfrm>
        </p:grpSpPr>
        <p:grpSp>
          <p:nvGrpSpPr>
            <p:cNvPr id="15" name="组合 14"/>
            <p:cNvGrpSpPr>
              <a:grpSpLocks noChangeAspect="1"/>
            </p:cNvGrpSpPr>
            <p:nvPr/>
          </p:nvGrpSpPr>
          <p:grpSpPr>
            <a:xfrm>
              <a:off x="984071" y="2061019"/>
              <a:ext cx="4413744" cy="3887946"/>
              <a:chOff x="4324845" y="1357971"/>
              <a:chExt cx="3599950" cy="3171097"/>
            </a:xfrm>
          </p:grpSpPr>
          <p:pic>
            <p:nvPicPr>
              <p:cNvPr id="2" name="图片 1"/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24845" y="1357971"/>
                <a:ext cx="3599950" cy="3171097"/>
              </a:xfrm>
              <a:prstGeom prst="rect">
                <a:avLst/>
              </a:prstGeom>
            </p:spPr>
          </p:pic>
          <p:cxnSp>
            <p:nvCxnSpPr>
              <p:cNvPr id="11" name="直线连接符 10"/>
              <p:cNvCxnSpPr/>
              <p:nvPr/>
            </p:nvCxnSpPr>
            <p:spPr>
              <a:xfrm>
                <a:off x="5088014" y="2421014"/>
                <a:ext cx="1799975" cy="71999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8" name="直线箭头连接符 17"/>
            <p:cNvCxnSpPr/>
            <p:nvPr/>
          </p:nvCxnSpPr>
          <p:spPr>
            <a:xfrm flipV="1">
              <a:off x="1704061" y="2916689"/>
              <a:ext cx="203042" cy="29631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文本框 18"/>
                <p:cNvSpPr txBox="1"/>
                <p:nvPr/>
              </p:nvSpPr>
              <p:spPr>
                <a:xfrm>
                  <a:off x="1200068" y="2493013"/>
                  <a:ext cx="4770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b="0" dirty="0"/>
                </a:p>
              </p:txBody>
            </p:sp>
          </mc:Choice>
          <mc:Fallback>
            <p:sp>
              <p:nvSpPr>
                <p:cNvPr id="19" name="文本框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00068" y="2493013"/>
                  <a:ext cx="477054" cy="369332"/>
                </a:xfrm>
                <a:prstGeom prst="rect">
                  <a:avLst/>
                </a:prstGeom>
                <a:blipFill rotWithShape="1">
                  <a:blip r:embed="rId6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文本框 19"/>
                <p:cNvSpPr txBox="1"/>
                <p:nvPr/>
              </p:nvSpPr>
              <p:spPr>
                <a:xfrm>
                  <a:off x="1263814" y="3109673"/>
                  <a:ext cx="47173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b="0" dirty="0"/>
                </a:p>
              </p:txBody>
            </p:sp>
          </mc:Choice>
          <mc:Fallback>
            <p:sp>
              <p:nvSpPr>
                <p:cNvPr id="20" name="文本框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63814" y="3109673"/>
                  <a:ext cx="471732" cy="369332"/>
                </a:xfrm>
                <a:prstGeom prst="rect">
                  <a:avLst/>
                </a:prstGeom>
                <a:blipFill rotWithShape="1">
                  <a:blip r:embed="rId7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文本框 20"/>
                <p:cNvSpPr txBox="1"/>
                <p:nvPr/>
              </p:nvSpPr>
              <p:spPr>
                <a:xfrm>
                  <a:off x="4126632" y="4101153"/>
                  <a:ext cx="4770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b="0" dirty="0"/>
                </a:p>
              </p:txBody>
            </p:sp>
          </mc:Choice>
          <mc:Fallback>
            <p:sp>
              <p:nvSpPr>
                <p:cNvPr id="21" name="文本框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26632" y="4101153"/>
                  <a:ext cx="477054" cy="369332"/>
                </a:xfrm>
                <a:prstGeom prst="rect">
                  <a:avLst/>
                </a:prstGeom>
                <a:blipFill rotWithShape="1">
                  <a:blip r:embed="rId8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文本框 21"/>
                <p:cNvSpPr txBox="1"/>
                <p:nvPr/>
              </p:nvSpPr>
              <p:spPr>
                <a:xfrm>
                  <a:off x="1843607" y="3509401"/>
                  <a:ext cx="4770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b="0" dirty="0"/>
                </a:p>
              </p:txBody>
            </p:sp>
          </mc:Choice>
          <mc:Fallback>
            <p:sp>
              <p:nvSpPr>
                <p:cNvPr id="22" name="文本框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43607" y="3509401"/>
                  <a:ext cx="477054" cy="369332"/>
                </a:xfrm>
                <a:prstGeom prst="rect">
                  <a:avLst/>
                </a:prstGeom>
                <a:blipFill rotWithShape="1">
                  <a:blip r:embed="rId9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文本框 22"/>
                <p:cNvSpPr txBox="1"/>
                <p:nvPr/>
              </p:nvSpPr>
              <p:spPr>
                <a:xfrm>
                  <a:off x="4008029" y="4508985"/>
                  <a:ext cx="47532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b="0" dirty="0"/>
                </a:p>
              </p:txBody>
            </p:sp>
          </mc:Choice>
          <mc:Fallback>
            <p:sp>
              <p:nvSpPr>
                <p:cNvPr id="23" name="文本框 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08029" y="4508985"/>
                  <a:ext cx="475323" cy="369332"/>
                </a:xfrm>
                <a:prstGeom prst="rect">
                  <a:avLst/>
                </a:prstGeom>
                <a:blipFill rotWithShape="1">
                  <a:blip r:embed="rId10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文本框 24"/>
                <p:cNvSpPr txBox="1"/>
                <p:nvPr/>
              </p:nvSpPr>
              <p:spPr>
                <a:xfrm>
                  <a:off x="1856014" y="2610648"/>
                  <a:ext cx="145155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oMath>
                    </m:oMathPara>
                  </a14:m>
                  <a:endParaRPr kumimoji="1" lang="en-US" altLang="zh-CN" b="0" dirty="0"/>
                </a:p>
              </p:txBody>
            </p:sp>
          </mc:Choice>
          <mc:Fallback>
            <p:sp>
              <p:nvSpPr>
                <p:cNvPr id="25" name="文本框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56014" y="2610648"/>
                  <a:ext cx="1451551" cy="369332"/>
                </a:xfrm>
                <a:prstGeom prst="rect">
                  <a:avLst/>
                </a:prstGeom>
                <a:blipFill rotWithShape="1">
                  <a:blip r:embed="rId11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文本框 25"/>
                <p:cNvSpPr txBox="1"/>
                <p:nvPr/>
              </p:nvSpPr>
              <p:spPr>
                <a:xfrm>
                  <a:off x="1646334" y="4098665"/>
                  <a:ext cx="158511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30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oMath>
                    </m:oMathPara>
                  </a14:m>
                  <a:endParaRPr kumimoji="1" lang="en-US" altLang="zh-CN" b="0" dirty="0"/>
                </a:p>
              </p:txBody>
            </p:sp>
          </mc:Choice>
          <mc:Fallback>
            <p:sp>
              <p:nvSpPr>
                <p:cNvPr id="26" name="文本框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46334" y="4098665"/>
                  <a:ext cx="1585114" cy="369332"/>
                </a:xfrm>
                <a:prstGeom prst="rect">
                  <a:avLst/>
                </a:prstGeom>
                <a:blipFill rotWithShape="1">
                  <a:blip r:embed="rId1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7" name="直线箭头连接符 26"/>
            <p:cNvCxnSpPr/>
            <p:nvPr/>
          </p:nvCxnSpPr>
          <p:spPr>
            <a:xfrm flipV="1">
              <a:off x="2504875" y="3803968"/>
              <a:ext cx="451377" cy="297185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文本框 11"/>
                <p:cNvSpPr txBox="1"/>
                <p:nvPr/>
              </p:nvSpPr>
              <p:spPr>
                <a:xfrm>
                  <a:off x="4036699" y="5026009"/>
                  <a:ext cx="4770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b="0" dirty="0"/>
                </a:p>
              </p:txBody>
            </p:sp>
          </mc:Choice>
          <mc:Fallback>
            <p:sp>
              <p:nvSpPr>
                <p:cNvPr id="12" name="文本框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36699" y="5026009"/>
                  <a:ext cx="477054" cy="369332"/>
                </a:xfrm>
                <a:prstGeom prst="rect">
                  <a:avLst/>
                </a:prstGeom>
                <a:blipFill rotWithShape="1">
                  <a:blip r:embed="rId1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文本框 23"/>
                <p:cNvSpPr txBox="1"/>
                <p:nvPr/>
              </p:nvSpPr>
              <p:spPr>
                <a:xfrm>
                  <a:off x="4034968" y="5444972"/>
                  <a:ext cx="4770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b="0" dirty="0"/>
                </a:p>
              </p:txBody>
            </p:sp>
          </mc:Choice>
          <mc:Fallback>
            <p:sp>
              <p:nvSpPr>
                <p:cNvPr id="24" name="文本框 2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34968" y="5444972"/>
                  <a:ext cx="477054" cy="369332"/>
                </a:xfrm>
                <a:prstGeom prst="rect">
                  <a:avLst/>
                </a:prstGeom>
                <a:blipFill rotWithShape="1">
                  <a:blip r:embed="rId1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文本框 27"/>
              <p:cNvSpPr txBox="1"/>
              <p:nvPr/>
            </p:nvSpPr>
            <p:spPr>
              <a:xfrm>
                <a:off x="6090285" y="1602105"/>
                <a:ext cx="5978525" cy="5067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charset="0"/>
                  </a:rPr>
                  <a:t>Input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charset="0"/>
                  </a:rPr>
                  <a:t>：单条轨迹数据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charset="0"/>
                      </a:rPr>
                      <m:t>tr</m:t>
                    </m:r>
                    <m:r>
                      <a:rPr lang="en-US" altLang="zh-CN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charset="0"/>
                      </a:rPr>
                      <m:t>=</m:t>
                    </m:r>
                    <m:r>
                      <a:rPr lang="en-US" altLang="zh-CN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charset="0"/>
                      </a:rPr>
                      <m:t>{</m:t>
                    </m:r>
                    <m:sSub>
                      <m:sSub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(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0</m:t>
                        </m:r>
                      </m:sub>
                    </m:sSub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charset="0"/>
                      </a:rPr>
                      <m:t>, </m:t>
                    </m:r>
                    <m:sSub>
                      <m:sSub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𝑡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0</m:t>
                        </m:r>
                      </m:sub>
                    </m:sSub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charset="0"/>
                      </a:rPr>
                      <m:t>),</m:t>
                    </m:r>
                    <m:sSub>
                      <m:sSubPr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(</m:t>
                        </m:r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charset="0"/>
                      </a:rPr>
                      <m:t>, </m:t>
                    </m:r>
                    <m:sSub>
                      <m:sSubPr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𝑡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charset="0"/>
                      </a:rPr>
                      <m:t>),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charset="0"/>
                      </a:rPr>
                      <m:t>…,</m:t>
                    </m:r>
                    <m:sSub>
                      <m:sSubPr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(</m:t>
                        </m:r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𝑛</m:t>
                        </m:r>
                      </m:sub>
                    </m:sSub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charset="0"/>
                      </a:rPr>
                      <m:t>, </m:t>
                    </m:r>
                    <m:sSub>
                      <m:sSubPr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𝑡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𝑛</m:t>
                        </m:r>
                      </m:sub>
                    </m:sSub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charset="0"/>
                      </a:rPr>
                      <m:t>)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charset="0"/>
                      </a:rPr>
                      <m:t>}</m:t>
                    </m:r>
                  </m:oMath>
                </a14:m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charset="0"/>
                </a:endParaRPr>
              </a:p>
            </p:txBody>
          </p:sp>
        </mc:Choice>
        <mc:Fallback>
          <p:sp>
            <p:nvSpPr>
              <p:cNvPr id="28" name="文本框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0285" y="1602105"/>
                <a:ext cx="5978525" cy="506730"/>
              </a:xfrm>
              <a:prstGeom prst="rect">
                <a:avLst/>
              </a:prstGeom>
              <a:blipFill rotWithShape="1">
                <a:blip r:embed="rId15"/>
                <a:stretch>
                  <a:fillRect b="-41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文本框 28"/>
              <p:cNvSpPr txBox="1"/>
              <p:nvPr/>
            </p:nvSpPr>
            <p:spPr>
              <a:xfrm>
                <a:off x="6211618" y="4220376"/>
                <a:ext cx="5932298" cy="3699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dirty="0">
                    <a:solidFill>
                      <a:srgbClr val="FF0000"/>
                    </a:solidFill>
                    <a:ea typeface="微软雅黑" panose="020B0503020204020204" pitchFamily="34" charset="-122"/>
                    <a:cs typeface="Times New Roman" panose="02020603050405020304" charset="0"/>
                  </a:rPr>
                  <a:t>将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charset="0"/>
                      </a:rPr>
                      <m:t>tr</m:t>
                    </m:r>
                  </m:oMath>
                </a14:m>
                <a:r>
                  <a:rPr lang="zh-CN" altLang="en-US" dirty="0">
                    <a:solidFill>
                      <a:srgbClr val="FF0000"/>
                    </a:solidFill>
                    <a:ea typeface="微软雅黑" panose="020B0503020204020204" pitchFamily="34" charset="-122"/>
                    <a:cs typeface="Times New Roman" panose="02020603050405020304" charset="0"/>
                  </a:rPr>
                  <a:t>划分为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charset="0"/>
                      </a:rPr>
                      <m:t>{</m:t>
                    </m:r>
                    <m:sSub>
                      <m:sSubPr>
                        <m:ctrlPr>
                          <a:rPr lang="en-US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</m:ctrlPr>
                      </m:sSubPr>
                      <m:e>
                        <m:r>
                          <a:rPr lang="en-US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(</m:t>
                        </m:r>
                        <m:r>
                          <a:rPr lang="en-US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𝑝</m:t>
                        </m:r>
                      </m:e>
                      <m:sub>
                        <m:r>
                          <a:rPr lang="en-US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0</m:t>
                        </m:r>
                      </m:sub>
                    </m:sSub>
                    <m:r>
                      <a:rPr lang="en-US" altLang="zh-CN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charset="0"/>
                      </a:rPr>
                      <m:t>, </m:t>
                    </m:r>
                    <m:sSub>
                      <m:sSubPr>
                        <m:ctrlPr>
                          <a:rPr lang="en-US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</m:ctrlPr>
                      </m:sSubPr>
                      <m:e>
                        <m:r>
                          <a:rPr lang="en-US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𝑡</m:t>
                        </m:r>
                      </m:e>
                      <m:sub>
                        <m:r>
                          <a:rPr lang="en-US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0</m:t>
                        </m:r>
                      </m:sub>
                    </m:sSub>
                    <m:r>
                      <a:rPr lang="en-US" altLang="zh-CN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charset="0"/>
                      </a:rPr>
                      <m:t>),</m:t>
                    </m:r>
                    <m:sSub>
                      <m:sSubPr>
                        <m:ctrlPr>
                          <a:rPr lang="en-US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…,</m:t>
                        </m:r>
                        <m:r>
                          <a:rPr lang="en-US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(</m:t>
                        </m:r>
                        <m:r>
                          <a:rPr lang="en-US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2</m:t>
                        </m:r>
                      </m:sub>
                    </m:sSub>
                    <m:r>
                      <a:rPr lang="en-US" altLang="zh-CN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charset="0"/>
                      </a:rPr>
                      <m:t>, </m:t>
                    </m:r>
                    <m:sSub>
                      <m:sSubPr>
                        <m:ctrlPr>
                          <a:rPr lang="en-US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</m:ctrlPr>
                      </m:sSubPr>
                      <m:e>
                        <m:r>
                          <a:rPr lang="en-US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𝑡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2</m:t>
                        </m:r>
                      </m:sub>
                    </m:sSub>
                    <m:r>
                      <a:rPr lang="en-US" altLang="zh-CN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charset="0"/>
                      </a:rPr>
                      <m:t>)</m:t>
                    </m:r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charset="0"/>
                      </a:rPr>
                      <m:t>}</m:t>
                    </m:r>
                    <m:r>
                      <a:rPr lang="zh-CN" alt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charset="0"/>
                      </a:rPr>
                      <m:t>与</m:t>
                    </m:r>
                    <m:r>
                      <a:rPr lang="en-US" altLang="zh-CN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charset="0"/>
                      </a:rPr>
                      <m:t>{</m:t>
                    </m:r>
                    <m:sSub>
                      <m:sSubPr>
                        <m:ctrlPr>
                          <a:rPr lang="en-US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</m:ctrlPr>
                      </m:sSubPr>
                      <m:e>
                        <m:r>
                          <a:rPr lang="en-US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(</m:t>
                        </m:r>
                        <m:r>
                          <a:rPr lang="en-US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3</m:t>
                        </m:r>
                      </m:sub>
                    </m:sSub>
                    <m:r>
                      <a:rPr lang="en-US" altLang="zh-CN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charset="0"/>
                      </a:rPr>
                      <m:t>, </m:t>
                    </m:r>
                    <m:sSub>
                      <m:sSubPr>
                        <m:ctrlPr>
                          <a:rPr lang="en-US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</m:ctrlPr>
                      </m:sSubPr>
                      <m:e>
                        <m:r>
                          <a:rPr lang="en-US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𝑡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3</m:t>
                        </m:r>
                      </m:sub>
                    </m:sSub>
                    <m:r>
                      <a:rPr lang="en-US" altLang="zh-CN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charset="0"/>
                      </a:rPr>
                      <m:t>),</m:t>
                    </m:r>
                    <m:sSub>
                      <m:sSubPr>
                        <m:ctrlPr>
                          <a:rPr lang="en-US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</m:ctrlPr>
                      </m:sSubPr>
                      <m:e>
                        <m:r>
                          <a:rPr lang="en-US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…,(</m:t>
                        </m:r>
                        <m:r>
                          <a:rPr lang="en-US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𝑝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n</m:t>
                        </m:r>
                      </m:sub>
                    </m:sSub>
                    <m:r>
                      <a:rPr lang="en-US" altLang="zh-CN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charset="0"/>
                      </a:rPr>
                      <m:t>, </m:t>
                    </m:r>
                    <m:sSub>
                      <m:sSubPr>
                        <m:ctrlPr>
                          <a:rPr lang="en-US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</m:ctrlPr>
                      </m:sSubPr>
                      <m:e>
                        <m:r>
                          <a:rPr lang="en-US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𝑡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𝑛</m:t>
                        </m:r>
                      </m:sub>
                    </m:sSub>
                    <m:r>
                      <a:rPr lang="en-US" altLang="zh-CN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charset="0"/>
                      </a:rPr>
                      <m:t>)}</m:t>
                    </m:r>
                  </m:oMath>
                </a14:m>
                <a:endParaRPr lang="en-US" altLang="zh-CN" b="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charset="0"/>
                </a:endParaRPr>
              </a:p>
            </p:txBody>
          </p:sp>
        </mc:Choice>
        <mc:Fallback>
          <p:sp>
            <p:nvSpPr>
              <p:cNvPr id="29" name="文本框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1618" y="4220376"/>
                <a:ext cx="5932298" cy="369909"/>
              </a:xfrm>
              <a:prstGeom prst="rect">
                <a:avLst/>
              </a:prstGeom>
              <a:blipFill rotWithShape="1">
                <a:blip r:embed="rId16"/>
                <a:stretch>
                  <a:fillRect l="-1" t="-45" r="3" b="1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文本框 29"/>
          <p:cNvSpPr txBox="1"/>
          <p:nvPr/>
        </p:nvSpPr>
        <p:spPr>
          <a:xfrm>
            <a:off x="6059326" y="4705610"/>
            <a:ext cx="6084589" cy="458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Step3: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删除分段结果中距离过短或点数过少的子轨迹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文本框 31"/>
              <p:cNvSpPr txBox="1"/>
              <p:nvPr/>
            </p:nvSpPr>
            <p:spPr>
              <a:xfrm>
                <a:off x="7842250" y="5291637"/>
                <a:ext cx="307768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dirty="0">
                    <a:solidFill>
                      <a:srgbClr val="FF0000"/>
                    </a:solidFill>
                    <a:ea typeface="微软雅黑" panose="020B0503020204020204" pitchFamily="34" charset="-122"/>
                    <a:cs typeface="Times New Roman" panose="02020603050405020304" charset="0"/>
                  </a:rPr>
                  <a:t>删除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charset="0"/>
                      </a:rPr>
                      <m:t>{</m:t>
                    </m:r>
                    <m:sSub>
                      <m:sSubPr>
                        <m:ctrlPr>
                          <a:rPr lang="en-US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</m:ctrlPr>
                      </m:sSubPr>
                      <m:e>
                        <m:r>
                          <a:rPr lang="en-US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(</m:t>
                        </m:r>
                        <m:r>
                          <a:rPr lang="en-US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𝑝</m:t>
                        </m:r>
                      </m:e>
                      <m:sub>
                        <m:r>
                          <a:rPr lang="en-US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0</m:t>
                        </m:r>
                      </m:sub>
                    </m:sSub>
                    <m:r>
                      <a:rPr lang="en-US" altLang="zh-CN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charset="0"/>
                      </a:rPr>
                      <m:t>, </m:t>
                    </m:r>
                    <m:sSub>
                      <m:sSubPr>
                        <m:ctrlPr>
                          <a:rPr lang="en-US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</m:ctrlPr>
                      </m:sSubPr>
                      <m:e>
                        <m:r>
                          <a:rPr lang="en-US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𝑡</m:t>
                        </m:r>
                      </m:e>
                      <m:sub>
                        <m:r>
                          <a:rPr lang="en-US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0</m:t>
                        </m:r>
                      </m:sub>
                    </m:sSub>
                    <m:r>
                      <a:rPr lang="en-US" altLang="zh-CN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charset="0"/>
                      </a:rPr>
                      <m:t>),</m:t>
                    </m:r>
                    <m:sSub>
                      <m:sSubPr>
                        <m:ctrlPr>
                          <a:rPr lang="en-US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…,</m:t>
                        </m:r>
                        <m:r>
                          <a:rPr lang="en-US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(</m:t>
                        </m:r>
                        <m:r>
                          <a:rPr lang="en-US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2</m:t>
                        </m:r>
                      </m:sub>
                    </m:sSub>
                    <m:r>
                      <a:rPr lang="en-US" altLang="zh-CN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charset="0"/>
                      </a:rPr>
                      <m:t>, </m:t>
                    </m:r>
                    <m:sSub>
                      <m:sSubPr>
                        <m:ctrlPr>
                          <a:rPr lang="en-US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</m:ctrlPr>
                      </m:sSubPr>
                      <m:e>
                        <m:r>
                          <a:rPr lang="en-US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𝑡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2</m:t>
                        </m:r>
                      </m:sub>
                    </m:sSub>
                    <m:r>
                      <a:rPr lang="en-US" altLang="zh-CN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charset="0"/>
                      </a:rPr>
                      <m:t>)</m:t>
                    </m:r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charset="0"/>
                      </a:rPr>
                      <m:t>}</m:t>
                    </m:r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32" name="文本框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2250" y="5291637"/>
                <a:ext cx="3077683" cy="369332"/>
              </a:xfrm>
              <a:prstGeom prst="rect">
                <a:avLst/>
              </a:prstGeom>
              <a:blipFill rotWithShape="1">
                <a:blip r:embed="rId17"/>
                <a:stretch>
                  <a:fillRect t="-49" r="15" b="1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右箭头 34"/>
          <p:cNvSpPr/>
          <p:nvPr/>
        </p:nvSpPr>
        <p:spPr>
          <a:xfrm rot="5400000">
            <a:off x="8880011" y="2106950"/>
            <a:ext cx="255933" cy="373761"/>
          </a:xfrm>
          <a:prstGeom prst="rightArrow">
            <a:avLst/>
          </a:prstGeom>
          <a:solidFill>
            <a:srgbClr val="FF8300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687705" rtl="0" eaLnBrk="1" latinLnBrk="0" hangingPunct="1">
              <a:defRPr sz="135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44170" algn="l" defTabSz="687705" rtl="0" eaLnBrk="1" latinLnBrk="0" hangingPunct="1">
              <a:defRPr sz="135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687705" algn="l" defTabSz="687705" rtl="0" eaLnBrk="1" latinLnBrk="0" hangingPunct="1">
              <a:defRPr sz="135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31875" algn="l" defTabSz="687705" rtl="0" eaLnBrk="1" latinLnBrk="0" hangingPunct="1">
              <a:defRPr sz="135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375410" algn="l" defTabSz="687705" rtl="0" eaLnBrk="1" latinLnBrk="0" hangingPunct="1">
              <a:defRPr sz="135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719580" algn="l" defTabSz="687705" rtl="0" eaLnBrk="1" latinLnBrk="0" hangingPunct="1">
              <a:defRPr sz="135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063115" algn="l" defTabSz="687705" rtl="0" eaLnBrk="1" latinLnBrk="0" hangingPunct="1">
              <a:defRPr sz="135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407285" algn="l" defTabSz="687705" rtl="0" eaLnBrk="1" latinLnBrk="0" hangingPunct="1">
              <a:defRPr sz="135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750820" algn="l" defTabSz="687705" rtl="0" eaLnBrk="1" latinLnBrk="0" hangingPunct="1">
              <a:defRPr sz="135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1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右箭头 35"/>
          <p:cNvSpPr/>
          <p:nvPr/>
        </p:nvSpPr>
        <p:spPr>
          <a:xfrm rot="5400000">
            <a:off x="8872154" y="5848463"/>
            <a:ext cx="255933" cy="373761"/>
          </a:xfrm>
          <a:prstGeom prst="rightArrow">
            <a:avLst/>
          </a:prstGeom>
          <a:solidFill>
            <a:srgbClr val="FF8300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687705" rtl="0" eaLnBrk="1" latinLnBrk="0" hangingPunct="1">
              <a:defRPr sz="135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44170" algn="l" defTabSz="687705" rtl="0" eaLnBrk="1" latinLnBrk="0" hangingPunct="1">
              <a:defRPr sz="135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687705" algn="l" defTabSz="687705" rtl="0" eaLnBrk="1" latinLnBrk="0" hangingPunct="1">
              <a:defRPr sz="135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31875" algn="l" defTabSz="687705" rtl="0" eaLnBrk="1" latinLnBrk="0" hangingPunct="1">
              <a:defRPr sz="135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375410" algn="l" defTabSz="687705" rtl="0" eaLnBrk="1" latinLnBrk="0" hangingPunct="1">
              <a:defRPr sz="135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719580" algn="l" defTabSz="687705" rtl="0" eaLnBrk="1" latinLnBrk="0" hangingPunct="1">
              <a:defRPr sz="135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063115" algn="l" defTabSz="687705" rtl="0" eaLnBrk="1" latinLnBrk="0" hangingPunct="1">
              <a:defRPr sz="135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407285" algn="l" defTabSz="687705" rtl="0" eaLnBrk="1" latinLnBrk="0" hangingPunct="1">
              <a:defRPr sz="135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750820" algn="l" defTabSz="687705" rtl="0" eaLnBrk="1" latinLnBrk="0" hangingPunct="1">
              <a:defRPr sz="135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1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文本框 36"/>
              <p:cNvSpPr txBox="1"/>
              <p:nvPr/>
            </p:nvSpPr>
            <p:spPr>
              <a:xfrm>
                <a:off x="5977424" y="6163310"/>
                <a:ext cx="6166491" cy="5039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charset="0"/>
                  </a:rPr>
                  <a:t>Output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charset="0"/>
                  </a:rPr>
                  <a:t>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charset="0"/>
                      </a:rPr>
                      <m:t>tr</m:t>
                    </m:r>
                    <m:r>
                      <a:rPr lang="en-US" altLang="zh-CN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charset="0"/>
                      </a:rPr>
                      <m:t>=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charset="0"/>
                      </a:rPr>
                      <m:t>{</m:t>
                    </m:r>
                    <m:r>
                      <a:rPr lang="en-US" altLang="zh-CN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charset="0"/>
                      </a:rPr>
                      <m:t>{</m:t>
                    </m:r>
                    <m:sSub>
                      <m:sSub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(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3</m:t>
                        </m:r>
                      </m:sub>
                    </m:sSub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charset="0"/>
                      </a:rPr>
                      <m:t>, </m:t>
                    </m:r>
                    <m:sSub>
                      <m:sSub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𝑡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3</m:t>
                        </m:r>
                      </m:sub>
                    </m:sSub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charset="0"/>
                      </a:rPr>
                      <m:t>)</m:t>
                    </m:r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charset="0"/>
                      </a:rPr>
                      <m:t>,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charset="0"/>
                      </a:rPr>
                      <m:t>…,</m:t>
                    </m:r>
                    <m:sSub>
                      <m:sSubPr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(</m:t>
                        </m:r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𝑝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i</m:t>
                        </m:r>
                      </m:sub>
                    </m:sSub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charset="0"/>
                      </a:rPr>
                      <m:t>, </m:t>
                    </m:r>
                    <m:sSub>
                      <m:sSubPr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𝑡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𝑖</m:t>
                        </m:r>
                      </m:sub>
                    </m:sSub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charset="0"/>
                      </a:rPr>
                      <m:t>)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charset="0"/>
                      </a:rPr>
                      <m:t>}, …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charset="0"/>
                      </a:rPr>
                      <m:t>{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𝑗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charset="0"/>
                      </a:rPr>
                      <m:t>, 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𝑡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𝑗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charset="0"/>
                      </a:rPr>
                      <m:t>),…,</m:t>
                    </m:r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𝑛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charset="0"/>
                      </a:rPr>
                      <m:t>, 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𝑡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𝑛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charset="0"/>
                      </a:rPr>
                      <m:t>)}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charset="0"/>
                      </a:rPr>
                      <m:t>}</m:t>
                    </m:r>
                  </m:oMath>
                </a14:m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charset="0"/>
                </a:endParaRPr>
              </a:p>
            </p:txBody>
          </p:sp>
        </mc:Choice>
        <mc:Fallback>
          <p:sp>
            <p:nvSpPr>
              <p:cNvPr id="37" name="文本框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7424" y="6163310"/>
                <a:ext cx="6166491" cy="503921"/>
              </a:xfrm>
              <a:prstGeom prst="rect">
                <a:avLst/>
              </a:prstGeom>
              <a:blipFill rotWithShape="1">
                <a:blip r:embed="rId18"/>
                <a:stretch>
                  <a:fillRect l="-3" r="3" b="-68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5049" y="1516358"/>
            <a:ext cx="5092700" cy="4991100"/>
          </a:xfrm>
          <a:prstGeom prst="rect">
            <a:avLst/>
          </a:prstGeom>
        </p:spPr>
      </p:pic>
      <p:pic>
        <p:nvPicPr>
          <p:cNvPr id="6" name="图片 5"/>
          <p:cNvPicPr/>
          <p:nvPr/>
        </p:nvPicPr>
        <p:blipFill>
          <a:blip r:embed="rId2" r:link="rId3"/>
          <a:srcRect t="42487" b="40376"/>
          <a:stretch>
            <a:fillRect/>
          </a:stretch>
        </p:blipFill>
        <p:spPr>
          <a:xfrm>
            <a:off x="-635" y="-47625"/>
            <a:ext cx="10560573" cy="140716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矩形 6"/>
          <p:cNvSpPr/>
          <p:nvPr/>
        </p:nvSpPr>
        <p:spPr>
          <a:xfrm>
            <a:off x="1" y="-143510"/>
            <a:ext cx="10559938" cy="1503045"/>
          </a:xfrm>
          <a:prstGeom prst="rect">
            <a:avLst/>
          </a:prstGeom>
          <a:solidFill>
            <a:srgbClr val="9F3A3D">
              <a:alpha val="8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文本框 3"/>
          <p:cNvSpPr txBox="1"/>
          <p:nvPr/>
        </p:nvSpPr>
        <p:spPr>
          <a:xfrm>
            <a:off x="-81290" y="162971"/>
            <a:ext cx="6420547" cy="64633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charset="0"/>
                <a:ea typeface="思源黑体 CN Normal" charset="-122"/>
                <a:cs typeface="Times New Roman" panose="02020603050405020304" charset="0"/>
              </a:rPr>
              <a:t>为什么需要轨迹数据预处理</a:t>
            </a:r>
            <a:endParaRPr lang="en-US" altLang="zh-CN" sz="3600" b="1" dirty="0">
              <a:solidFill>
                <a:schemeClr val="bg1"/>
              </a:solidFill>
              <a:latin typeface="Times New Roman" panose="02020603050405020304" charset="0"/>
              <a:ea typeface="思源黑体 CN Normal" charset="-122"/>
              <a:cs typeface="Times New Roman" panose="02020603050405020304" charset="0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552077" y="909035"/>
            <a:ext cx="503993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5935" y="45047"/>
            <a:ext cx="1223983" cy="1223983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6295226" y="2562274"/>
            <a:ext cx="5092700" cy="2951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背景：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由于信号干扰等原因，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 GPS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设备采集到的轨迹点位置与车辆的真实位置之间存在较大差异。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影响：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漂移点会被误识别为转向轨迹点，对后续路口识别、地图构建等任务产生不利影响。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数据分析：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漂移点的方向与其前序、后序轨迹点的方向都存在较大差异。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126971" y="1570131"/>
            <a:ext cx="2591964" cy="581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u"/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GPS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信号漂移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3335586" y="5334175"/>
            <a:ext cx="359995" cy="35999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4" name="直线箭头连接符 23"/>
          <p:cNvCxnSpPr/>
          <p:nvPr/>
        </p:nvCxnSpPr>
        <p:spPr>
          <a:xfrm flipV="1">
            <a:off x="3725886" y="5341642"/>
            <a:ext cx="215997" cy="3500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/>
        </p:nvSpPr>
        <p:spPr>
          <a:xfrm>
            <a:off x="3891286" y="5156976"/>
            <a:ext cx="1628722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漂移点</a:t>
            </a:r>
            <a:endParaRPr lang="en-US" altLang="zh-CN" sz="18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/>
          <p:nvPr/>
        </p:nvPicPr>
        <p:blipFill>
          <a:blip r:embed="rId1" r:link="rId2"/>
          <a:srcRect t="42487" b="40376"/>
          <a:stretch>
            <a:fillRect/>
          </a:stretch>
        </p:blipFill>
        <p:spPr>
          <a:xfrm>
            <a:off x="-635" y="-47625"/>
            <a:ext cx="10560573" cy="140716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矩形 6"/>
          <p:cNvSpPr/>
          <p:nvPr/>
        </p:nvSpPr>
        <p:spPr>
          <a:xfrm>
            <a:off x="1" y="-143510"/>
            <a:ext cx="10559938" cy="1503045"/>
          </a:xfrm>
          <a:prstGeom prst="rect">
            <a:avLst/>
          </a:prstGeom>
          <a:solidFill>
            <a:srgbClr val="9F3A3D">
              <a:alpha val="8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文本框 3"/>
          <p:cNvSpPr txBox="1"/>
          <p:nvPr/>
        </p:nvSpPr>
        <p:spPr>
          <a:xfrm>
            <a:off x="-81290" y="162971"/>
            <a:ext cx="6420547" cy="64633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charset="0"/>
                <a:ea typeface="思源黑体 CN Normal" charset="-122"/>
                <a:cs typeface="Times New Roman" panose="02020603050405020304" charset="0"/>
              </a:rPr>
              <a:t>为什么需要轨迹数据预处理</a:t>
            </a:r>
            <a:endParaRPr lang="en-US" altLang="zh-CN" sz="3600" b="1" dirty="0">
              <a:solidFill>
                <a:schemeClr val="bg1"/>
              </a:solidFill>
              <a:latin typeface="Times New Roman" panose="02020603050405020304" charset="0"/>
              <a:ea typeface="思源黑体 CN Normal" charset="-122"/>
              <a:cs typeface="Times New Roman" panose="02020603050405020304" charset="0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552077" y="909035"/>
            <a:ext cx="503993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5935" y="45047"/>
            <a:ext cx="1223983" cy="1223983"/>
          </a:xfrm>
          <a:prstGeom prst="rect">
            <a:avLst/>
          </a:prstGeom>
        </p:spPr>
      </p:pic>
      <p:grpSp>
        <p:nvGrpSpPr>
          <p:cNvPr id="2" name="组合 1"/>
          <p:cNvGrpSpPr>
            <a:grpSpLocks noChangeAspect="1"/>
          </p:cNvGrpSpPr>
          <p:nvPr/>
        </p:nvGrpSpPr>
        <p:grpSpPr>
          <a:xfrm>
            <a:off x="792607" y="2326108"/>
            <a:ext cx="4243093" cy="4158443"/>
            <a:chOff x="485049" y="1516358"/>
            <a:chExt cx="5092700" cy="4991100"/>
          </a:xfrm>
        </p:grpSpPr>
        <p:pic>
          <p:nvPicPr>
            <p:cNvPr id="30" name="图片 2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85049" y="1516358"/>
              <a:ext cx="5092700" cy="4991100"/>
            </a:xfrm>
            <a:prstGeom prst="rect">
              <a:avLst/>
            </a:prstGeom>
          </p:spPr>
        </p:pic>
        <p:sp>
          <p:nvSpPr>
            <p:cNvPr id="14" name="椭圆 13"/>
            <p:cNvSpPr/>
            <p:nvPr/>
          </p:nvSpPr>
          <p:spPr>
            <a:xfrm>
              <a:off x="3335586" y="5334175"/>
              <a:ext cx="359995" cy="359995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24" name="直线箭头连接符 23"/>
            <p:cNvCxnSpPr/>
            <p:nvPr/>
          </p:nvCxnSpPr>
          <p:spPr>
            <a:xfrm flipV="1">
              <a:off x="3725886" y="5341642"/>
              <a:ext cx="215997" cy="3500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文本框 28"/>
            <p:cNvSpPr txBox="1"/>
            <p:nvPr/>
          </p:nvSpPr>
          <p:spPr>
            <a:xfrm>
              <a:off x="3891286" y="5156976"/>
              <a:ext cx="1628722" cy="36933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zh-CN" altLang="en-US" sz="18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漂移点</a:t>
              </a:r>
              <a:endPara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564095" y="1585071"/>
            <a:ext cx="4209015" cy="581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u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解决方法：轨迹去噪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918250" y="2537122"/>
            <a:ext cx="6166491" cy="3261831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 defTabSz="685800" eaLnBrk="1" hangingPunct="1">
              <a:lnSpc>
                <a:spcPct val="90000"/>
              </a:lnSpc>
              <a:spcBef>
                <a:spcPts val="750"/>
              </a:spcBef>
              <a:buFont typeface="Arial" panose="020B0704020202020204" pitchFamily="34" charset="0"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059327" y="2540148"/>
            <a:ext cx="5768588" cy="8744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Step1: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计算每个轨迹点的方向：当前轨迹点与后序轨迹点连成线段的方向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059327" y="4066634"/>
            <a:ext cx="5768588" cy="8744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Step2: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定位方向与其前后序轨迹点方向都存在较大差异的漂移轨迹点，删除该点并连接其前后序轨迹点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/>
              <p:cNvSpPr txBox="1"/>
              <p:nvPr/>
            </p:nvSpPr>
            <p:spPr>
              <a:xfrm>
                <a:off x="6090285" y="1602105"/>
                <a:ext cx="5993765" cy="5067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charset="0"/>
                  </a:rPr>
                  <a:t>Input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charset="0"/>
                  </a:rPr>
                  <a:t>：单条轨迹数据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charset="0"/>
                      </a:rPr>
                      <m:t>tr</m:t>
                    </m:r>
                    <m:r>
                      <a:rPr lang="en-US" altLang="zh-CN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charset="0"/>
                      </a:rPr>
                      <m:t>=</m:t>
                    </m:r>
                    <m:r>
                      <a:rPr lang="en-US" altLang="zh-CN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charset="0"/>
                      </a:rPr>
                      <m:t>{</m:t>
                    </m:r>
                    <m:sSub>
                      <m:sSub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(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0</m:t>
                        </m:r>
                      </m:sub>
                    </m:sSub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charset="0"/>
                      </a:rPr>
                      <m:t>, </m:t>
                    </m:r>
                    <m:sSub>
                      <m:sSub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𝑡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0</m:t>
                        </m:r>
                      </m:sub>
                    </m:sSub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charset="0"/>
                      </a:rPr>
                      <m:t>),</m:t>
                    </m:r>
                    <m:sSub>
                      <m:sSubPr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(</m:t>
                        </m:r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charset="0"/>
                      </a:rPr>
                      <m:t>, </m:t>
                    </m:r>
                    <m:sSub>
                      <m:sSubPr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𝑡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charset="0"/>
                      </a:rPr>
                      <m:t>),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charset="0"/>
                      </a:rPr>
                      <m:t>…,</m:t>
                    </m:r>
                    <m:sSub>
                      <m:sSubPr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(</m:t>
                        </m:r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𝑛</m:t>
                        </m:r>
                      </m:sub>
                    </m:sSub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charset="0"/>
                      </a:rPr>
                      <m:t>, </m:t>
                    </m:r>
                    <m:sSub>
                      <m:sSubPr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𝑡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𝑛</m:t>
                        </m:r>
                      </m:sub>
                    </m:sSub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charset="0"/>
                      </a:rPr>
                      <m:t>)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charset="0"/>
                      </a:rPr>
                      <m:t>}</m:t>
                    </m:r>
                  </m:oMath>
                </a14:m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charset="0"/>
                </a:endParaRPr>
              </a:p>
            </p:txBody>
          </p:sp>
        </mc:Choice>
        <mc:Fallback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0285" y="1602105"/>
                <a:ext cx="5993765" cy="506730"/>
              </a:xfrm>
              <a:prstGeom prst="rect">
                <a:avLst/>
              </a:prstGeom>
              <a:blipFill rotWithShape="1">
                <a:blip r:embed="rId5"/>
                <a:stretch>
                  <a:fillRect b="-41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文本框 18"/>
              <p:cNvSpPr txBox="1"/>
              <p:nvPr/>
            </p:nvSpPr>
            <p:spPr>
              <a:xfrm>
                <a:off x="5867176" y="4997607"/>
                <a:ext cx="6492735" cy="3722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charset="0"/>
                            </a:rPr>
                          </m:ctrlPr>
                        </m:sSubPr>
                        <m:e>
                          <m:r>
                            <a:rPr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m:t>的</m:t>
                      </m:r>
                      <m:r>
                        <a:rPr lang="zh-CN" altLang="en-US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m:t>方向</m:t>
                      </m:r>
                      <m:r>
                        <a:rPr lang="zh-CN" alt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m:t>与</m:t>
                      </m:r>
                      <m:sSub>
                        <m:sSubPr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charset="0"/>
                            </a:rPr>
                          </m:ctrlPr>
                        </m:sSubPr>
                        <m:e>
                          <m:r>
                            <a:rPr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m:t>、</m:t>
                      </m:r>
                      <m:sSub>
                        <m:sSubPr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charset="0"/>
                            </a:rPr>
                            <m:t>3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m:t>的</m:t>
                      </m:r>
                      <m:r>
                        <a:rPr lang="zh-CN" altLang="en-US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m:t>方向</m:t>
                      </m:r>
                      <m:r>
                        <a:rPr lang="zh-CN" alt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m:t>差异</m:t>
                      </m:r>
                      <m:r>
                        <a:rPr lang="zh-CN" altLang="en-US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m:t>均</m:t>
                      </m:r>
                      <m:r>
                        <a:rPr lang="zh-CN" alt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m:t>大于</m:t>
                      </m:r>
                      <m:r>
                        <a:rPr lang="zh-CN" altLang="en-US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m:t>一定</m:t>
                      </m:r>
                      <m:r>
                        <a:rPr lang="zh-CN" alt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m:t>阈值</m:t>
                      </m:r>
                      <m:r>
                        <a:rPr lang="zh-CN" alt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m:t>，</m:t>
                      </m:r>
                      <m:r>
                        <a:rPr lang="zh-CN" alt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m:t>删除</m:t>
                      </m:r>
                      <m:sSub>
                        <m:sSubPr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charset="0"/>
                            </a:rPr>
                          </m:ctrlPr>
                        </m:sSubPr>
                        <m:e>
                          <m:r>
                            <a:rPr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CN" b="0" i="1" dirty="0">
                  <a:solidFill>
                    <a:srgbClr val="FF0000"/>
                  </a:solidFill>
                  <a:ea typeface="微软雅黑" panose="020B0503020204020204" pitchFamily="34" charset="-122"/>
                  <a:cs typeface="Times New Roman" panose="02020603050405020304" charset="0"/>
                </a:endParaRPr>
              </a:p>
            </p:txBody>
          </p:sp>
        </mc:Choice>
        <mc:Fallback>
          <p:sp>
            <p:nvSpPr>
              <p:cNvPr id="19" name="文本框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7176" y="4997607"/>
                <a:ext cx="6492735" cy="372281"/>
              </a:xfrm>
              <a:prstGeom prst="rect">
                <a:avLst/>
              </a:prstGeom>
              <a:blipFill rotWithShape="1">
                <a:blip r:embed="rId6"/>
                <a:stretch>
                  <a:fillRect l="-6" t="-42" r="4" b="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右箭头 19"/>
          <p:cNvSpPr/>
          <p:nvPr/>
        </p:nvSpPr>
        <p:spPr>
          <a:xfrm rot="5400000">
            <a:off x="8880011" y="2106950"/>
            <a:ext cx="255933" cy="373761"/>
          </a:xfrm>
          <a:prstGeom prst="rightArrow">
            <a:avLst/>
          </a:prstGeom>
          <a:solidFill>
            <a:srgbClr val="FF8300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687705" rtl="0" eaLnBrk="1" latinLnBrk="0" hangingPunct="1">
              <a:defRPr sz="135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44170" algn="l" defTabSz="687705" rtl="0" eaLnBrk="1" latinLnBrk="0" hangingPunct="1">
              <a:defRPr sz="135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687705" algn="l" defTabSz="687705" rtl="0" eaLnBrk="1" latinLnBrk="0" hangingPunct="1">
              <a:defRPr sz="135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31875" algn="l" defTabSz="687705" rtl="0" eaLnBrk="1" latinLnBrk="0" hangingPunct="1">
              <a:defRPr sz="135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375410" algn="l" defTabSz="687705" rtl="0" eaLnBrk="1" latinLnBrk="0" hangingPunct="1">
              <a:defRPr sz="135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719580" algn="l" defTabSz="687705" rtl="0" eaLnBrk="1" latinLnBrk="0" hangingPunct="1">
              <a:defRPr sz="135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063115" algn="l" defTabSz="687705" rtl="0" eaLnBrk="1" latinLnBrk="0" hangingPunct="1">
              <a:defRPr sz="135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407285" algn="l" defTabSz="687705" rtl="0" eaLnBrk="1" latinLnBrk="0" hangingPunct="1">
              <a:defRPr sz="135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750820" algn="l" defTabSz="687705" rtl="0" eaLnBrk="1" latinLnBrk="0" hangingPunct="1">
              <a:defRPr sz="135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1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右箭头 20"/>
          <p:cNvSpPr/>
          <p:nvPr/>
        </p:nvSpPr>
        <p:spPr>
          <a:xfrm rot="5400000">
            <a:off x="8872154" y="5848463"/>
            <a:ext cx="255933" cy="373761"/>
          </a:xfrm>
          <a:prstGeom prst="rightArrow">
            <a:avLst/>
          </a:prstGeom>
          <a:solidFill>
            <a:srgbClr val="FF8300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687705" rtl="0" eaLnBrk="1" latinLnBrk="0" hangingPunct="1">
              <a:defRPr sz="135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44170" algn="l" defTabSz="687705" rtl="0" eaLnBrk="1" latinLnBrk="0" hangingPunct="1">
              <a:defRPr sz="135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687705" algn="l" defTabSz="687705" rtl="0" eaLnBrk="1" latinLnBrk="0" hangingPunct="1">
              <a:defRPr sz="135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31875" algn="l" defTabSz="687705" rtl="0" eaLnBrk="1" latinLnBrk="0" hangingPunct="1">
              <a:defRPr sz="135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375410" algn="l" defTabSz="687705" rtl="0" eaLnBrk="1" latinLnBrk="0" hangingPunct="1">
              <a:defRPr sz="135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719580" algn="l" defTabSz="687705" rtl="0" eaLnBrk="1" latinLnBrk="0" hangingPunct="1">
              <a:defRPr sz="135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063115" algn="l" defTabSz="687705" rtl="0" eaLnBrk="1" latinLnBrk="0" hangingPunct="1">
              <a:defRPr sz="135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407285" algn="l" defTabSz="687705" rtl="0" eaLnBrk="1" latinLnBrk="0" hangingPunct="1">
              <a:defRPr sz="135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750820" algn="l" defTabSz="687705" rtl="0" eaLnBrk="1" latinLnBrk="0" hangingPunct="1">
              <a:defRPr sz="135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1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文本框 21"/>
              <p:cNvSpPr txBox="1"/>
              <p:nvPr/>
            </p:nvSpPr>
            <p:spPr>
              <a:xfrm>
                <a:off x="6223010" y="6199563"/>
                <a:ext cx="6166491" cy="4589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charset="0"/>
                  </a:rPr>
                  <a:t>Output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charset="0"/>
                  </a:rPr>
                  <a:t>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charset="0"/>
                      </a:rPr>
                      <m:t>tr</m:t>
                    </m:r>
                    <m:r>
                      <a:rPr lang="en-US" altLang="zh-CN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charset="0"/>
                      </a:rPr>
                      <m:t>=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charset="0"/>
                      </a:rPr>
                      <m:t>{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𝑝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0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charset="0"/>
                      </a:rPr>
                      <m:t>, 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𝑡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0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charset="0"/>
                      </a:rPr>
                      <m:t>),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𝑝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charset="0"/>
                      </a:rPr>
                      <m:t>, 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𝑡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charset="0"/>
                      </a:rPr>
                      <m:t>),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3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charset="0"/>
                      </a:rPr>
                      <m:t>, 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𝑡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3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charset="0"/>
                      </a:rPr>
                      <m:t>),…,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𝑝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𝑛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charset="0"/>
                      </a:rPr>
                      <m:t>, 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𝑡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𝑛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charset="0"/>
                      </a:rPr>
                      <m:t>)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charset="0"/>
                      </a:rPr>
                      <m:t>}</m:t>
                    </m:r>
                  </m:oMath>
                </a14:m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charset="0"/>
                </a:endParaRPr>
              </a:p>
            </p:txBody>
          </p:sp>
        </mc:Choice>
        <mc:Fallback>
          <p:sp>
            <p:nvSpPr>
              <p:cNvPr id="22" name="文本框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3010" y="6199563"/>
                <a:ext cx="6166491" cy="458908"/>
              </a:xfrm>
              <a:prstGeom prst="rect">
                <a:avLst/>
              </a:prstGeom>
              <a:blipFill rotWithShape="1">
                <a:blip r:embed="rId7"/>
                <a:stretch>
                  <a:fillRect t="-13" b="-149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文本框 22"/>
              <p:cNvSpPr txBox="1"/>
              <p:nvPr/>
            </p:nvSpPr>
            <p:spPr>
              <a:xfrm>
                <a:off x="1848059" y="5978644"/>
                <a:ext cx="4770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kumimoji="1" lang="en-US" altLang="zh-CN" b="0" dirty="0"/>
              </a:p>
            </p:txBody>
          </p:sp>
        </mc:Choice>
        <mc:Fallback>
          <p:sp>
            <p:nvSpPr>
              <p:cNvPr id="23" name="文本框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8059" y="5978644"/>
                <a:ext cx="477054" cy="369332"/>
              </a:xfrm>
              <a:prstGeom prst="rect">
                <a:avLst/>
              </a:prstGeom>
              <a:blipFill rotWithShape="1">
                <a:blip r:embed="rId8"/>
                <a:stretch>
                  <a:fillRect l="-44" t="-32" r="79" b="1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文本框 24"/>
              <p:cNvSpPr txBox="1"/>
              <p:nvPr/>
            </p:nvSpPr>
            <p:spPr>
              <a:xfrm>
                <a:off x="2335924" y="5359368"/>
                <a:ext cx="4717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en-US" altLang="zh-CN" b="0" dirty="0"/>
              </a:p>
            </p:txBody>
          </p:sp>
        </mc:Choice>
        <mc:Fallback>
          <p:sp>
            <p:nvSpPr>
              <p:cNvPr id="25" name="文本框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5924" y="5359368"/>
                <a:ext cx="471732" cy="369332"/>
              </a:xfrm>
              <a:prstGeom prst="rect">
                <a:avLst/>
              </a:prstGeom>
              <a:blipFill rotWithShape="1">
                <a:blip r:embed="rId9"/>
                <a:stretch>
                  <a:fillRect l="-84" t="-163" r="68" b="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文本框 25"/>
              <p:cNvSpPr txBox="1"/>
              <p:nvPr/>
            </p:nvSpPr>
            <p:spPr>
              <a:xfrm>
                <a:off x="3369472" y="5636277"/>
                <a:ext cx="4770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en-US" altLang="zh-CN" b="0" dirty="0"/>
              </a:p>
            </p:txBody>
          </p:sp>
        </mc:Choice>
        <mc:Fallback>
          <p:sp>
            <p:nvSpPr>
              <p:cNvPr id="26" name="文本框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9472" y="5636277"/>
                <a:ext cx="477054" cy="369332"/>
              </a:xfrm>
              <a:prstGeom prst="rect">
                <a:avLst/>
              </a:prstGeom>
              <a:blipFill rotWithShape="1">
                <a:blip r:embed="rId10"/>
                <a:stretch>
                  <a:fillRect l="-34" t="-5" r="69" b="1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文本框 26"/>
              <p:cNvSpPr txBox="1"/>
              <p:nvPr/>
            </p:nvSpPr>
            <p:spPr>
              <a:xfrm>
                <a:off x="2760608" y="4654387"/>
                <a:ext cx="4770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en-US" altLang="zh-CN" b="0" dirty="0"/>
              </a:p>
            </p:txBody>
          </p:sp>
        </mc:Choice>
        <mc:Fallback>
          <p:sp>
            <p:nvSpPr>
              <p:cNvPr id="27" name="文本框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0608" y="4654387"/>
                <a:ext cx="477054" cy="369332"/>
              </a:xfrm>
              <a:prstGeom prst="rect">
                <a:avLst/>
              </a:prstGeom>
              <a:blipFill rotWithShape="1">
                <a:blip r:embed="rId11"/>
                <a:stretch>
                  <a:fillRect l="-55" t="-128" r="91" b="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文本框 27"/>
              <p:cNvSpPr txBox="1"/>
              <p:nvPr/>
            </p:nvSpPr>
            <p:spPr>
              <a:xfrm>
                <a:off x="3492780" y="4405329"/>
                <a:ext cx="47532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kumimoji="1" lang="en-US" altLang="zh-CN" b="0" dirty="0"/>
              </a:p>
            </p:txBody>
          </p:sp>
        </mc:Choice>
        <mc:Fallback>
          <p:sp>
            <p:nvSpPr>
              <p:cNvPr id="28" name="文本框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2780" y="4405329"/>
                <a:ext cx="475323" cy="369332"/>
              </a:xfrm>
              <a:prstGeom prst="rect">
                <a:avLst/>
              </a:prstGeom>
              <a:blipFill rotWithShape="1">
                <a:blip r:embed="rId12"/>
                <a:stretch>
                  <a:fillRect l="-59" t="-90" r="131" b="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文本框 30"/>
              <p:cNvSpPr txBox="1"/>
              <p:nvPr/>
            </p:nvSpPr>
            <p:spPr>
              <a:xfrm>
                <a:off x="3730441" y="3934805"/>
                <a:ext cx="4770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kumimoji="1" lang="en-US" altLang="zh-CN" b="0" dirty="0"/>
              </a:p>
            </p:txBody>
          </p:sp>
        </mc:Choice>
        <mc:Fallback>
          <p:sp>
            <p:nvSpPr>
              <p:cNvPr id="31" name="文本框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0441" y="3934805"/>
                <a:ext cx="477054" cy="369332"/>
              </a:xfrm>
              <a:prstGeom prst="rect">
                <a:avLst/>
              </a:prstGeom>
              <a:blipFill rotWithShape="1">
                <a:blip r:embed="rId13"/>
                <a:stretch>
                  <a:fillRect l="-95" t="-93" r="130" b="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文本框 31"/>
              <p:cNvSpPr txBox="1"/>
              <p:nvPr/>
            </p:nvSpPr>
            <p:spPr>
              <a:xfrm>
                <a:off x="4070562" y="3405493"/>
                <a:ext cx="4770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kumimoji="1" lang="en-US" altLang="zh-CN" b="0" dirty="0"/>
              </a:p>
            </p:txBody>
          </p:sp>
        </mc:Choice>
        <mc:Fallback>
          <p:sp>
            <p:nvSpPr>
              <p:cNvPr id="32" name="文本框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0562" y="3405493"/>
                <a:ext cx="477054" cy="369332"/>
              </a:xfrm>
              <a:prstGeom prst="rect">
                <a:avLst/>
              </a:prstGeom>
              <a:blipFill rotWithShape="1">
                <a:blip r:embed="rId14"/>
                <a:stretch>
                  <a:fillRect l="-44" t="-169" r="80" b="1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文本框 18"/>
              <p:cNvSpPr txBox="1"/>
              <p:nvPr/>
            </p:nvSpPr>
            <p:spPr>
              <a:xfrm>
                <a:off x="7141428" y="3572998"/>
                <a:ext cx="4091146" cy="3704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b="0" i="0" u="none" kern="1200" baseline="0">
                    <a:solidFill>
                      <a:schemeClr val="tx1"/>
                    </a:solidFill>
                    <a:latin typeface="Arial" panose="020B0704020202020204" pitchFamily="34" charset="0"/>
                    <a:ea typeface="宋体" pitchFamily="2" charset="-122"/>
                    <a:cs typeface="+mn-cs"/>
                  </a:defRPr>
                </a:lvl1pPr>
                <a:lvl2pPr marL="457200" lvl="1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b="0" i="0" u="none" kern="1200" baseline="0">
                    <a:solidFill>
                      <a:schemeClr val="tx1"/>
                    </a:solidFill>
                    <a:latin typeface="Arial" panose="020B0704020202020204" pitchFamily="34" charset="0"/>
                    <a:ea typeface="宋体" pitchFamily="2" charset="-122"/>
                    <a:cs typeface="+mn-cs"/>
                  </a:defRPr>
                </a:lvl2pPr>
                <a:lvl3pPr marL="914400" lvl="2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b="0" i="0" u="none" kern="1200" baseline="0">
                    <a:solidFill>
                      <a:schemeClr val="tx1"/>
                    </a:solidFill>
                    <a:latin typeface="Arial" panose="020B0704020202020204" pitchFamily="34" charset="0"/>
                    <a:ea typeface="宋体" pitchFamily="2" charset="-122"/>
                    <a:cs typeface="+mn-cs"/>
                  </a:defRPr>
                </a:lvl3pPr>
                <a:lvl4pPr marL="1371600" lvl="3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b="0" i="0" u="none" kern="1200" baseline="0">
                    <a:solidFill>
                      <a:schemeClr val="tx1"/>
                    </a:solidFill>
                    <a:latin typeface="Arial" panose="020B0704020202020204" pitchFamily="34" charset="0"/>
                    <a:ea typeface="宋体" pitchFamily="2" charset="-122"/>
                    <a:cs typeface="+mn-cs"/>
                  </a:defRPr>
                </a:lvl4pPr>
                <a:lvl5pPr marL="1828800" lvl="4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b="0" i="0" u="none" kern="1200" baseline="0">
                    <a:solidFill>
                      <a:schemeClr val="tx1"/>
                    </a:solidFill>
                    <a:latin typeface="Arial" panose="020B0704020202020204" pitchFamily="34" charset="0"/>
                    <a:ea typeface="宋体" pitchFamily="2" charset="-122"/>
                    <a:cs typeface="+mn-cs"/>
                  </a:defRPr>
                </a:lvl5pPr>
                <a:lvl6pPr marL="2286000" lvl="5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b="0" i="0" u="none" kern="1200" baseline="0">
                    <a:solidFill>
                      <a:schemeClr val="tx1"/>
                    </a:solidFill>
                    <a:latin typeface="Arial" panose="020B0704020202020204" pitchFamily="34" charset="0"/>
                    <a:ea typeface="宋体" pitchFamily="2" charset="-122"/>
                    <a:cs typeface="+mn-cs"/>
                  </a:defRPr>
                </a:lvl6pPr>
                <a:lvl7pPr marL="2743200" lvl="6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b="0" i="0" u="none" kern="1200" baseline="0">
                    <a:solidFill>
                      <a:schemeClr val="tx1"/>
                    </a:solidFill>
                    <a:latin typeface="Arial" panose="020B0704020202020204" pitchFamily="34" charset="0"/>
                    <a:ea typeface="宋体" pitchFamily="2" charset="-122"/>
                    <a:cs typeface="+mn-cs"/>
                  </a:defRPr>
                </a:lvl7pPr>
                <a:lvl8pPr marL="3200400" lvl="7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b="0" i="0" u="none" kern="1200" baseline="0">
                    <a:solidFill>
                      <a:schemeClr val="tx1"/>
                    </a:solidFill>
                    <a:latin typeface="Arial" panose="020B0704020202020204" pitchFamily="34" charset="0"/>
                    <a:ea typeface="宋体" pitchFamily="2" charset="-122"/>
                    <a:cs typeface="+mn-cs"/>
                  </a:defRPr>
                </a:lvl8pPr>
                <a:lvl9pPr marL="3657600" lvl="8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b="0" i="0" u="none" kern="1200" baseline="0">
                    <a:solidFill>
                      <a:schemeClr val="tx1"/>
                    </a:solidFill>
                    <a:latin typeface="Arial" panose="020B0704020202020204" pitchFamily="34" charset="0"/>
                    <a:ea typeface="宋体" pitchFamily="2" charset="-122"/>
                    <a:cs typeface="+mn-cs"/>
                  </a:defRPr>
                </a:lvl9pPr>
              </a:lstStyle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charset="0"/>
                            </a:rPr>
                          </m:ctrlPr>
                        </m:sSubPr>
                        <m:e>
                          <m:r>
                            <a:rPr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charset="0"/>
                            </a:rPr>
                            <m:t>3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m:t>的</m:t>
                      </m:r>
                      <m:r>
                        <a:rPr lang="zh-CN" altLang="en-US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m:t>方向</m:t>
                      </m:r>
                      <m:r>
                        <a:rPr lang="zh-CN" alt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m:t>为</m:t>
                      </m:r>
                      <m:r>
                        <a:rPr lang="zh-CN" altLang="en-US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m:t>线段</m:t>
                      </m:r>
                      <m:sSub>
                        <m:sSubPr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m:t>→</m:t>
                      </m:r>
                      <m:sSub>
                        <m:sSubPr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charset="0"/>
                            </a:rPr>
                            <m:t>4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m:t>的</m:t>
                      </m:r>
                      <m:r>
                        <a:rPr lang="zh-CN" altLang="en-US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m:t>方向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35" name="文本框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1428" y="3572998"/>
                <a:ext cx="4091146" cy="370486"/>
              </a:xfrm>
              <a:prstGeom prst="rect">
                <a:avLst/>
              </a:prstGeom>
              <a:blipFill rotWithShape="1">
                <a:blip r:embed="rId15"/>
                <a:stretch>
                  <a:fillRect l="-5" t="-132" r="1" b="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文本框 35"/>
              <p:cNvSpPr txBox="1"/>
              <p:nvPr/>
            </p:nvSpPr>
            <p:spPr>
              <a:xfrm>
                <a:off x="7931094" y="5356419"/>
                <a:ext cx="2364901" cy="3722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m:t>并</m:t>
                      </m:r>
                      <m:r>
                        <a:rPr lang="zh-CN" alt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m:t>连接</m:t>
                      </m:r>
                      <m:sSub>
                        <m:sSubPr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charset="0"/>
                            </a:rPr>
                          </m:ctrlPr>
                        </m:sSubPr>
                        <m:e>
                          <m:r>
                            <a:rPr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m:t>、</m:t>
                      </m:r>
                      <m:sSub>
                        <m:sSubPr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altLang="zh-CN" b="0" i="1" dirty="0">
                  <a:solidFill>
                    <a:srgbClr val="FF0000"/>
                  </a:solidFill>
                  <a:ea typeface="微软雅黑" panose="020B0503020204020204" pitchFamily="34" charset="-122"/>
                  <a:cs typeface="Times New Roman" panose="02020603050405020304" charset="0"/>
                </a:endParaRPr>
              </a:p>
            </p:txBody>
          </p:sp>
        </mc:Choice>
        <mc:Fallback>
          <p:sp>
            <p:nvSpPr>
              <p:cNvPr id="36" name="文本框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1094" y="5356419"/>
                <a:ext cx="2364901" cy="372281"/>
              </a:xfrm>
              <a:prstGeom prst="rect">
                <a:avLst/>
              </a:prstGeom>
              <a:blipFill rotWithShape="1">
                <a:blip r:embed="rId16"/>
                <a:stretch>
                  <a:fillRect l="-24" t="-52" r="4" b="-50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slow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/>
          <p:nvPr/>
        </p:nvPicPr>
        <p:blipFill>
          <a:blip r:embed="rId1" r:link="rId2"/>
          <a:srcRect t="42487" b="40376"/>
          <a:stretch>
            <a:fillRect/>
          </a:stretch>
        </p:blipFill>
        <p:spPr>
          <a:xfrm>
            <a:off x="-635" y="-47625"/>
            <a:ext cx="10560573" cy="140716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矩形 6"/>
          <p:cNvSpPr/>
          <p:nvPr/>
        </p:nvSpPr>
        <p:spPr>
          <a:xfrm>
            <a:off x="1" y="-143510"/>
            <a:ext cx="10559938" cy="1503045"/>
          </a:xfrm>
          <a:prstGeom prst="rect">
            <a:avLst/>
          </a:prstGeom>
          <a:solidFill>
            <a:srgbClr val="9F3A3D">
              <a:alpha val="8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文本框 3"/>
          <p:cNvSpPr txBox="1"/>
          <p:nvPr/>
        </p:nvSpPr>
        <p:spPr>
          <a:xfrm>
            <a:off x="-81290" y="162971"/>
            <a:ext cx="6420547" cy="64633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charset="0"/>
                <a:ea typeface="思源黑体 CN Normal" charset="-122"/>
                <a:cs typeface="Times New Roman" panose="02020603050405020304" charset="0"/>
              </a:rPr>
              <a:t>为什么需要轨迹数据预处理</a:t>
            </a:r>
            <a:endParaRPr lang="en-US" altLang="zh-CN" sz="3600" b="1" dirty="0">
              <a:solidFill>
                <a:schemeClr val="bg1"/>
              </a:solidFill>
              <a:latin typeface="Times New Roman" panose="02020603050405020304" charset="0"/>
              <a:ea typeface="思源黑体 CN Normal" charset="-122"/>
              <a:cs typeface="Times New Roman" panose="02020603050405020304" charset="0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552077" y="909035"/>
            <a:ext cx="503993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5935" y="45047"/>
            <a:ext cx="1223983" cy="1223983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5952002" y="2452289"/>
            <a:ext cx="5917197" cy="2951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背景：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全国网与车在每小时都会产生大量的轨迹点数据，同时由于交通拥堵，同一车辆在局部区域会产生大量轨迹点。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影响：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基于轨迹数据的相关任务效率低下，且精度降低。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解决思路：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若删除当前轨迹点对整条轨迹的形态会产生较大影响，则将当前轨迹点视为关键点予以保留。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126970" y="1570131"/>
            <a:ext cx="4936961" cy="581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u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轨迹点数量过多且存在冗余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9824" y="2151188"/>
            <a:ext cx="3644900" cy="3644900"/>
          </a:xfrm>
          <a:prstGeom prst="rect">
            <a:avLst/>
          </a:prstGeom>
        </p:spPr>
      </p:pic>
      <p:sp>
        <p:nvSpPr>
          <p:cNvPr id="3" name="椭圆 2"/>
          <p:cNvSpPr/>
          <p:nvPr/>
        </p:nvSpPr>
        <p:spPr>
          <a:xfrm>
            <a:off x="2183602" y="4508985"/>
            <a:ext cx="672443" cy="60919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4" name="直线箭头连接符 3"/>
          <p:cNvCxnSpPr/>
          <p:nvPr/>
        </p:nvCxnSpPr>
        <p:spPr>
          <a:xfrm>
            <a:off x="2962274" y="4988066"/>
            <a:ext cx="109768" cy="12288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2591657" y="5132898"/>
            <a:ext cx="2755524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局部区域内一周时间收集了接近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万个轨迹点</a:t>
            </a:r>
            <a:endParaRPr lang="en-US" altLang="zh-CN" sz="18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/>
          <p:nvPr/>
        </p:nvPicPr>
        <p:blipFill>
          <a:blip r:embed="rId1" r:link="rId2"/>
          <a:srcRect t="42487" b="40376"/>
          <a:stretch>
            <a:fillRect/>
          </a:stretch>
        </p:blipFill>
        <p:spPr>
          <a:xfrm>
            <a:off x="-635" y="-47625"/>
            <a:ext cx="10560573" cy="140716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矩形 6"/>
          <p:cNvSpPr/>
          <p:nvPr/>
        </p:nvSpPr>
        <p:spPr>
          <a:xfrm>
            <a:off x="1" y="-143510"/>
            <a:ext cx="10559938" cy="1503045"/>
          </a:xfrm>
          <a:prstGeom prst="rect">
            <a:avLst/>
          </a:prstGeom>
          <a:solidFill>
            <a:srgbClr val="9F3A3D">
              <a:alpha val="8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文本框 3"/>
          <p:cNvSpPr txBox="1"/>
          <p:nvPr/>
        </p:nvSpPr>
        <p:spPr>
          <a:xfrm>
            <a:off x="-81290" y="162971"/>
            <a:ext cx="6420547" cy="64633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charset="0"/>
                <a:ea typeface="思源黑体 CN Normal" charset="-122"/>
                <a:cs typeface="Times New Roman" panose="02020603050405020304" charset="0"/>
              </a:rPr>
              <a:t>为什么需要轨迹数据预处理</a:t>
            </a:r>
            <a:endParaRPr lang="en-US" altLang="zh-CN" sz="3600" b="1" dirty="0">
              <a:solidFill>
                <a:schemeClr val="bg1"/>
              </a:solidFill>
              <a:latin typeface="Times New Roman" panose="02020603050405020304" charset="0"/>
              <a:ea typeface="思源黑体 CN Normal" charset="-122"/>
              <a:cs typeface="Times New Roman" panose="02020603050405020304" charset="0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552077" y="909035"/>
            <a:ext cx="503993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5935" y="45047"/>
            <a:ext cx="1223983" cy="1223983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64095" y="1585071"/>
            <a:ext cx="4209015" cy="581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u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解决方法：轨迹压缩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918250" y="2537122"/>
            <a:ext cx="6166491" cy="3261831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 defTabSz="685800" eaLnBrk="1" hangingPunct="1">
              <a:lnSpc>
                <a:spcPct val="90000"/>
              </a:lnSpc>
              <a:spcBef>
                <a:spcPts val="750"/>
              </a:spcBef>
              <a:buFont typeface="Arial" panose="020B0704020202020204" pitchFamily="34" charset="0"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059327" y="2540148"/>
            <a:ext cx="5768588" cy="8744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Step1: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找到轨迹中离起终点连成线段最远的轨迹点，计算该点到起终点连成线段的距离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059327" y="3850575"/>
            <a:ext cx="6025414" cy="12899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Step2: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若该距离大于一定阈值，则说明该点是轨迹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tr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中的形态关键点，应当保留，将轨迹按该点分割为两条子轨迹，反之则仅保留两个端点，删除其他轨迹点。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/>
              <p:cNvSpPr txBox="1"/>
              <p:nvPr/>
            </p:nvSpPr>
            <p:spPr>
              <a:xfrm>
                <a:off x="6089987" y="1602111"/>
                <a:ext cx="5768588" cy="4589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charset="0"/>
                  </a:rPr>
                  <a:t>Input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charset="0"/>
                  </a:rPr>
                  <a:t>：单条轨迹数据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charset="0"/>
                      </a:rPr>
                      <m:t>tr</m:t>
                    </m:r>
                    <m:r>
                      <a:rPr lang="en-US" altLang="zh-CN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charset="0"/>
                      </a:rPr>
                      <m:t>=</m:t>
                    </m:r>
                    <m:r>
                      <a:rPr lang="en-US" altLang="zh-CN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charset="0"/>
                      </a:rPr>
                      <m:t>{</m:t>
                    </m:r>
                    <m:sSub>
                      <m:sSub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(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0</m:t>
                        </m:r>
                      </m:sub>
                    </m:sSub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charset="0"/>
                      </a:rPr>
                      <m:t>, </m:t>
                    </m:r>
                    <m:sSub>
                      <m:sSub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𝑡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0</m:t>
                        </m:r>
                      </m:sub>
                    </m:sSub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charset="0"/>
                      </a:rPr>
                      <m:t>),</m:t>
                    </m:r>
                    <m:sSub>
                      <m:sSubPr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(</m:t>
                        </m:r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charset="0"/>
                      </a:rPr>
                      <m:t>, </m:t>
                    </m:r>
                    <m:sSub>
                      <m:sSubPr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𝑡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charset="0"/>
                      </a:rPr>
                      <m:t>),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charset="0"/>
                      </a:rPr>
                      <m:t>…,</m:t>
                    </m:r>
                    <m:sSub>
                      <m:sSubPr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(</m:t>
                        </m:r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5</m:t>
                        </m:r>
                      </m:sub>
                    </m:sSub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charset="0"/>
                      </a:rPr>
                      <m:t>, </m:t>
                    </m:r>
                    <m:sSub>
                      <m:sSubPr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𝑡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5</m:t>
                        </m:r>
                      </m:sub>
                    </m:sSub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charset="0"/>
                      </a:rPr>
                      <m:t>)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charset="0"/>
                      </a:rPr>
                      <m:t>}</m:t>
                    </m:r>
                  </m:oMath>
                </a14:m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charset="0"/>
                </a:endParaRPr>
              </a:p>
            </p:txBody>
          </p:sp>
        </mc:Choice>
        <mc:Fallback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9987" y="1602111"/>
                <a:ext cx="5768588" cy="458908"/>
              </a:xfrm>
              <a:prstGeom prst="rect">
                <a:avLst/>
              </a:prstGeom>
              <a:blipFill rotWithShape="1">
                <a:blip r:embed="rId4"/>
                <a:stretch>
                  <a:fillRect l="-6" t="-1" r="10" b="-149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右箭头 19"/>
          <p:cNvSpPr/>
          <p:nvPr/>
        </p:nvSpPr>
        <p:spPr>
          <a:xfrm rot="5400000">
            <a:off x="8880011" y="2106950"/>
            <a:ext cx="255933" cy="373761"/>
          </a:xfrm>
          <a:prstGeom prst="rightArrow">
            <a:avLst/>
          </a:prstGeom>
          <a:solidFill>
            <a:srgbClr val="FF8300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687705" rtl="0" eaLnBrk="1" latinLnBrk="0" hangingPunct="1">
              <a:defRPr sz="135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44170" algn="l" defTabSz="687705" rtl="0" eaLnBrk="1" latinLnBrk="0" hangingPunct="1">
              <a:defRPr sz="135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687705" algn="l" defTabSz="687705" rtl="0" eaLnBrk="1" latinLnBrk="0" hangingPunct="1">
              <a:defRPr sz="135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31875" algn="l" defTabSz="687705" rtl="0" eaLnBrk="1" latinLnBrk="0" hangingPunct="1">
              <a:defRPr sz="135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375410" algn="l" defTabSz="687705" rtl="0" eaLnBrk="1" latinLnBrk="0" hangingPunct="1">
              <a:defRPr sz="135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719580" algn="l" defTabSz="687705" rtl="0" eaLnBrk="1" latinLnBrk="0" hangingPunct="1">
              <a:defRPr sz="135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063115" algn="l" defTabSz="687705" rtl="0" eaLnBrk="1" latinLnBrk="0" hangingPunct="1">
              <a:defRPr sz="135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407285" algn="l" defTabSz="687705" rtl="0" eaLnBrk="1" latinLnBrk="0" hangingPunct="1">
              <a:defRPr sz="135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750820" algn="l" defTabSz="687705" rtl="0" eaLnBrk="1" latinLnBrk="0" hangingPunct="1">
              <a:defRPr sz="135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1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右箭头 20"/>
          <p:cNvSpPr/>
          <p:nvPr/>
        </p:nvSpPr>
        <p:spPr>
          <a:xfrm rot="5400000">
            <a:off x="8872154" y="5848463"/>
            <a:ext cx="255933" cy="373761"/>
          </a:xfrm>
          <a:prstGeom prst="rightArrow">
            <a:avLst/>
          </a:prstGeom>
          <a:solidFill>
            <a:srgbClr val="FF8300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687705" rtl="0" eaLnBrk="1" latinLnBrk="0" hangingPunct="1">
              <a:defRPr sz="135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44170" algn="l" defTabSz="687705" rtl="0" eaLnBrk="1" latinLnBrk="0" hangingPunct="1">
              <a:defRPr sz="135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687705" algn="l" defTabSz="687705" rtl="0" eaLnBrk="1" latinLnBrk="0" hangingPunct="1">
              <a:defRPr sz="135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31875" algn="l" defTabSz="687705" rtl="0" eaLnBrk="1" latinLnBrk="0" hangingPunct="1">
              <a:defRPr sz="135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375410" algn="l" defTabSz="687705" rtl="0" eaLnBrk="1" latinLnBrk="0" hangingPunct="1">
              <a:defRPr sz="135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719580" algn="l" defTabSz="687705" rtl="0" eaLnBrk="1" latinLnBrk="0" hangingPunct="1">
              <a:defRPr sz="135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063115" algn="l" defTabSz="687705" rtl="0" eaLnBrk="1" latinLnBrk="0" hangingPunct="1">
              <a:defRPr sz="135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407285" algn="l" defTabSz="687705" rtl="0" eaLnBrk="1" latinLnBrk="0" hangingPunct="1">
              <a:defRPr sz="135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750820" algn="l" defTabSz="687705" rtl="0" eaLnBrk="1" latinLnBrk="0" hangingPunct="1">
              <a:defRPr sz="135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1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文本框 21"/>
              <p:cNvSpPr txBox="1"/>
              <p:nvPr/>
            </p:nvSpPr>
            <p:spPr>
              <a:xfrm>
                <a:off x="6527994" y="6189212"/>
                <a:ext cx="6166491" cy="4589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charset="0"/>
                  </a:rPr>
                  <a:t>Output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charset="0"/>
                  </a:rPr>
                  <a:t>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charset="0"/>
                      </a:rPr>
                      <m:t>tr</m:t>
                    </m:r>
                    <m:r>
                      <a:rPr lang="en-US" altLang="zh-CN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charset="0"/>
                      </a:rPr>
                      <m:t>=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charset="0"/>
                      </a:rPr>
                      <m:t>{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𝑝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0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charset="0"/>
                      </a:rPr>
                      <m:t>, 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𝑡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0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charset="0"/>
                      </a:rPr>
                      <m:t>),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charset="0"/>
                      </a:rPr>
                      <m:t>, </m:t>
                    </m:r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𝑡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charset="0"/>
                      </a:rPr>
                      <m:t>),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3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charset="0"/>
                      </a:rPr>
                      <m:t>, 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𝑡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3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charset="0"/>
                      </a:rPr>
                      <m:t>)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charset="0"/>
                      </a:rPr>
                      <m:t>,</m:t>
                    </m:r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5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charset="0"/>
                      </a:rPr>
                      <m:t>, 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𝑡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charset="0"/>
                          </a:rPr>
                          <m:t>5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charset="0"/>
                      </a:rPr>
                      <m:t>)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charset="0"/>
                      </a:rPr>
                      <m:t>}</m:t>
                    </m:r>
                  </m:oMath>
                </a14:m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charset="0"/>
                </a:endParaRPr>
              </a:p>
            </p:txBody>
          </p:sp>
        </mc:Choice>
        <mc:Fallback>
          <p:sp>
            <p:nvSpPr>
              <p:cNvPr id="22" name="文本框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7994" y="6189212"/>
                <a:ext cx="6166491" cy="458908"/>
              </a:xfrm>
              <a:prstGeom prst="rect">
                <a:avLst/>
              </a:prstGeom>
              <a:blipFill rotWithShape="1">
                <a:blip r:embed="rId5"/>
                <a:stretch>
                  <a:fillRect l="-3" t="-109" r="3" b="-148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文本框 18"/>
              <p:cNvSpPr txBox="1"/>
              <p:nvPr/>
            </p:nvSpPr>
            <p:spPr>
              <a:xfrm>
                <a:off x="7067970" y="3485191"/>
                <a:ext cx="4091146" cy="3704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b="0" i="0" u="none" kern="1200" baseline="0">
                    <a:solidFill>
                      <a:schemeClr val="tx1"/>
                    </a:solidFill>
                    <a:latin typeface="Arial" panose="020B0704020202020204" pitchFamily="34" charset="0"/>
                    <a:ea typeface="宋体" pitchFamily="2" charset="-122"/>
                    <a:cs typeface="+mn-cs"/>
                  </a:defRPr>
                </a:lvl1pPr>
                <a:lvl2pPr marL="457200" lvl="1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b="0" i="0" u="none" kern="1200" baseline="0">
                    <a:solidFill>
                      <a:schemeClr val="tx1"/>
                    </a:solidFill>
                    <a:latin typeface="Arial" panose="020B0704020202020204" pitchFamily="34" charset="0"/>
                    <a:ea typeface="宋体" pitchFamily="2" charset="-122"/>
                    <a:cs typeface="+mn-cs"/>
                  </a:defRPr>
                </a:lvl2pPr>
                <a:lvl3pPr marL="914400" lvl="2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b="0" i="0" u="none" kern="1200" baseline="0">
                    <a:solidFill>
                      <a:schemeClr val="tx1"/>
                    </a:solidFill>
                    <a:latin typeface="Arial" panose="020B0704020202020204" pitchFamily="34" charset="0"/>
                    <a:ea typeface="宋体" pitchFamily="2" charset="-122"/>
                    <a:cs typeface="+mn-cs"/>
                  </a:defRPr>
                </a:lvl3pPr>
                <a:lvl4pPr marL="1371600" lvl="3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b="0" i="0" u="none" kern="1200" baseline="0">
                    <a:solidFill>
                      <a:schemeClr val="tx1"/>
                    </a:solidFill>
                    <a:latin typeface="Arial" panose="020B0704020202020204" pitchFamily="34" charset="0"/>
                    <a:ea typeface="宋体" pitchFamily="2" charset="-122"/>
                    <a:cs typeface="+mn-cs"/>
                  </a:defRPr>
                </a:lvl4pPr>
                <a:lvl5pPr marL="1828800" lvl="4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b="0" i="0" u="none" kern="1200" baseline="0">
                    <a:solidFill>
                      <a:schemeClr val="tx1"/>
                    </a:solidFill>
                    <a:latin typeface="Arial" panose="020B0704020202020204" pitchFamily="34" charset="0"/>
                    <a:ea typeface="宋体" pitchFamily="2" charset="-122"/>
                    <a:cs typeface="+mn-cs"/>
                  </a:defRPr>
                </a:lvl5pPr>
                <a:lvl6pPr marL="2286000" lvl="5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b="0" i="0" u="none" kern="1200" baseline="0">
                    <a:solidFill>
                      <a:schemeClr val="tx1"/>
                    </a:solidFill>
                    <a:latin typeface="Arial" panose="020B0704020202020204" pitchFamily="34" charset="0"/>
                    <a:ea typeface="宋体" pitchFamily="2" charset="-122"/>
                    <a:cs typeface="+mn-cs"/>
                  </a:defRPr>
                </a:lvl6pPr>
                <a:lvl7pPr marL="2743200" lvl="6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b="0" i="0" u="none" kern="1200" baseline="0">
                    <a:solidFill>
                      <a:schemeClr val="tx1"/>
                    </a:solidFill>
                    <a:latin typeface="Arial" panose="020B0704020202020204" pitchFamily="34" charset="0"/>
                    <a:ea typeface="宋体" pitchFamily="2" charset="-122"/>
                    <a:cs typeface="+mn-cs"/>
                  </a:defRPr>
                </a:lvl7pPr>
                <a:lvl8pPr marL="3200400" lvl="7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b="0" i="0" u="none" kern="1200" baseline="0">
                    <a:solidFill>
                      <a:schemeClr val="tx1"/>
                    </a:solidFill>
                    <a:latin typeface="Arial" panose="020B0704020202020204" pitchFamily="34" charset="0"/>
                    <a:ea typeface="宋体" pitchFamily="2" charset="-122"/>
                    <a:cs typeface="+mn-cs"/>
                  </a:defRPr>
                </a:lvl8pPr>
                <a:lvl9pPr marL="3657600" lvl="8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b="0" i="0" u="none" kern="1200" baseline="0">
                    <a:solidFill>
                      <a:schemeClr val="tx1"/>
                    </a:solidFill>
                    <a:latin typeface="Arial" panose="020B0704020202020204" pitchFamily="34" charset="0"/>
                    <a:ea typeface="宋体" pitchFamily="2" charset="-122"/>
                    <a:cs typeface="+mn-cs"/>
                  </a:defRPr>
                </a:lvl9pPr>
              </a:lstStyle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charset="0"/>
                            </a:rPr>
                            <m:t>计算</m:t>
                          </m:r>
                          <m:r>
                            <a:rPr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charset="0"/>
                            </a:rPr>
                            <m:t>3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m:t>到</m:t>
                      </m:r>
                      <m:r>
                        <a:rPr lang="zh-CN" altLang="en-US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m:t>线段</m:t>
                      </m:r>
                      <m:sSub>
                        <m:sSubPr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m:t>→</m:t>
                      </m:r>
                      <m:sSub>
                        <m:sSubPr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charset="0"/>
                            </a:rPr>
                            <m:t>5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m:t>的</m:t>
                      </m:r>
                      <m:r>
                        <a:rPr lang="zh-CN" altLang="en-US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m:t>距离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35" name="文本框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7970" y="3485191"/>
                <a:ext cx="4091146" cy="370486"/>
              </a:xfrm>
              <a:prstGeom prst="rect">
                <a:avLst/>
              </a:prstGeom>
              <a:blipFill rotWithShape="1">
                <a:blip r:embed="rId6"/>
                <a:stretch>
                  <a:fillRect l="-10" t="-84" r="6" b="1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7"/>
          <a:srcRect r="60117"/>
          <a:stretch>
            <a:fillRect/>
          </a:stretch>
        </p:blipFill>
        <p:spPr>
          <a:xfrm>
            <a:off x="701405" y="2444283"/>
            <a:ext cx="2486987" cy="250190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7"/>
          <a:srcRect l="59272"/>
          <a:stretch>
            <a:fillRect/>
          </a:stretch>
        </p:blipFill>
        <p:spPr>
          <a:xfrm>
            <a:off x="2424933" y="3943484"/>
            <a:ext cx="2539698" cy="2501900"/>
          </a:xfrm>
          <a:prstGeom prst="rect">
            <a:avLst/>
          </a:prstGeom>
        </p:spPr>
      </p:pic>
      <p:sp>
        <p:nvSpPr>
          <p:cNvPr id="17" name="右箭头 16"/>
          <p:cNvSpPr/>
          <p:nvPr/>
        </p:nvSpPr>
        <p:spPr>
          <a:xfrm rot="2835036">
            <a:off x="2537600" y="3879754"/>
            <a:ext cx="255933" cy="373761"/>
          </a:xfrm>
          <a:prstGeom prst="rightArrow">
            <a:avLst/>
          </a:prstGeom>
          <a:solidFill>
            <a:srgbClr val="FF8300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687705" rtl="0" eaLnBrk="1" latinLnBrk="0" hangingPunct="1">
              <a:defRPr sz="135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44170" algn="l" defTabSz="687705" rtl="0" eaLnBrk="1" latinLnBrk="0" hangingPunct="1">
              <a:defRPr sz="135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687705" algn="l" defTabSz="687705" rtl="0" eaLnBrk="1" latinLnBrk="0" hangingPunct="1">
              <a:defRPr sz="135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31875" algn="l" defTabSz="687705" rtl="0" eaLnBrk="1" latinLnBrk="0" hangingPunct="1">
              <a:defRPr sz="135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375410" algn="l" defTabSz="687705" rtl="0" eaLnBrk="1" latinLnBrk="0" hangingPunct="1">
              <a:defRPr sz="135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719580" algn="l" defTabSz="687705" rtl="0" eaLnBrk="1" latinLnBrk="0" hangingPunct="1">
              <a:defRPr sz="135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063115" algn="l" defTabSz="687705" rtl="0" eaLnBrk="1" latinLnBrk="0" hangingPunct="1">
              <a:defRPr sz="135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407285" algn="l" defTabSz="687705" rtl="0" eaLnBrk="1" latinLnBrk="0" hangingPunct="1">
              <a:defRPr sz="135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750820" algn="l" defTabSz="687705" rtl="0" eaLnBrk="1" latinLnBrk="0" hangingPunct="1">
              <a:defRPr sz="135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1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488064" y="6308960"/>
            <a:ext cx="2913985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道格拉斯普克算法示意图</a:t>
            </a:r>
            <a:endParaRPr lang="en-US" altLang="zh-CN" sz="18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文本框 33"/>
              <p:cNvSpPr txBox="1"/>
              <p:nvPr/>
            </p:nvSpPr>
            <p:spPr>
              <a:xfrm>
                <a:off x="582950" y="4469721"/>
                <a:ext cx="4770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kumimoji="1" lang="en-US" altLang="zh-CN" b="0" dirty="0"/>
              </a:p>
            </p:txBody>
          </p:sp>
        </mc:Choice>
        <mc:Fallback>
          <p:sp>
            <p:nvSpPr>
              <p:cNvPr id="34" name="文本框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950" y="4469721"/>
                <a:ext cx="477054" cy="369332"/>
              </a:xfrm>
              <a:prstGeom prst="rect">
                <a:avLst/>
              </a:prstGeom>
              <a:blipFill rotWithShape="1">
                <a:blip r:embed="rId8"/>
                <a:stretch>
                  <a:fillRect l="-4" t="-160" r="40" b="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文本框 36"/>
              <p:cNvSpPr txBox="1"/>
              <p:nvPr/>
            </p:nvSpPr>
            <p:spPr>
              <a:xfrm>
                <a:off x="588272" y="3700056"/>
                <a:ext cx="4717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en-US" altLang="zh-CN" b="0" dirty="0"/>
              </a:p>
            </p:txBody>
          </p:sp>
        </mc:Choice>
        <mc:Fallback>
          <p:sp>
            <p:nvSpPr>
              <p:cNvPr id="37" name="文本框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272" y="3700056"/>
                <a:ext cx="471732" cy="369332"/>
              </a:xfrm>
              <a:prstGeom prst="rect">
                <a:avLst/>
              </a:prstGeom>
              <a:blipFill rotWithShape="1">
                <a:blip r:embed="rId9"/>
                <a:stretch>
                  <a:fillRect l="-56" t="-148" r="40" b="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文本框 37"/>
              <p:cNvSpPr txBox="1"/>
              <p:nvPr/>
            </p:nvSpPr>
            <p:spPr>
              <a:xfrm>
                <a:off x="582950" y="2763926"/>
                <a:ext cx="4770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en-US" altLang="zh-CN" b="0" dirty="0"/>
              </a:p>
            </p:txBody>
          </p:sp>
        </mc:Choice>
        <mc:Fallback>
          <p:sp>
            <p:nvSpPr>
              <p:cNvPr id="38" name="文本框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950" y="2763926"/>
                <a:ext cx="477054" cy="369332"/>
              </a:xfrm>
              <a:prstGeom prst="rect">
                <a:avLst/>
              </a:prstGeom>
              <a:blipFill rotWithShape="1">
                <a:blip r:embed="rId10"/>
                <a:stretch>
                  <a:fillRect l="-4" t="-110" r="40" b="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文本框 38"/>
              <p:cNvSpPr txBox="1"/>
              <p:nvPr/>
            </p:nvSpPr>
            <p:spPr>
              <a:xfrm>
                <a:off x="1249537" y="2282177"/>
                <a:ext cx="4770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en-US" altLang="zh-CN" b="0" dirty="0"/>
              </a:p>
            </p:txBody>
          </p:sp>
        </mc:Choice>
        <mc:Fallback>
          <p:sp>
            <p:nvSpPr>
              <p:cNvPr id="39" name="文本框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9537" y="2282177"/>
                <a:ext cx="477054" cy="369332"/>
              </a:xfrm>
              <a:prstGeom prst="rect">
                <a:avLst/>
              </a:prstGeom>
              <a:blipFill rotWithShape="1">
                <a:blip r:embed="rId11"/>
                <a:stretch>
                  <a:fillRect l="-103" t="-168" r="5" b="1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文本框 39"/>
              <p:cNvSpPr txBox="1"/>
              <p:nvPr/>
            </p:nvSpPr>
            <p:spPr>
              <a:xfrm>
                <a:off x="2133336" y="2326665"/>
                <a:ext cx="47532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kumimoji="1" lang="en-US" altLang="zh-CN" b="0" dirty="0"/>
              </a:p>
            </p:txBody>
          </p:sp>
        </mc:Choice>
        <mc:Fallback>
          <p:sp>
            <p:nvSpPr>
              <p:cNvPr id="40" name="文本框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336" y="2326665"/>
                <a:ext cx="475323" cy="369332"/>
              </a:xfrm>
              <a:prstGeom prst="rect">
                <a:avLst/>
              </a:prstGeom>
              <a:blipFill rotWithShape="1">
                <a:blip r:embed="rId12"/>
                <a:stretch>
                  <a:fillRect l="-78" t="-7" r="17" b="1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文本框 40"/>
              <p:cNvSpPr txBox="1"/>
              <p:nvPr/>
            </p:nvSpPr>
            <p:spPr>
              <a:xfrm>
                <a:off x="2945056" y="2607022"/>
                <a:ext cx="4770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kumimoji="1" lang="en-US" altLang="zh-CN" b="0" dirty="0"/>
              </a:p>
            </p:txBody>
          </p:sp>
        </mc:Choice>
        <mc:Fallback>
          <p:sp>
            <p:nvSpPr>
              <p:cNvPr id="41" name="文本框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5056" y="2607022"/>
                <a:ext cx="477054" cy="369332"/>
              </a:xfrm>
              <a:prstGeom prst="rect">
                <a:avLst/>
              </a:prstGeom>
              <a:blipFill rotWithShape="1">
                <a:blip r:embed="rId13"/>
                <a:stretch>
                  <a:fillRect l="-118" t="-94" r="20" b="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2" name="文本框 41"/>
              <p:cNvSpPr txBox="1"/>
              <p:nvPr/>
            </p:nvSpPr>
            <p:spPr>
              <a:xfrm>
                <a:off x="2318861" y="5969522"/>
                <a:ext cx="4770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kumimoji="1" lang="en-US" altLang="zh-CN" b="0" dirty="0"/>
              </a:p>
            </p:txBody>
          </p:sp>
        </mc:Choice>
        <mc:Fallback>
          <p:sp>
            <p:nvSpPr>
              <p:cNvPr id="42" name="文本框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8861" y="5969522"/>
                <a:ext cx="477054" cy="369332"/>
              </a:xfrm>
              <a:prstGeom prst="rect">
                <a:avLst/>
              </a:prstGeom>
              <a:blipFill rotWithShape="1">
                <a:blip r:embed="rId8"/>
                <a:stretch>
                  <a:fillRect l="-100" t="-141" r="2" b="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文本框 42"/>
              <p:cNvSpPr txBox="1"/>
              <p:nvPr/>
            </p:nvSpPr>
            <p:spPr>
              <a:xfrm>
                <a:off x="2318861" y="4263727"/>
                <a:ext cx="4770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en-US" altLang="zh-CN" b="0" dirty="0"/>
              </a:p>
            </p:txBody>
          </p:sp>
        </mc:Choice>
        <mc:Fallback>
          <p:sp>
            <p:nvSpPr>
              <p:cNvPr id="43" name="文本框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8861" y="4263727"/>
                <a:ext cx="477054" cy="369332"/>
              </a:xfrm>
              <a:prstGeom prst="rect">
                <a:avLst/>
              </a:prstGeom>
              <a:blipFill rotWithShape="1">
                <a:blip r:embed="rId10"/>
                <a:stretch>
                  <a:fillRect l="-100" t="-91" r="2" b="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文本框 43"/>
              <p:cNvSpPr txBox="1"/>
              <p:nvPr/>
            </p:nvSpPr>
            <p:spPr>
              <a:xfrm>
                <a:off x="2985448" y="3781978"/>
                <a:ext cx="4770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en-US" altLang="zh-CN" b="0" dirty="0"/>
              </a:p>
            </p:txBody>
          </p:sp>
        </mc:Choice>
        <mc:Fallback>
          <p:sp>
            <p:nvSpPr>
              <p:cNvPr id="44" name="文本框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5448" y="3781978"/>
                <a:ext cx="477054" cy="369332"/>
              </a:xfrm>
              <a:prstGeom prst="rect">
                <a:avLst/>
              </a:prstGeom>
              <a:blipFill rotWithShape="1">
                <a:blip r:embed="rId11"/>
                <a:stretch>
                  <a:fillRect l="-66" t="-150" r="101" b="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文本框 44"/>
              <p:cNvSpPr txBox="1"/>
              <p:nvPr/>
            </p:nvSpPr>
            <p:spPr>
              <a:xfrm>
                <a:off x="4680967" y="4106823"/>
                <a:ext cx="4770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kumimoji="1" lang="en-US" altLang="zh-CN" b="0" dirty="0"/>
              </a:p>
            </p:txBody>
          </p:sp>
        </mc:Choice>
        <mc:Fallback>
          <p:sp>
            <p:nvSpPr>
              <p:cNvPr id="45" name="文本框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0967" y="4106823"/>
                <a:ext cx="477054" cy="369332"/>
              </a:xfrm>
              <a:prstGeom prst="rect">
                <a:avLst/>
              </a:prstGeom>
              <a:blipFill rotWithShape="1">
                <a:blip r:embed="rId13"/>
                <a:stretch>
                  <a:fillRect l="-80" t="-75" r="116" b="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文本框 45"/>
          <p:cNvSpPr txBox="1"/>
          <p:nvPr/>
        </p:nvSpPr>
        <p:spPr>
          <a:xfrm>
            <a:off x="6046503" y="5156976"/>
            <a:ext cx="6025414" cy="458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Step3: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重复执行上述步骤直到无法继续压缩。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</p:spTree>
  </p:cSld>
  <p:clrMapOvr>
    <a:masterClrMapping/>
  </p:clrMapOvr>
  <p:transition spd="slow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/>
          <p:nvPr/>
        </p:nvPicPr>
        <p:blipFill>
          <a:blip r:embed="rId1" r:link="rId2"/>
          <a:srcRect t="42487" b="40376"/>
          <a:stretch>
            <a:fillRect/>
          </a:stretch>
        </p:blipFill>
        <p:spPr>
          <a:xfrm>
            <a:off x="-635" y="-47625"/>
            <a:ext cx="10560573" cy="140716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矩形 6"/>
          <p:cNvSpPr/>
          <p:nvPr/>
        </p:nvSpPr>
        <p:spPr>
          <a:xfrm>
            <a:off x="1" y="-143510"/>
            <a:ext cx="10559938" cy="1503045"/>
          </a:xfrm>
          <a:prstGeom prst="rect">
            <a:avLst/>
          </a:prstGeom>
          <a:solidFill>
            <a:srgbClr val="9F3A3D">
              <a:alpha val="8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文本框 3"/>
          <p:cNvSpPr txBox="1"/>
          <p:nvPr/>
        </p:nvSpPr>
        <p:spPr>
          <a:xfrm>
            <a:off x="1058273" y="189230"/>
            <a:ext cx="2031325" cy="646331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charset="0"/>
                <a:ea typeface="思源黑体 CN Normal" charset="-122"/>
                <a:cs typeface="Times New Roman" panose="02020603050405020304" charset="0"/>
              </a:rPr>
              <a:t>轨迹压缩</a:t>
            </a:r>
            <a:endParaRPr lang="en-US" altLang="zh-CN" sz="3600" b="1" dirty="0">
              <a:solidFill>
                <a:schemeClr val="bg1"/>
              </a:solidFill>
              <a:latin typeface="Times New Roman" panose="02020603050405020304" charset="0"/>
              <a:ea typeface="思源黑体 CN Normal" charset="-122"/>
              <a:cs typeface="Times New Roman" panose="02020603050405020304" charset="0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552077" y="909035"/>
            <a:ext cx="304800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5935" y="45047"/>
            <a:ext cx="1223983" cy="1223983"/>
          </a:xfrm>
          <a:prstGeom prst="rect">
            <a:avLst/>
          </a:prstGeom>
        </p:spPr>
      </p:pic>
      <p:pic>
        <p:nvPicPr>
          <p:cNvPr id="107" name="图片 106"/>
          <p:cNvPicPr/>
          <p:nvPr/>
        </p:nvPicPr>
        <p:blipFill>
          <a:blip r:embed="rId4"/>
          <a:stretch>
            <a:fillRect/>
          </a:stretch>
        </p:blipFill>
        <p:spPr>
          <a:xfrm>
            <a:off x="5087485" y="2564621"/>
            <a:ext cx="6862977" cy="237035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91770" y="2392680"/>
            <a:ext cx="5029200" cy="2714625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/>
          <p:nvPr/>
        </p:nvPicPr>
        <p:blipFill>
          <a:blip r:embed="rId1" r:link="rId2"/>
          <a:srcRect t="42487" b="40376"/>
          <a:stretch>
            <a:fillRect/>
          </a:stretch>
        </p:blipFill>
        <p:spPr>
          <a:xfrm>
            <a:off x="-635" y="-47625"/>
            <a:ext cx="10560573" cy="140716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矩形 6"/>
          <p:cNvSpPr/>
          <p:nvPr/>
        </p:nvSpPr>
        <p:spPr>
          <a:xfrm>
            <a:off x="1" y="-143510"/>
            <a:ext cx="10559938" cy="1503045"/>
          </a:xfrm>
          <a:prstGeom prst="rect">
            <a:avLst/>
          </a:prstGeom>
          <a:solidFill>
            <a:srgbClr val="9F3A3D">
              <a:alpha val="8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文本框 3"/>
          <p:cNvSpPr txBox="1"/>
          <p:nvPr/>
        </p:nvSpPr>
        <p:spPr>
          <a:xfrm>
            <a:off x="479768" y="189230"/>
            <a:ext cx="4314825" cy="64516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charset="0"/>
                <a:ea typeface="思源黑体 CN Normal" charset="-122"/>
                <a:cs typeface="Times New Roman" panose="02020603050405020304" charset="0"/>
              </a:rPr>
              <a:t>轨迹预处理效果评估</a:t>
            </a:r>
            <a:endParaRPr lang="zh-CN" altLang="en-US" sz="3600" b="1" dirty="0">
              <a:solidFill>
                <a:schemeClr val="bg1"/>
              </a:solidFill>
              <a:latin typeface="Times New Roman" panose="02020603050405020304" charset="0"/>
              <a:ea typeface="思源黑体 CN Normal" charset="-122"/>
              <a:cs typeface="Times New Roman" panose="02020603050405020304" charset="0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552077" y="909035"/>
            <a:ext cx="304800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5935" y="45047"/>
            <a:ext cx="1223983" cy="1223983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623570" y="148463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分段距离阈值选择</a:t>
            </a:r>
            <a:endParaRPr lang="zh-CN" altLang="en-US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623570" y="1978025"/>
            <a:ext cx="10501630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sz="1800">
                <a:ea typeface="等线" panose="02010600030101010101" pitchFamily="2" charset="-122"/>
              </a:rPr>
              <a:t>分段处理：将相邻轨迹点中距离超过阈值的点视为噪声点，在噪声点处将轨迹分段。</a:t>
            </a:r>
            <a:endParaRPr lang="zh-CN" altLang="en-US" sz="1800">
              <a:ea typeface="等线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53745" y="2637155"/>
            <a:ext cx="6419215" cy="8102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sz="1800">
                <a:ea typeface="等线" panose="02010600030101010101" pitchFamily="2" charset="-122"/>
              </a:rPr>
              <a:t>通过轨迹保存率及先验最大距离计算公式确定分段阈值：</a:t>
            </a:r>
            <a:endParaRPr lang="zh-CN" sz="1800">
              <a:ea typeface="等线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zh-CN" sz="1800">
                <a:ea typeface="等线" panose="02010600030101010101" pitchFamily="2" charset="-122"/>
              </a:rPr>
              <a:t>最大距离计算公式：</a:t>
            </a:r>
            <a:endParaRPr lang="zh-CN" altLang="en-US" sz="1800">
              <a:ea typeface="等线" panose="02010600030101010101" pitchFamily="2" charset="-122"/>
            </a:endParaRPr>
          </a:p>
        </p:txBody>
      </p:sp>
      <p:pic>
        <p:nvPicPr>
          <p:cNvPr id="5" name="图片 4"/>
          <p:cNvPicPr/>
          <p:nvPr/>
        </p:nvPicPr>
        <p:blipFill>
          <a:blip r:embed="rId4"/>
          <a:stretch>
            <a:fillRect/>
          </a:stretch>
        </p:blipFill>
        <p:spPr>
          <a:xfrm>
            <a:off x="2855595" y="3068955"/>
            <a:ext cx="4484370" cy="26225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1" name="文本框 100"/>
          <p:cNvSpPr txBox="1"/>
          <p:nvPr/>
        </p:nvSpPr>
        <p:spPr>
          <a:xfrm>
            <a:off x="623570" y="3933190"/>
            <a:ext cx="5568315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zh-CN" sz="1800">
                <a:ea typeface="等线" panose="02010600030101010101" pitchFamily="2" charset="-122"/>
              </a:rPr>
              <a:t>其中平均采样时间计算为</a:t>
            </a:r>
            <a:r>
              <a:rPr lang="en-US" sz="1800">
                <a:latin typeface="等线" panose="02010600030101010101" pitchFamily="2" charset="-122"/>
              </a:rPr>
              <a:t>1</a:t>
            </a:r>
            <a:r>
              <a:rPr lang="en-US" sz="1800">
                <a:latin typeface="等线" panose="02010600030101010101" pitchFamily="2" charset="-122"/>
                <a:cs typeface="Times New Roman" panose="02020603050405020304" charset="0"/>
              </a:rPr>
              <a:t>2</a:t>
            </a:r>
            <a:r>
              <a:rPr lang="zh-CN" sz="1800">
                <a:ea typeface="等线" panose="02010600030101010101" pitchFamily="2" charset="-122"/>
              </a:rPr>
              <a:t>s左右，骑行速度上界为2</a:t>
            </a:r>
            <a:r>
              <a:rPr lang="en-US" sz="1800">
                <a:latin typeface="等线" panose="02010600030101010101" pitchFamily="2" charset="-122"/>
                <a:cs typeface="Times New Roman" panose="02020603050405020304" charset="0"/>
              </a:rPr>
              <a:t>5</a:t>
            </a:r>
            <a:r>
              <a:rPr lang="en-US" sz="1800">
                <a:latin typeface="等线" panose="02010600030101010101" pitchFamily="2" charset="-122"/>
              </a:rPr>
              <a:t>km</a:t>
            </a:r>
            <a:r>
              <a:rPr lang="en-US" sz="1800">
                <a:latin typeface="等线" panose="02010600030101010101" pitchFamily="2" charset="-122"/>
                <a:cs typeface="Times New Roman" panose="02020603050405020304" charset="0"/>
              </a:rPr>
              <a:t>/</a:t>
            </a:r>
            <a:r>
              <a:rPr lang="zh-CN" sz="1800">
                <a:ea typeface="等线" panose="02010600030101010101" pitchFamily="2" charset="-122"/>
              </a:rPr>
              <a:t>h，计算得到最大行驶距离约为8</a:t>
            </a:r>
            <a:r>
              <a:rPr lang="en-US" sz="1800">
                <a:latin typeface="等线" panose="02010600030101010101" pitchFamily="2" charset="-122"/>
                <a:cs typeface="Times New Roman" panose="02020603050405020304" charset="0"/>
              </a:rPr>
              <a:t>3</a:t>
            </a:r>
            <a:r>
              <a:rPr lang="zh-CN" sz="1800">
                <a:ea typeface="等线" panose="02010600030101010101" pitchFamily="2" charset="-122"/>
              </a:rPr>
              <a:t>m左右，结合图像及实际情况（超速），取分段阈值设置为9</a:t>
            </a:r>
            <a:r>
              <a:rPr lang="en-US" sz="1800">
                <a:latin typeface="等线" panose="02010600030101010101" pitchFamily="2" charset="-122"/>
                <a:cs typeface="Times New Roman" panose="02020603050405020304" charset="0"/>
              </a:rPr>
              <a:t>5</a:t>
            </a:r>
            <a:r>
              <a:rPr lang="zh-CN" sz="1800">
                <a:ea typeface="等线" panose="02010600030101010101" pitchFamily="2" charset="-122"/>
              </a:rPr>
              <a:t>m。</a:t>
            </a:r>
            <a:endParaRPr lang="zh-CN" altLang="en-US" sz="1800">
              <a:ea typeface="等线" panose="02010600030101010101" pitchFamily="2" charset="-122"/>
            </a:endParaRPr>
          </a:p>
        </p:txBody>
      </p:sp>
      <p:pic>
        <p:nvPicPr>
          <p:cNvPr id="74" name="图片 74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7751445" y="2564765"/>
            <a:ext cx="2802255" cy="2101850"/>
          </a:xfrm>
          <a:prstGeom prst="rect">
            <a:avLst/>
          </a:prstGeom>
        </p:spPr>
      </p:pic>
      <p:pic>
        <p:nvPicPr>
          <p:cNvPr id="11" name="图片 100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8138160" y="4796790"/>
            <a:ext cx="2029460" cy="1911350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/>
          <p:nvPr/>
        </p:nvPicPr>
        <p:blipFill>
          <a:blip r:embed="rId1" r:link="rId2"/>
          <a:srcRect t="42487" b="40376"/>
          <a:stretch>
            <a:fillRect/>
          </a:stretch>
        </p:blipFill>
        <p:spPr>
          <a:xfrm>
            <a:off x="-635" y="-47625"/>
            <a:ext cx="10560573" cy="140716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矩形 6"/>
          <p:cNvSpPr/>
          <p:nvPr/>
        </p:nvSpPr>
        <p:spPr>
          <a:xfrm>
            <a:off x="1" y="-143510"/>
            <a:ext cx="10559938" cy="1503045"/>
          </a:xfrm>
          <a:prstGeom prst="rect">
            <a:avLst/>
          </a:prstGeom>
          <a:solidFill>
            <a:srgbClr val="9F3A3D">
              <a:alpha val="8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文本框 3"/>
          <p:cNvSpPr txBox="1"/>
          <p:nvPr/>
        </p:nvSpPr>
        <p:spPr>
          <a:xfrm>
            <a:off x="479768" y="189230"/>
            <a:ext cx="4314825" cy="64516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charset="0"/>
                <a:ea typeface="思源黑体 CN Normal" charset="-122"/>
                <a:cs typeface="Times New Roman" panose="02020603050405020304" charset="0"/>
              </a:rPr>
              <a:t>轨迹预处理效果评估</a:t>
            </a:r>
            <a:endParaRPr lang="zh-CN" altLang="en-US" sz="3600" b="1" dirty="0">
              <a:solidFill>
                <a:schemeClr val="bg1"/>
              </a:solidFill>
              <a:latin typeface="Times New Roman" panose="02020603050405020304" charset="0"/>
              <a:ea typeface="思源黑体 CN Normal" charset="-122"/>
              <a:cs typeface="Times New Roman" panose="02020603050405020304" charset="0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552077" y="909035"/>
            <a:ext cx="304800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5935" y="45047"/>
            <a:ext cx="1223983" cy="1223983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623570" y="148463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分段距离阈值选择</a:t>
            </a:r>
            <a:endParaRPr lang="zh-CN" altLang="en-US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4" name="图片 7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200150" y="1852930"/>
            <a:ext cx="6296025" cy="4723130"/>
          </a:xfrm>
          <a:prstGeom prst="rect">
            <a:avLst/>
          </a:prstGeom>
        </p:spPr>
      </p:pic>
      <p:pic>
        <p:nvPicPr>
          <p:cNvPr id="11" name="图片 100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7247890" y="2132965"/>
            <a:ext cx="4613275" cy="434467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01930" y="342900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保留比例</a:t>
            </a:r>
            <a:r>
              <a:rPr lang="en-US" altLang="zh-CN"/>
              <a:t>(%)</a:t>
            </a:r>
            <a:endParaRPr lang="en-US" altLang="zh-CN"/>
          </a:p>
        </p:txBody>
      </p:sp>
      <p:sp>
        <p:nvSpPr>
          <p:cNvPr id="12" name="文本框 11"/>
          <p:cNvSpPr txBox="1"/>
          <p:nvPr/>
        </p:nvSpPr>
        <p:spPr>
          <a:xfrm>
            <a:off x="191770" y="4293235"/>
            <a:ext cx="1271905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（分段后轨迹点数量除以分段前轨迹点数量）</a:t>
            </a:r>
            <a:endParaRPr lang="zh-CN" altLang="en-US"/>
          </a:p>
        </p:txBody>
      </p:sp>
    </p:spTree>
  </p:cSld>
  <p:clrMapOvr>
    <a:masterClrMapping/>
  </p:clrMapOvr>
  <p:transition spd="slow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/>
          <p:nvPr/>
        </p:nvPicPr>
        <p:blipFill>
          <a:blip r:embed="rId1" r:link="rId2"/>
          <a:srcRect t="42487" b="40376"/>
          <a:stretch>
            <a:fillRect/>
          </a:stretch>
        </p:blipFill>
        <p:spPr>
          <a:xfrm>
            <a:off x="-635" y="-47625"/>
            <a:ext cx="10560573" cy="140716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矩形 6"/>
          <p:cNvSpPr/>
          <p:nvPr/>
        </p:nvSpPr>
        <p:spPr>
          <a:xfrm>
            <a:off x="1" y="-143510"/>
            <a:ext cx="10559938" cy="1503045"/>
          </a:xfrm>
          <a:prstGeom prst="rect">
            <a:avLst/>
          </a:prstGeom>
          <a:solidFill>
            <a:srgbClr val="9F3A3D">
              <a:alpha val="8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文本框 3"/>
          <p:cNvSpPr txBox="1"/>
          <p:nvPr/>
        </p:nvSpPr>
        <p:spPr>
          <a:xfrm>
            <a:off x="1058275" y="189230"/>
            <a:ext cx="2031325" cy="646331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charset="0"/>
                <a:ea typeface="思源黑体 CN Normal" charset="-122"/>
                <a:cs typeface="Times New Roman" panose="02020603050405020304" charset="0"/>
              </a:rPr>
              <a:t>作业细则</a:t>
            </a:r>
            <a:endParaRPr lang="zh-CN" altLang="en-US" sz="3600" b="1" dirty="0">
              <a:solidFill>
                <a:schemeClr val="bg1"/>
              </a:solidFill>
              <a:latin typeface="Times New Roman" panose="02020603050405020304" charset="0"/>
              <a:ea typeface="思源黑体 CN Normal" charset="-122"/>
              <a:cs typeface="Times New Roman" panose="02020603050405020304" charset="0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552077" y="909035"/>
            <a:ext cx="304800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5935" y="45047"/>
            <a:ext cx="1223983" cy="1223983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984433" y="1629201"/>
            <a:ext cx="10908170" cy="4661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轨迹数据预处理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（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必做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）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：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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完成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Trajectory_preprocessing.ipynb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的空缺部分与实验报告。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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设计评价轨迹数据预处理效果的评估指标，需给出设计逻辑以及结果分析。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基于LLM辅助的轨迹数据质量提升智能体系统（选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做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"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基于助教开发的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系统。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Ø"/>
            </a:pP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思考与讨论（选做）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作业提交：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在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10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月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5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日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前将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.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ipynb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文件与实验报告压缩至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.zip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文件格式发送至</a:t>
            </a: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52285903012@stu.ecnu.ed</a:t>
            </a: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u.cn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,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 作业命名为 学号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_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姓名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_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实验一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.zip/.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ipynb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/.docx/.pdf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</p:spTree>
  </p:cSld>
  <p:clrMapOvr>
    <a:masterClrMapping/>
  </p:clrMapOvr>
  <p:transition spd="slow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/>
          <p:nvPr/>
        </p:nvPicPr>
        <p:blipFill>
          <a:blip r:embed="rId1" r:link="rId2"/>
          <a:srcRect t="42487" b="40376"/>
          <a:stretch>
            <a:fillRect/>
          </a:stretch>
        </p:blipFill>
        <p:spPr>
          <a:xfrm>
            <a:off x="-635" y="-47625"/>
            <a:ext cx="10560573" cy="140716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矩形 6"/>
          <p:cNvSpPr/>
          <p:nvPr/>
        </p:nvSpPr>
        <p:spPr>
          <a:xfrm>
            <a:off x="1" y="-143510"/>
            <a:ext cx="10559938" cy="1503045"/>
          </a:xfrm>
          <a:prstGeom prst="rect">
            <a:avLst/>
          </a:prstGeom>
          <a:solidFill>
            <a:srgbClr val="9F3A3D">
              <a:alpha val="8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文本框 3"/>
          <p:cNvSpPr txBox="1"/>
          <p:nvPr/>
        </p:nvSpPr>
        <p:spPr>
          <a:xfrm>
            <a:off x="867839" y="189230"/>
            <a:ext cx="2412199" cy="646331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charset="0"/>
                <a:ea typeface="思源黑体 CN Normal" charset="-122"/>
                <a:cs typeface="Times New Roman" panose="02020603050405020304" charset="0"/>
              </a:rPr>
              <a:t>Useful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charset="0"/>
                <a:ea typeface="思源黑体 CN Normal" charset="-122"/>
                <a:cs typeface="Times New Roman" panose="02020603050405020304" charset="0"/>
              </a:rPr>
              <a:t> </a:t>
            </a:r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charset="0"/>
                <a:ea typeface="思源黑体 CN Normal" charset="-122"/>
                <a:cs typeface="Times New Roman" panose="02020603050405020304" charset="0"/>
              </a:rPr>
              <a:t>Tips</a:t>
            </a:r>
            <a:endParaRPr lang="zh-CN" altLang="en-US" sz="3600" b="1" dirty="0">
              <a:solidFill>
                <a:schemeClr val="bg1"/>
              </a:solidFill>
              <a:latin typeface="Times New Roman" panose="02020603050405020304" charset="0"/>
              <a:ea typeface="思源黑体 CN Normal" charset="-122"/>
              <a:cs typeface="Times New Roman" panose="02020603050405020304" charset="0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552077" y="909035"/>
            <a:ext cx="304800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5935" y="45047"/>
            <a:ext cx="1223983" cy="1223983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641915" y="1624088"/>
            <a:ext cx="10908170" cy="41983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Useful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Python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Library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：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	Shapely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：几何对象操作库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		Folium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：轻量化的地图数据可视化库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	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Networkx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：图数据操作库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		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Pytorch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: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机器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/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深度学习框架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	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Useful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Links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：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	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论文数据库（英文）：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hlinkClick r:id="rId4"/>
              </a:rPr>
              <a:t>https://dblp.org/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	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论文索引与下载：</a:t>
            </a:r>
            <a:r>
              <a:rPr lang="en-GB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hlinkClick r:id="rId5"/>
              </a:rPr>
              <a:t>https://scholar.google.com/</a:t>
            </a:r>
            <a:endParaRPr lang="en-GB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</p:spTree>
  </p:cSld>
  <p:clrMapOvr>
    <a:masterClrMapping/>
  </p:clrMapOvr>
  <p:transition spd="slow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0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5360" y="1609344"/>
            <a:ext cx="10241280" cy="487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300" dirty="0">
                <a:solidFill>
                  <a:srgbClr val="7FB4D8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任务三 · 方法与实现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975360" y="2194560"/>
            <a:ext cx="10485120" cy="1341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535" b="1" dirty="0">
                <a:solidFill>
                  <a:srgbClr val="FFFFFF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基于 LLM 的轨迹数据清洗评估</a:t>
            </a:r>
            <a:endParaRPr lang="en-US" sz="4535" dirty="0"/>
          </a:p>
        </p:txBody>
      </p:sp>
      <p:sp>
        <p:nvSpPr>
          <p:cNvPr id="4" name="Shape 2"/>
          <p:cNvSpPr/>
          <p:nvPr/>
        </p:nvSpPr>
        <p:spPr>
          <a:xfrm>
            <a:off x="975360" y="3657600"/>
            <a:ext cx="1828800" cy="60960"/>
          </a:xfrm>
          <a:prstGeom prst="rect">
            <a:avLst/>
          </a:prstGeom>
          <a:solidFill>
            <a:srgbClr val="4FA3D1"/>
          </a:solidFill>
        </p:spPr>
      </p:sp>
      <p:sp>
        <p:nvSpPr>
          <p:cNvPr id="5" name="Text 3"/>
          <p:cNvSpPr/>
          <p:nvPr/>
        </p:nvSpPr>
        <p:spPr>
          <a:xfrm>
            <a:off x="975360" y="3950208"/>
            <a:ext cx="10485120" cy="487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B8CEDA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让 LLM 选评估工具、提参数建议，再用定量指标核验建议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75360" y="4535424"/>
            <a:ext cx="10485120" cy="426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65" dirty="0">
                <a:solidFill>
                  <a:srgbClr val="7A93A3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四步做法 · 15 个工具 · 四层记忆 · 留出集消融</a:t>
            </a:r>
            <a:endParaRPr lang="en-US" sz="166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0560" y="292608"/>
            <a:ext cx="108508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65" b="1" kern="0" spc="100" dirty="0">
                <a:solidFill>
                  <a:srgbClr val="2B7BBA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动机</a:t>
            </a:r>
            <a:endParaRPr lang="en-US" sz="1465" dirty="0"/>
          </a:p>
        </p:txBody>
      </p:sp>
      <p:sp>
        <p:nvSpPr>
          <p:cNvPr id="3" name="Text 1"/>
          <p:cNvSpPr/>
          <p:nvPr/>
        </p:nvSpPr>
        <p:spPr>
          <a:xfrm>
            <a:off x="670560" y="560832"/>
            <a:ext cx="10850880" cy="670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A37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要解决什么问题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70560" y="1255776"/>
            <a:ext cx="1097280" cy="42672"/>
          </a:xfrm>
          <a:prstGeom prst="rect">
            <a:avLst/>
          </a:prstGeom>
          <a:solidFill>
            <a:srgbClr val="2B7BBA"/>
          </a:solidFill>
        </p:spPr>
      </p:sp>
      <p:sp>
        <p:nvSpPr>
          <p:cNvPr id="5" name="Shape 3"/>
          <p:cNvSpPr/>
          <p:nvPr/>
        </p:nvSpPr>
        <p:spPr>
          <a:xfrm>
            <a:off x="731520" y="1536192"/>
            <a:ext cx="67056" cy="1243584"/>
          </a:xfrm>
          <a:prstGeom prst="rect">
            <a:avLst/>
          </a:prstGeom>
          <a:solidFill>
            <a:srgbClr val="2B7BBA"/>
          </a:solidFill>
        </p:spPr>
      </p:sp>
      <p:sp>
        <p:nvSpPr>
          <p:cNvPr id="6" name="Text 4"/>
          <p:cNvSpPr/>
          <p:nvPr/>
        </p:nvSpPr>
        <p:spPr>
          <a:xfrm>
            <a:off x="1036320" y="1536192"/>
            <a:ext cx="2682240" cy="12435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B7BBA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① 参数靠猜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779520" y="1536192"/>
            <a:ext cx="7741920" cy="12435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735" dirty="0">
                <a:solidFill>
                  <a:srgbClr val="1F2A37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清洗参数（比如 DP 容差、速度阈值）通常是手工试出来的，换个数据集就失效。</a:t>
            </a:r>
            <a:endParaRPr lang="en-US" sz="1735" dirty="0"/>
          </a:p>
        </p:txBody>
      </p:sp>
      <p:sp>
        <p:nvSpPr>
          <p:cNvPr id="8" name="Shape 6"/>
          <p:cNvSpPr/>
          <p:nvPr/>
        </p:nvSpPr>
        <p:spPr>
          <a:xfrm>
            <a:off x="731520" y="2999232"/>
            <a:ext cx="67056" cy="1243584"/>
          </a:xfrm>
          <a:prstGeom prst="rect">
            <a:avLst/>
          </a:prstGeom>
          <a:solidFill>
            <a:srgbClr val="C0392B"/>
          </a:solidFill>
        </p:spPr>
      </p:sp>
      <p:sp>
        <p:nvSpPr>
          <p:cNvPr id="9" name="Text 7"/>
          <p:cNvSpPr/>
          <p:nvPr/>
        </p:nvSpPr>
        <p:spPr>
          <a:xfrm>
            <a:off x="1036320" y="2999232"/>
            <a:ext cx="2682240" cy="12435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0392B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② 没法判分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779520" y="2999232"/>
            <a:ext cx="7741920" cy="12435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735" dirty="0">
                <a:solidFill>
                  <a:srgbClr val="1F2A37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让 LLM 给个参数很容易，但「它提得对不对」没有量化判据，只能靠人看。</a:t>
            </a:r>
            <a:endParaRPr lang="en-US" sz="1735" dirty="0"/>
          </a:p>
        </p:txBody>
      </p:sp>
      <p:sp>
        <p:nvSpPr>
          <p:cNvPr id="11" name="Shape 9"/>
          <p:cNvSpPr/>
          <p:nvPr/>
        </p:nvSpPr>
        <p:spPr>
          <a:xfrm>
            <a:off x="731520" y="4462272"/>
            <a:ext cx="67056" cy="1243584"/>
          </a:xfrm>
          <a:prstGeom prst="rect">
            <a:avLst/>
          </a:prstGeom>
          <a:solidFill>
            <a:srgbClr val="8A6D1F"/>
          </a:solidFill>
        </p:spPr>
      </p:sp>
      <p:sp>
        <p:nvSpPr>
          <p:cNvPr id="12" name="Text 10"/>
          <p:cNvSpPr/>
          <p:nvPr/>
        </p:nvSpPr>
        <p:spPr>
          <a:xfrm>
            <a:off x="1036320" y="4462272"/>
            <a:ext cx="2682240" cy="12435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A6D1F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③ 成本不可行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779520" y="4462272"/>
            <a:ext cx="7741920" cy="12435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735" dirty="0">
                <a:solidFill>
                  <a:srgbClr val="1F2A37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11386 条轨迹，每条都调 LLM 不现实，需要让结果可以复用。</a:t>
            </a:r>
            <a:endParaRPr lang="en-US" sz="1735" dirty="0"/>
          </a:p>
        </p:txBody>
      </p:sp>
      <p:sp>
        <p:nvSpPr>
          <p:cNvPr id="14" name="Shape 12"/>
          <p:cNvSpPr/>
          <p:nvPr/>
        </p:nvSpPr>
        <p:spPr>
          <a:xfrm>
            <a:off x="731520" y="5779008"/>
            <a:ext cx="10789920" cy="829056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5779008"/>
            <a:ext cx="67056" cy="829056"/>
          </a:xfrm>
          <a:prstGeom prst="rect">
            <a:avLst/>
          </a:prstGeom>
          <a:solidFill>
            <a:srgbClr val="2E8B57"/>
          </a:solidFill>
        </p:spPr>
      </p:sp>
      <p:sp>
        <p:nvSpPr>
          <p:cNvPr id="16" name="Text 14"/>
          <p:cNvSpPr/>
          <p:nvPr/>
        </p:nvSpPr>
        <p:spPr>
          <a:xfrm>
            <a:off x="1024128" y="5852160"/>
            <a:ext cx="10277856" cy="682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1600" dirty="0">
                <a:solidFill>
                  <a:srgbClr val="1F2A37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本课要讲的就是怎么同时解决②和③：把 LLM 的建议变成可自动判分的数字，并让结果可以复用。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033760" y="6266688"/>
            <a:ext cx="60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65" dirty="0">
                <a:solidFill>
                  <a:srgbClr val="AAB4BE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2</a:t>
            </a:r>
            <a:endParaRPr lang="en-US" sz="146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0560" y="292608"/>
            <a:ext cx="108508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65" b="1" kern="0" spc="100" dirty="0">
                <a:solidFill>
                  <a:srgbClr val="2B7BBA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方法总览</a:t>
            </a:r>
            <a:endParaRPr lang="en-US" sz="1465" dirty="0"/>
          </a:p>
        </p:txBody>
      </p:sp>
      <p:sp>
        <p:nvSpPr>
          <p:cNvPr id="3" name="Text 1"/>
          <p:cNvSpPr/>
          <p:nvPr/>
        </p:nvSpPr>
        <p:spPr>
          <a:xfrm>
            <a:off x="670560" y="560832"/>
            <a:ext cx="10850880" cy="670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A37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整体做法：四步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70560" y="1255776"/>
            <a:ext cx="1097280" cy="42672"/>
          </a:xfrm>
          <a:prstGeom prst="rect">
            <a:avLst/>
          </a:prstGeom>
          <a:solidFill>
            <a:srgbClr val="2B7BBA"/>
          </a:solidFill>
        </p:spPr>
      </p:sp>
      <p:sp>
        <p:nvSpPr>
          <p:cNvPr id="5" name="Shape 3"/>
          <p:cNvSpPr/>
          <p:nvPr/>
        </p:nvSpPr>
        <p:spPr>
          <a:xfrm>
            <a:off x="731520" y="1511808"/>
            <a:ext cx="2584704" cy="633984"/>
          </a:xfrm>
          <a:prstGeom prst="roundRect">
            <a:avLst>
              <a:gd name="adj" fmla="val 11538"/>
            </a:avLst>
          </a:prstGeom>
          <a:solidFill>
            <a:srgbClr val="2B7BBA"/>
          </a:solidFill>
          <a:ln w="12700">
            <a:solidFill>
              <a:srgbClr val="2B7BB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2480" y="1548384"/>
            <a:ext cx="2462784" cy="5608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第一步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2194560"/>
            <a:ext cx="2584704" cy="18288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12700">
            <a:solidFill>
              <a:srgbClr val="D8DE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2480" y="2231136"/>
            <a:ext cx="2462784" cy="17556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9056" y="2267712"/>
            <a:ext cx="2389632" cy="168249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35" dirty="0">
                <a:solidFill>
                  <a:srgbClr val="1F2A37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把数据变成
</a:t>
            </a:r>
            <a:endParaRPr lang="en-US" sz="1535" dirty="0"/>
          </a:p>
          <a:p>
            <a:pPr marL="0" indent="0" algn="ctr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535" b="1" dirty="0">
                <a:solidFill>
                  <a:srgbClr val="1F2A37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LLM 能读的输入
</a:t>
            </a:r>
            <a:endParaRPr lang="en-US" sz="1535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65" dirty="0">
                <a:solidFill>
                  <a:srgbClr val="5B6B7C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诊断卡 + 句柄</a:t>
            </a:r>
            <a:endParaRPr lang="en-US" sz="1535" dirty="0"/>
          </a:p>
        </p:txBody>
      </p:sp>
      <p:sp>
        <p:nvSpPr>
          <p:cNvPr id="10" name="Shape 8"/>
          <p:cNvSpPr/>
          <p:nvPr/>
        </p:nvSpPr>
        <p:spPr>
          <a:xfrm>
            <a:off x="3340608" y="1828800"/>
            <a:ext cx="182880" cy="0"/>
          </a:xfrm>
          <a:prstGeom prst="line">
            <a:avLst/>
          </a:prstGeom>
          <a:noFill/>
          <a:ln w="20320">
            <a:solidFill>
              <a:srgbClr val="5B6B7C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547872" y="1511808"/>
            <a:ext cx="2584704" cy="633984"/>
          </a:xfrm>
          <a:prstGeom prst="roundRect">
            <a:avLst>
              <a:gd name="adj" fmla="val 11538"/>
            </a:avLst>
          </a:prstGeom>
          <a:solidFill>
            <a:srgbClr val="8A6D1F"/>
          </a:solidFill>
          <a:ln w="12700">
            <a:solidFill>
              <a:srgbClr val="8A6D1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08832" y="1548384"/>
            <a:ext cx="2462784" cy="5608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第二步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547872" y="2194560"/>
            <a:ext cx="2584704" cy="18288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12700">
            <a:solidFill>
              <a:srgbClr val="D8DE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08832" y="2231136"/>
            <a:ext cx="2462784" cy="17556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45408" y="2267712"/>
            <a:ext cx="2389632" cy="168249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35" dirty="0">
                <a:solidFill>
                  <a:srgbClr val="1F2A37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让 LLM 决定
</a:t>
            </a:r>
            <a:endParaRPr lang="en-US" sz="1535" dirty="0"/>
          </a:p>
          <a:p>
            <a:pPr marL="0" indent="0" algn="ctr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535" b="1" dirty="0">
                <a:solidFill>
                  <a:srgbClr val="1F2A37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用什么工具、提什么参数
</a:t>
            </a:r>
            <a:endParaRPr lang="en-US" sz="1535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65" dirty="0">
                <a:solidFill>
                  <a:srgbClr val="5B6B7C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函数调用</a:t>
            </a:r>
            <a:endParaRPr lang="en-US" sz="1535" dirty="0"/>
          </a:p>
        </p:txBody>
      </p:sp>
      <p:sp>
        <p:nvSpPr>
          <p:cNvPr id="16" name="Shape 14"/>
          <p:cNvSpPr/>
          <p:nvPr/>
        </p:nvSpPr>
        <p:spPr>
          <a:xfrm>
            <a:off x="6156960" y="1828800"/>
            <a:ext cx="182880" cy="0"/>
          </a:xfrm>
          <a:prstGeom prst="line">
            <a:avLst/>
          </a:prstGeom>
          <a:noFill/>
          <a:ln w="20320">
            <a:solidFill>
              <a:srgbClr val="5B6B7C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364224" y="1511808"/>
            <a:ext cx="2584704" cy="633984"/>
          </a:xfrm>
          <a:prstGeom prst="roundRect">
            <a:avLst>
              <a:gd name="adj" fmla="val 11538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25184" y="1548384"/>
            <a:ext cx="2462784" cy="5608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第三步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364224" y="2194560"/>
            <a:ext cx="2584704" cy="18288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12700">
            <a:solidFill>
              <a:srgbClr val="D8DEE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25184" y="2231136"/>
            <a:ext cx="2462784" cy="17556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61760" y="2267712"/>
            <a:ext cx="2389632" cy="168249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35" dirty="0">
                <a:solidFill>
                  <a:srgbClr val="1F2A37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参数不靠猜
</a:t>
            </a:r>
            <a:endParaRPr lang="en-US" sz="1535" dirty="0"/>
          </a:p>
          <a:p>
            <a:pPr marL="0" indent="0" algn="ctr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535" b="1" dirty="0">
                <a:solidFill>
                  <a:srgbClr val="1F2A37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物理先验定区间
</a:t>
            </a:r>
            <a:endParaRPr lang="en-US" sz="1535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65" dirty="0">
                <a:solidFill>
                  <a:srgbClr val="5B6B7C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确定性代码给边界</a:t>
            </a:r>
            <a:endParaRPr lang="en-US" sz="1535" dirty="0"/>
          </a:p>
        </p:txBody>
      </p:sp>
      <p:sp>
        <p:nvSpPr>
          <p:cNvPr id="22" name="Shape 20"/>
          <p:cNvSpPr/>
          <p:nvPr/>
        </p:nvSpPr>
        <p:spPr>
          <a:xfrm>
            <a:off x="8973312" y="1828800"/>
            <a:ext cx="182880" cy="0"/>
          </a:xfrm>
          <a:prstGeom prst="line">
            <a:avLst/>
          </a:prstGeom>
          <a:noFill/>
          <a:ln w="20320">
            <a:solidFill>
              <a:srgbClr val="5B6B7C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180576" y="1511808"/>
            <a:ext cx="2584704" cy="633984"/>
          </a:xfrm>
          <a:prstGeom prst="roundRect">
            <a:avLst>
              <a:gd name="adj" fmla="val 11538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41536" y="1548384"/>
            <a:ext cx="2462784" cy="5608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第四步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180576" y="2194560"/>
            <a:ext cx="2584704" cy="18288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12700">
            <a:solidFill>
              <a:srgbClr val="D8DEE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41536" y="2231136"/>
            <a:ext cx="2462784" cy="17556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278112" y="2267712"/>
            <a:ext cx="2389632" cy="168249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35" dirty="0">
                <a:solidFill>
                  <a:srgbClr val="1F2A37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核验它的建议
</a:t>
            </a:r>
            <a:endParaRPr lang="en-US" sz="1535" dirty="0"/>
          </a:p>
          <a:p>
            <a:pPr marL="0" indent="0" algn="ctr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535" b="1" dirty="0">
                <a:solidFill>
                  <a:srgbClr val="1F2A37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跟确定性搜索最优比
</a:t>
            </a:r>
            <a:endParaRPr lang="en-US" sz="1535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65" dirty="0">
                <a:solidFill>
                  <a:srgbClr val="5B6B7C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regret 判分</a:t>
            </a:r>
            <a:endParaRPr lang="en-US" sz="1535" dirty="0"/>
          </a:p>
        </p:txBody>
      </p:sp>
      <p:sp>
        <p:nvSpPr>
          <p:cNvPr id="28" name="Shape 26"/>
          <p:cNvSpPr/>
          <p:nvPr/>
        </p:nvSpPr>
        <p:spPr>
          <a:xfrm>
            <a:off x="731520" y="4291584"/>
            <a:ext cx="10789920" cy="85344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0" y="4291584"/>
            <a:ext cx="67056" cy="853440"/>
          </a:xfrm>
          <a:prstGeom prst="rect">
            <a:avLst/>
          </a:prstGeom>
          <a:solidFill>
            <a:srgbClr val="2B7BBA"/>
          </a:solidFill>
        </p:spPr>
      </p:sp>
      <p:sp>
        <p:nvSpPr>
          <p:cNvPr id="30" name="Text 28"/>
          <p:cNvSpPr/>
          <p:nvPr/>
        </p:nvSpPr>
        <p:spPr>
          <a:xfrm>
            <a:off x="1024128" y="4364736"/>
            <a:ext cx="10277856" cy="7071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1600" dirty="0">
                <a:solidFill>
                  <a:srgbClr val="1F2A37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LLM 只出现在第二步。第一步用确定性统计替代它的语感，第三、四步用确定性搜索替代人的判断。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31520" y="5266944"/>
            <a:ext cx="10789920" cy="1036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F2A37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这样做的结果：LLM 的建议好坏变成一个数字，而不是一段需要人读的解释。</a:t>
            </a:r>
            <a:endParaRPr lang="en-US" sz="1600" dirty="0"/>
          </a:p>
          <a:p>
            <a:pPr marL="342900" indent="-342900">
              <a:lnSpc>
                <a:spcPct val="118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5B6B7C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同时因为第三、四步是确定性的，它们不消耗 API 调用，成本是可控的。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1033760" y="6266688"/>
            <a:ext cx="60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65" dirty="0">
                <a:solidFill>
                  <a:srgbClr val="AAB4BE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3</a:t>
            </a:r>
            <a:endParaRPr lang="en-US" sz="146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87680" y="228092"/>
            <a:ext cx="10850880" cy="670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A37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第一步：把数据变成 LLM 能读的输入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70560" y="951823"/>
            <a:ext cx="1097280" cy="42672"/>
          </a:xfrm>
          <a:prstGeom prst="rect">
            <a:avLst/>
          </a:prstGeom>
          <a:solidFill>
            <a:srgbClr val="2B7BBA"/>
          </a:solidFill>
        </p:spPr>
      </p:sp>
      <p:sp>
        <p:nvSpPr>
          <p:cNvPr id="5" name="Text 3"/>
          <p:cNvSpPr/>
          <p:nvPr/>
        </p:nvSpPr>
        <p:spPr>
          <a:xfrm>
            <a:off x="731520" y="1560830"/>
            <a:ext cx="6515100" cy="43891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spcAft>
                <a:spcPts val="800"/>
              </a:spcAft>
              <a:buSzPct val="100000"/>
              <a:buChar char="●"/>
            </a:pPr>
            <a:r>
              <a:rPr lang="en-US" sz="1935" dirty="0">
                <a:solidFill>
                  <a:srgbClr val="C0392B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117 万个点不可能进上下文。</a:t>
            </a:r>
            <a:endParaRPr lang="en-US" sz="1935" dirty="0"/>
          </a:p>
          <a:p>
            <a:pPr marL="342900" indent="-342900">
              <a:lnSpc>
                <a:spcPct val="118000"/>
              </a:lnSpc>
              <a:spcAft>
                <a:spcPts val="500"/>
              </a:spcAft>
              <a:buSzPct val="100000"/>
              <a:buChar char="●"/>
            </a:pPr>
            <a:r>
              <a:rPr lang="en-US" sz="1735" dirty="0">
                <a:solidFill>
                  <a:srgbClr val="1F2A37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所以只给两样东西：</a:t>
            </a:r>
            <a:endParaRPr lang="en-US" sz="1935" dirty="0"/>
          </a:p>
          <a:p>
            <a:pPr marL="685800" lvl="1" indent="-342900">
              <a:lnSpc>
                <a:spcPct val="118000"/>
              </a:lnSpc>
              <a:spcAft>
                <a:spcPts val="400"/>
              </a:spcAft>
              <a:buSzPct val="100000"/>
              <a:buChar char="●"/>
            </a:pPr>
            <a:r>
              <a:rPr lang="en-US" sz="1735" dirty="0">
                <a:solidFill>
                  <a:srgbClr val="1F2A37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句柄字符串，例如 246#0@v3</a:t>
            </a:r>
            <a:endParaRPr lang="en-US" sz="1935" dirty="0"/>
          </a:p>
          <a:p>
            <a:pPr marL="685800" lvl="1" indent="-342900">
              <a:lnSpc>
                <a:spcPct val="118000"/>
              </a:lnSpc>
              <a:spcAft>
                <a:spcPts val="900"/>
              </a:spcAft>
              <a:buSzPct val="100000"/>
              <a:buChar char="●"/>
            </a:pPr>
            <a:r>
              <a:rPr lang="en-US" sz="1735" dirty="0">
                <a:solidFill>
                  <a:srgbClr val="1F2A37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一张诊断卡，只含标量统计</a:t>
            </a:r>
            <a:endParaRPr lang="en-US" sz="1935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●"/>
            </a:pPr>
            <a:r>
              <a:rPr lang="en-US" sz="1735" dirty="0">
                <a:solidFill>
                  <a:srgbClr val="5B6B7C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诊断卡约 400 到 600 字节。11386 条全量也只有几 MB。</a:t>
            </a:r>
            <a:endParaRPr lang="en-US" sz="1935" dirty="0"/>
          </a:p>
          <a:p>
            <a:pPr marL="342900" indent="-342900">
              <a:lnSpc>
                <a:spcPct val="118000"/>
              </a:lnSpc>
              <a:spcAft>
                <a:spcPts val="800"/>
              </a:spcAft>
              <a:buSzPct val="100000"/>
              <a:buChar char="●"/>
            </a:pPr>
            <a:r>
              <a:rPr lang="en-US" sz="1735" dirty="0">
                <a:solidFill>
                  <a:srgbClr val="2B7BBA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每次清洗或压缩产生新句柄并记录血缘，过程可完整重放。</a:t>
            </a:r>
            <a:endParaRPr lang="en-US" sz="1935" dirty="0"/>
          </a:p>
        </p:txBody>
      </p:sp>
      <p:sp>
        <p:nvSpPr>
          <p:cNvPr id="8" name="Text 6"/>
          <p:cNvSpPr/>
          <p:nvPr/>
        </p:nvSpPr>
        <p:spPr>
          <a:xfrm>
            <a:off x="731520" y="6120384"/>
            <a:ext cx="10789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C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诊断卡里最有用的是 regime 和时间轴质量，它们直接决定该用哪套参数</a:t>
            </a:r>
            <a:endParaRPr lang="en-US" sz="1400" dirty="0"/>
          </a:p>
        </p:txBody>
      </p:sp>
      <p:grpSp>
        <p:nvGrpSpPr>
          <p:cNvPr id="2" name="组合 1"/>
          <p:cNvGrpSpPr/>
          <p:nvPr/>
        </p:nvGrpSpPr>
        <p:grpSpPr>
          <a:xfrm>
            <a:off x="7536180" y="762000"/>
            <a:ext cx="4511040" cy="5842635"/>
            <a:chOff x="11232" y="1244"/>
            <a:chExt cx="7104" cy="9201"/>
          </a:xfrm>
        </p:grpSpPr>
        <p:sp>
          <p:nvSpPr>
            <p:cNvPr id="6" name="Shape 4"/>
            <p:cNvSpPr/>
            <p:nvPr/>
          </p:nvSpPr>
          <p:spPr>
            <a:xfrm>
              <a:off x="11232" y="1244"/>
              <a:ext cx="6912" cy="9157"/>
            </a:xfrm>
            <a:prstGeom prst="rect">
              <a:avLst/>
            </a:prstGeom>
            <a:solidFill>
              <a:srgbClr val="1B2B3A"/>
            </a:solidFill>
          </p:spPr>
        </p:sp>
        <p:sp>
          <p:nvSpPr>
            <p:cNvPr id="7" name="Text 5"/>
            <p:cNvSpPr/>
            <p:nvPr/>
          </p:nvSpPr>
          <p:spPr>
            <a:xfrm>
              <a:off x="11520" y="1299"/>
              <a:ext cx="6336" cy="6624"/>
            </a:xfrm>
            <a:prstGeom prst="rect">
              <a:avLst/>
            </a:prstGeom>
            <a:noFill/>
          </p:spPr>
          <p:txBody>
            <a:bodyPr wrap="square" rtlCol="0" anchor="t"/>
            <a:lstStyle/>
            <a:p>
              <a:pPr marL="0" indent="0">
                <a:lnSpc>
                  <a:spcPct val="115000"/>
                </a:lnSpc>
                <a:buNone/>
              </a:pPr>
              <a:r>
                <a:rPr lang="en-US" sz="1265" dirty="0">
                  <a:solidFill>
                    <a:srgbClr val="6A9955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// 诊断卡（无任何坐标）
</a:t>
              </a:r>
              <a:endParaRPr lang="en-US" sz="1265" dirty="0"/>
            </a:p>
            <a:p>
              <a:pPr marL="0" indent="0">
                <a:lnSpc>
                  <a:spcPct val="115000"/>
                </a:lnSpc>
                <a:buNone/>
              </a:pPr>
              <a:r>
                <a:rPr lang="en-US" sz="1265" dirty="0">
                  <a:solidFill>
                    <a:srgbClr val="9CDCFE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seg_id:     246#0@v3
</a:t>
              </a:r>
              <a:endParaRPr lang="en-US" sz="1265" dirty="0"/>
            </a:p>
            <a:p>
              <a:pPr marL="0" indent="0">
                <a:lnSpc>
                  <a:spcPct val="115000"/>
                </a:lnSpc>
                <a:buNone/>
              </a:pPr>
              <a:r>
                <a:rPr lang="en-US" sz="1265" dirty="0">
                  <a:solidFill>
                    <a:srgbClr val="9CDCFE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n_points:   106
</a:t>
              </a:r>
              <a:endParaRPr lang="en-US" sz="1265" dirty="0"/>
            </a:p>
            <a:p>
              <a:pPr marL="0" indent="0">
                <a:lnSpc>
                  <a:spcPct val="115000"/>
                </a:lnSpc>
                <a:buNone/>
              </a:pPr>
              <a:r>
                <a:rPr lang="en-US" sz="1265" dirty="0">
                  <a:solidFill>
                    <a:srgbClr val="CE9178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regime:     moving
</a:t>
              </a:r>
              <a:endParaRPr lang="en-US" sz="1265" dirty="0"/>
            </a:p>
            <a:p>
              <a:pPr marL="0" indent="0">
                <a:lnSpc>
                  <a:spcPct val="115000"/>
                </a:lnSpc>
                <a:buNone/>
              </a:pPr>
              <a:r>
                <a:rPr lang="en-US" sz="1265" dirty="0">
                  <a:solidFill>
                    <a:srgbClr val="CE9178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timeline:   ok
</a:t>
              </a:r>
              <a:endParaRPr lang="en-US" sz="1265" dirty="0"/>
            </a:p>
            <a:p>
              <a:pPr marL="0" indent="0">
                <a:lnSpc>
                  <a:spcPct val="115000"/>
                </a:lnSpc>
                <a:buNone/>
              </a:pPr>
              <a:r>
                <a:rPr lang="en-US" sz="1265" dirty="0">
                  <a:solidFill>
                    <a:srgbClr val="9CDCFE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dt_median:  10.0
</a:t>
              </a:r>
              <a:endParaRPr lang="en-US" sz="1265" dirty="0"/>
            </a:p>
            <a:p>
              <a:pPr marL="0" indent="0">
                <a:lnSpc>
                  <a:spcPct val="115000"/>
                </a:lnSpc>
                <a:buNone/>
              </a:pPr>
              <a:r>
                <a:rPr lang="en-US" sz="1265" dirty="0">
                  <a:solidFill>
                    <a:srgbClr val="9CDCFE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dt_p95:     20.0
</a:t>
              </a:r>
              <a:endParaRPr lang="en-US" sz="1265" dirty="0"/>
            </a:p>
            <a:p>
              <a:pPr marL="0" indent="0">
                <a:lnSpc>
                  <a:spcPct val="115000"/>
                </a:lnSpc>
                <a:buNone/>
              </a:pPr>
              <a:r>
                <a:rPr lang="en-US" sz="1265" dirty="0">
                  <a:solidFill>
                    <a:srgbClr val="9CDCFE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dup_ratio:  0.019
</a:t>
              </a:r>
              <a:endParaRPr lang="en-US" sz="1265" dirty="0"/>
            </a:p>
            <a:p>
              <a:pPr marL="0" indent="0">
                <a:lnSpc>
                  <a:spcPct val="115000"/>
                </a:lnSpc>
                <a:buNone/>
              </a:pPr>
              <a:r>
                <a:rPr lang="en-US" sz="1265" dirty="0">
                  <a:solidFill>
                    <a:srgbClr val="9CDCFE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speed_p99:  100.77
</a:t>
              </a:r>
              <a:endParaRPr lang="en-US" sz="1265" dirty="0"/>
            </a:p>
            <a:p>
              <a:pPr marL="0" indent="0">
                <a:lnSpc>
                  <a:spcPct val="115000"/>
                </a:lnSpc>
                <a:buNone/>
              </a:pPr>
              <a:r>
                <a:rPr lang="en-US" sz="1265" dirty="0">
                  <a:solidFill>
                    <a:srgbClr val="9CDCFE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anomalies:  {
</a:t>
              </a:r>
              <a:endParaRPr lang="en-US" sz="1265" dirty="0"/>
            </a:p>
            <a:p>
              <a:pPr marL="0" indent="0">
                <a:lnSpc>
                  <a:spcPct val="115000"/>
                </a:lnSpc>
                <a:buNone/>
              </a:pPr>
              <a:r>
                <a:rPr lang="en-US" sz="1265" dirty="0">
                  <a:solidFill>
                    <a:srgbClr val="9CDCFE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dt_artifact: 4,
</a:t>
              </a:r>
              <a:endParaRPr lang="en-US" sz="1265" dirty="0"/>
            </a:p>
            <a:p>
              <a:pPr marL="0" indent="0">
                <a:lnSpc>
                  <a:spcPct val="115000"/>
                </a:lnSpc>
                <a:buNone/>
              </a:pPr>
              <a:r>
                <a:rPr lang="en-US" sz="1265" dirty="0">
                  <a:solidFill>
                    <a:srgbClr val="9CDCFE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space_jump:  9 }
</a:t>
              </a:r>
              <a:endParaRPr lang="en-US" sz="1265" dirty="0"/>
            </a:p>
            <a:p>
              <a:pPr marL="0" indent="0">
                <a:lnSpc>
                  <a:spcPct val="115000"/>
                </a:lnSpc>
                <a:buNone/>
              </a:pPr>
              <a:r>
                <a:rPr lang="en-US" sz="1265" dirty="0">
                  <a:solidFill>
                    <a:srgbClr val="6A9955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// 没有 coords 字段</a:t>
              </a:r>
              <a:endParaRPr lang="en-US" sz="1265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17376" y="9869"/>
              <a:ext cx="960" cy="576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1465" dirty="0">
                  <a:solidFill>
                    <a:srgbClr val="AAB4BE"/>
                  </a:solidFill>
                  <a:latin typeface="Arial" panose="020B0704020202020204" pitchFamily="34" charset="0"/>
                  <a:ea typeface="Arial" panose="020B0704020202020204" pitchFamily="34" charset="-122"/>
                  <a:cs typeface="Arial" panose="020B0704020202020204" pitchFamily="34" charset="-120"/>
                </a:rPr>
                <a:t>4</a:t>
              </a:r>
              <a:endParaRPr lang="en-US" sz="1465" dirty="0"/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0560" y="292608"/>
            <a:ext cx="108508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65" b="1" kern="0" spc="100" dirty="0">
                <a:solidFill>
                  <a:srgbClr val="2B7BBA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关键前提</a:t>
            </a:r>
            <a:endParaRPr lang="en-US" sz="1465" dirty="0"/>
          </a:p>
        </p:txBody>
      </p:sp>
      <p:sp>
        <p:nvSpPr>
          <p:cNvPr id="3" name="Text 1"/>
          <p:cNvSpPr/>
          <p:nvPr/>
        </p:nvSpPr>
        <p:spPr>
          <a:xfrm>
            <a:off x="670560" y="560832"/>
            <a:ext cx="10850880" cy="670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A37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为什么要先分类型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70560" y="1255776"/>
            <a:ext cx="1097280" cy="42672"/>
          </a:xfrm>
          <a:prstGeom prst="rect">
            <a:avLst/>
          </a:prstGeom>
          <a:solidFill>
            <a:srgbClr val="2B7BBA"/>
          </a:solidFill>
        </p:spPr>
      </p:sp>
      <p:sp>
        <p:nvSpPr>
          <p:cNvPr id="5" name="Shape 3"/>
          <p:cNvSpPr/>
          <p:nvPr/>
        </p:nvSpPr>
        <p:spPr>
          <a:xfrm>
            <a:off x="768096" y="4718304"/>
            <a:ext cx="4389120" cy="0"/>
          </a:xfrm>
          <a:prstGeom prst="line">
            <a:avLst/>
          </a:prstGeom>
          <a:noFill/>
          <a:ln w="15240">
            <a:solidFill>
              <a:srgbClr val="D8DE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920240"/>
            <a:ext cx="755904" cy="2798064"/>
          </a:xfrm>
          <a:prstGeom prst="rect">
            <a:avLst/>
          </a:prstGeom>
          <a:solidFill>
            <a:srgbClr val="6C7A89"/>
          </a:solidFill>
          <a:ln w="12700">
            <a:solidFill>
              <a:srgbClr val="6C7A8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5360" y="1956816"/>
            <a:ext cx="633984" cy="2724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505712"/>
            <a:ext cx="75590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65" b="1" dirty="0">
                <a:solidFill>
                  <a:srgbClr val="6C7A89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63%</a:t>
            </a:r>
            <a:endParaRPr lang="en-US" sz="1865" dirty="0"/>
          </a:p>
        </p:txBody>
      </p:sp>
      <p:sp>
        <p:nvSpPr>
          <p:cNvPr id="9" name="Text 7"/>
          <p:cNvSpPr/>
          <p:nvPr/>
        </p:nvSpPr>
        <p:spPr>
          <a:xfrm>
            <a:off x="694944" y="4791456"/>
            <a:ext cx="1194816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35" dirty="0">
                <a:solidFill>
                  <a:srgbClr val="1F2A37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静止轨迹</a:t>
            </a:r>
            <a:endParaRPr lang="en-US" sz="1535" dirty="0"/>
          </a:p>
        </p:txBody>
      </p:sp>
      <p:sp>
        <p:nvSpPr>
          <p:cNvPr id="10" name="Shape 8"/>
          <p:cNvSpPr/>
          <p:nvPr/>
        </p:nvSpPr>
        <p:spPr>
          <a:xfrm>
            <a:off x="2889504" y="3963271"/>
            <a:ext cx="755904" cy="755033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50464" y="3999847"/>
            <a:ext cx="633984" cy="681881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889504" y="3548743"/>
            <a:ext cx="75590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65" b="1" dirty="0">
                <a:solidFill>
                  <a:srgbClr val="E8A33D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17%</a:t>
            </a:r>
            <a:endParaRPr lang="en-US" sz="1865" dirty="0"/>
          </a:p>
        </p:txBody>
      </p:sp>
      <p:sp>
        <p:nvSpPr>
          <p:cNvPr id="13" name="Text 11"/>
          <p:cNvSpPr/>
          <p:nvPr/>
        </p:nvSpPr>
        <p:spPr>
          <a:xfrm>
            <a:off x="2670048" y="4791456"/>
            <a:ext cx="1194816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35" dirty="0">
                <a:solidFill>
                  <a:srgbClr val="1F2A37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混合</a:t>
            </a:r>
            <a:endParaRPr lang="en-US" sz="1535" dirty="0"/>
          </a:p>
        </p:txBody>
      </p:sp>
      <p:sp>
        <p:nvSpPr>
          <p:cNvPr id="14" name="Shape 12"/>
          <p:cNvSpPr/>
          <p:nvPr/>
        </p:nvSpPr>
        <p:spPr>
          <a:xfrm>
            <a:off x="4864608" y="3830029"/>
            <a:ext cx="755904" cy="888275"/>
          </a:xfrm>
          <a:prstGeom prst="rect">
            <a:avLst/>
          </a:prstGeom>
          <a:solidFill>
            <a:srgbClr val="2B7BBA"/>
          </a:solidFill>
          <a:ln w="12700">
            <a:solidFill>
              <a:srgbClr val="2B7BB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25568" y="3866605"/>
            <a:ext cx="633984" cy="815123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64608" y="3415501"/>
            <a:ext cx="75590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65" b="1" dirty="0">
                <a:solidFill>
                  <a:srgbClr val="2B7BB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20%</a:t>
            </a:r>
            <a:endParaRPr lang="en-US" sz="1865" dirty="0"/>
          </a:p>
        </p:txBody>
      </p:sp>
      <p:sp>
        <p:nvSpPr>
          <p:cNvPr id="17" name="Text 15"/>
          <p:cNvSpPr/>
          <p:nvPr/>
        </p:nvSpPr>
        <p:spPr>
          <a:xfrm>
            <a:off x="4645152" y="4791456"/>
            <a:ext cx="1194816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35" dirty="0">
                <a:solidFill>
                  <a:srgbClr val="1F2A37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行驶轨迹</a:t>
            </a:r>
            <a:endParaRPr lang="en-US" sz="1535" dirty="0"/>
          </a:p>
        </p:txBody>
      </p:sp>
      <p:sp>
        <p:nvSpPr>
          <p:cNvPr id="18" name="Text 16"/>
          <p:cNvSpPr/>
          <p:nvPr/>
        </p:nvSpPr>
        <p:spPr>
          <a:xfrm>
            <a:off x="731520" y="5266944"/>
            <a:ext cx="4754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65" dirty="0">
                <a:solidFill>
                  <a:srgbClr val="5B6B7C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200 条抽样的轨迹类型分布</a:t>
            </a:r>
            <a:endParaRPr lang="en-US" sz="1465" dirty="0"/>
          </a:p>
        </p:txBody>
      </p:sp>
      <p:sp>
        <p:nvSpPr>
          <p:cNvPr id="19" name="Text 17"/>
          <p:cNvSpPr/>
          <p:nvPr/>
        </p:nvSpPr>
        <p:spPr>
          <a:xfrm>
            <a:off x="6522720" y="1584960"/>
            <a:ext cx="4998720" cy="43891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spcAft>
                <a:spcPts val="800"/>
              </a:spcAft>
              <a:buSzPct val="100000"/>
              <a:buChar char="●"/>
            </a:pPr>
            <a:r>
              <a:rPr lang="en-US" sz="1800" dirty="0">
                <a:solidFill>
                  <a:srgbClr val="C0392B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静止与行驶是两个完全不同的群体。</a:t>
            </a:r>
            <a:endParaRPr lang="en-US" sz="1800" dirty="0"/>
          </a:p>
          <a:p>
            <a:pPr marL="342900" indent="-342900">
              <a:lnSpc>
                <a:spcPct val="118000"/>
              </a:lnSpc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F2A37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静止轨迹：位移中位 42 米，重复点可占 90%，中位速度 0.1 m/s。</a:t>
            </a:r>
            <a:endParaRPr lang="en-US" sz="180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●"/>
            </a:pPr>
            <a:r>
              <a:rPr lang="en-US" sz="1600" dirty="0">
                <a:solidFill>
                  <a:srgbClr val="1F2A37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行驶轨迹：位移数公里至 20 公里，重复点通常低于 10%。</a:t>
            </a:r>
            <a:endParaRPr lang="en-US" sz="180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●"/>
            </a:pPr>
            <a:r>
              <a:rPr lang="en-US" sz="1600" b="1" dirty="0">
                <a:solidFill>
                  <a:srgbClr val="2B7BBA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对这两类用同一套阈值，不是效果差一点，而是对其中一半数据完全失效。</a:t>
            </a:r>
            <a:endParaRPr lang="en-US" sz="1800" dirty="0"/>
          </a:p>
          <a:p>
            <a:pPr marL="342900" indent="-342900">
              <a:lnSpc>
                <a:spcPct val="118000"/>
              </a:lnSpc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5B6B7C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所以诊断卡把类型放在最前面，LLM 一眼就能看到该换参数。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31520" y="6120384"/>
            <a:ext cx="10789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C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占比来自 200 条抽样的实测统计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033760" y="6266688"/>
            <a:ext cx="60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65" dirty="0">
                <a:solidFill>
                  <a:srgbClr val="AAB4BE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5</a:t>
            </a:r>
            <a:endParaRPr lang="en-US" sz="1465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0560" y="292608"/>
            <a:ext cx="108508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65" b="1" kern="0" spc="100" dirty="0">
                <a:solidFill>
                  <a:srgbClr val="2B7BBA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做法</a:t>
            </a:r>
            <a:endParaRPr lang="en-US" sz="1465" dirty="0"/>
          </a:p>
        </p:txBody>
      </p:sp>
      <p:sp>
        <p:nvSpPr>
          <p:cNvPr id="3" name="Text 1"/>
          <p:cNvSpPr/>
          <p:nvPr/>
        </p:nvSpPr>
        <p:spPr>
          <a:xfrm>
            <a:off x="670560" y="560832"/>
            <a:ext cx="10850880" cy="670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A37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第二步：给 LLM 的工具箱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70560" y="1255776"/>
            <a:ext cx="1097280" cy="42672"/>
          </a:xfrm>
          <a:prstGeom prst="rect">
            <a:avLst/>
          </a:prstGeom>
          <a:solidFill>
            <a:srgbClr val="2B7BBA"/>
          </a:solidFill>
        </p:spPr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731520" y="1420029"/>
          <a:ext cx="10789920" cy="4010660"/>
        </p:xfrm>
        <a:graphic>
          <a:graphicData uri="http://schemas.openxmlformats.org/drawingml/2006/table">
            <a:tbl>
              <a:tblPr/>
              <a:tblGrid>
                <a:gridCol w="1767840"/>
                <a:gridCol w="5364480"/>
                <a:gridCol w="3657600"/>
              </a:tblGrid>
              <a:tr h="3797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微软雅黑" charset="0"/>
                          <a:ea typeface="微软雅黑" panose="020B0503020204020204" pitchFamily="34" charset="-122"/>
                          <a:cs typeface="微软雅黑" pitchFamily="34" charset="-120"/>
                        </a:rPr>
                        <a:t>类别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A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微软雅黑" charset="0"/>
                          <a:ea typeface="微软雅黑" panose="020B0503020204020204" pitchFamily="34" charset="-122"/>
                          <a:cs typeface="微软雅黑" pitchFamily="34" charset="-120"/>
                        </a:rPr>
                        <a:t>工具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A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微软雅黑" charset="0"/>
                          <a:ea typeface="微软雅黑" panose="020B0503020204020204" pitchFamily="34" charset="-122"/>
                          <a:cs typeface="微软雅黑" pitchFamily="34" charset="-120"/>
                        </a:rPr>
                        <a:t>作用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A63"/>
                    </a:solidFill>
                  </a:tcPr>
                </a:tc>
              </a:tr>
              <a:tr h="10934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65" dirty="0">
                          <a:solidFill>
                            <a:srgbClr val="1F2A37"/>
                          </a:solidFill>
                          <a:latin typeface="微软雅黑" charset="0"/>
                          <a:ea typeface="微软雅黑" panose="020B0503020204020204" pitchFamily="34" charset="-122"/>
                          <a:cs typeface="微软雅黑" pitchFamily="34" charset="-120"/>
                        </a:rPr>
                        <a:t>查数据</a:t>
                      </a:r>
                      <a:endParaRPr lang="en-US" sz="1465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65" dirty="0">
                          <a:solidFill>
                            <a:srgbClr val="1F2A37"/>
                          </a:solidFill>
                          <a:latin typeface="微软雅黑" charset="0"/>
                          <a:ea typeface="微软雅黑" panose="020B0503020204020204" pitchFamily="34" charset="-122"/>
                          <a:cs typeface="微软雅黑" pitchFamily="34" charset="-120"/>
                        </a:rPr>
                        <a:t>profile · detect_anomalies · evaluate · compare_handles</a:t>
                      </a:r>
                      <a:endParaRPr lang="en-US" sz="1465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65" dirty="0">
                          <a:solidFill>
                            <a:srgbClr val="1F2A37"/>
                          </a:solidFill>
                          <a:latin typeface="微软雅黑" charset="0"/>
                          <a:ea typeface="微软雅黑" panose="020B0503020204020204" pitchFamily="34" charset="-122"/>
                          <a:cs typeface="微软雅黑" pitchFamily="34" charset="-120"/>
                        </a:rPr>
                        <a:t>返回标量统计，不含坐标</a:t>
                      </a:r>
                      <a:endParaRPr lang="en-US" sz="1465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725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65" dirty="0">
                          <a:solidFill>
                            <a:srgbClr val="1F2A37"/>
                          </a:solidFill>
                          <a:latin typeface="微软雅黑" charset="0"/>
                          <a:ea typeface="微软雅黑" panose="020B0503020204020204" pitchFamily="34" charset="-122"/>
                          <a:cs typeface="微软雅黑" pitchFamily="34" charset="-120"/>
                        </a:rPr>
                        <a:t>改数据</a:t>
                      </a:r>
                      <a:endParaRPr lang="en-US" sz="1465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65" dirty="0">
                          <a:solidFill>
                            <a:srgbClr val="1F2A37"/>
                          </a:solidFill>
                          <a:latin typeface="微软雅黑" charset="0"/>
                          <a:ea typeface="微软雅黑" panose="020B0503020204020204" pitchFamily="34" charset="-122"/>
                          <a:cs typeface="微软雅黑" pitchFamily="34" charset="-120"/>
                        </a:rPr>
                        <a:t>split · clean · simplify · apply_road_constraint</a:t>
                      </a:r>
                      <a:endParaRPr lang="en-US" sz="1465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65" dirty="0">
                          <a:solidFill>
                            <a:srgbClr val="1F2A37"/>
                          </a:solidFill>
                          <a:latin typeface="微软雅黑" charset="0"/>
                          <a:ea typeface="微软雅黑" panose="020B0503020204020204" pitchFamily="34" charset="-122"/>
                          <a:cs typeface="微软雅黑" pitchFamily="34" charset="-120"/>
                        </a:rPr>
                        <a:t>产生新句柄</a:t>
                      </a:r>
                      <a:endParaRPr lang="en-US" sz="1465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16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65" dirty="0">
                          <a:solidFill>
                            <a:srgbClr val="1F2A37"/>
                          </a:solidFill>
                          <a:latin typeface="微软雅黑" charset="0"/>
                          <a:ea typeface="微软雅黑" panose="020B0503020204020204" pitchFamily="34" charset="-122"/>
                          <a:cs typeface="微软雅黑" pitchFamily="34" charset="-120"/>
                        </a:rPr>
                        <a:t>做实验</a:t>
                      </a:r>
                      <a:endParaRPr lang="en-US" sz="1465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65" dirty="0">
                          <a:solidFill>
                            <a:srgbClr val="1F2A37"/>
                          </a:solidFill>
                          <a:latin typeface="微软雅黑" charset="0"/>
                          <a:ea typeface="微软雅黑" panose="020B0503020204020204" pitchFamily="34" charset="-122"/>
                          <a:cs typeface="微软雅黑" pitchFamily="34" charset="-120"/>
                        </a:rPr>
                        <a:t>run_search · find_knee · suggest_param_range</a:t>
                      </a:r>
                      <a:endParaRPr lang="en-US" sz="1465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65" dirty="0">
                          <a:solidFill>
                            <a:srgbClr val="1F2A37"/>
                          </a:solidFill>
                          <a:latin typeface="微软雅黑" charset="0"/>
                          <a:ea typeface="微软雅黑" panose="020B0503020204020204" pitchFamily="34" charset="-122"/>
                          <a:cs typeface="微软雅黑" pitchFamily="34" charset="-120"/>
                        </a:rPr>
                        <a:t>扫描参数、取拐点</a:t>
                      </a:r>
                      <a:endParaRPr lang="en-US" sz="1465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97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65" dirty="0">
                          <a:solidFill>
                            <a:srgbClr val="1F2A37"/>
                          </a:solidFill>
                          <a:latin typeface="微软雅黑" charset="0"/>
                          <a:ea typeface="微软雅黑" panose="020B0503020204020204" pitchFamily="34" charset="-122"/>
                          <a:cs typeface="微软雅黑" pitchFamily="34" charset="-120"/>
                        </a:rPr>
                        <a:t>查经验</a:t>
                      </a:r>
                      <a:endParaRPr lang="en-US" sz="1465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65" dirty="0">
                          <a:solidFill>
                            <a:srgbClr val="1F2A37"/>
                          </a:solidFill>
                          <a:latin typeface="微软雅黑" charset="0"/>
                          <a:ea typeface="微软雅黑" panose="020B0503020204020204" pitchFamily="34" charset="-122"/>
                          <a:cs typeface="微软雅黑" pitchFamily="34" charset="-120"/>
                        </a:rPr>
                        <a:t>query_memory · query_playbook</a:t>
                      </a:r>
                      <a:endParaRPr lang="en-US" sz="1465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65" dirty="0">
                          <a:solidFill>
                            <a:srgbClr val="1F2A37"/>
                          </a:solidFill>
                          <a:latin typeface="微软雅黑" charset="0"/>
                          <a:ea typeface="微软雅黑" panose="020B0503020204020204" pitchFamily="34" charset="-122"/>
                          <a:cs typeface="微软雅黑" pitchFamily="34" charset="-120"/>
                        </a:rPr>
                        <a:t>相似案例 + 人类笔记</a:t>
                      </a:r>
                      <a:endParaRPr lang="en-US" sz="1465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90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65" dirty="0">
                          <a:solidFill>
                            <a:srgbClr val="1F2A37"/>
                          </a:solidFill>
                          <a:latin typeface="微软雅黑" charset="0"/>
                          <a:ea typeface="微软雅黑" panose="020B0503020204020204" pitchFamily="34" charset="-122"/>
                          <a:cs typeface="微软雅黑" pitchFamily="34" charset="-120"/>
                        </a:rPr>
                        <a:t>出图</a:t>
                      </a:r>
                      <a:endParaRPr lang="en-US" sz="1465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65" dirty="0">
                          <a:solidFill>
                            <a:srgbClr val="1F2A37"/>
                          </a:solidFill>
                          <a:latin typeface="微软雅黑" charset="0"/>
                          <a:ea typeface="微软雅黑" panose="020B0503020204020204" pitchFamily="34" charset="-122"/>
                          <a:cs typeface="微软雅黑" pitchFamily="34" charset="-120"/>
                        </a:rPr>
                        <a:t>render</a:t>
                      </a:r>
                      <a:endParaRPr lang="en-US" sz="1465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65" dirty="0">
                          <a:solidFill>
                            <a:srgbClr val="1F2A37"/>
                          </a:solidFill>
                          <a:latin typeface="微软雅黑" charset="0"/>
                          <a:ea typeface="微软雅黑" panose="020B0503020204020204" pitchFamily="34" charset="-122"/>
                          <a:cs typeface="微软雅黑" pitchFamily="34" charset="-120"/>
                        </a:rPr>
                        <a:t>叠加图 / 异常分布 / 热力图</a:t>
                      </a:r>
                      <a:endParaRPr lang="en-US" sz="1465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97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65" dirty="0">
                          <a:solidFill>
                            <a:srgbClr val="C0392B"/>
                          </a:solidFill>
                          <a:latin typeface="微软雅黑" charset="0"/>
                          <a:ea typeface="微软雅黑" panose="020B0503020204020204" pitchFamily="34" charset="-122"/>
                          <a:cs typeface="微软雅黑" pitchFamily="34" charset="-120"/>
                        </a:rPr>
                        <a:t>刻意不给</a:t>
                      </a:r>
                      <a:endParaRPr lang="en-US" sz="1465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65" dirty="0">
                          <a:solidFill>
                            <a:srgbClr val="C0392B"/>
                          </a:solidFill>
                          <a:latin typeface="微软雅黑" charset="0"/>
                          <a:ea typeface="微软雅黑" panose="020B0503020204020204" pitchFamily="34" charset="-122"/>
                          <a:cs typeface="微软雅黑" pitchFamily="34" charset="-120"/>
                        </a:rPr>
                        <a:t>write_memory · write_playbook</a:t>
                      </a:r>
                      <a:endParaRPr lang="en-US" sz="1465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65" dirty="0">
                          <a:solidFill>
                            <a:srgbClr val="1F2A37"/>
                          </a:solidFill>
                          <a:latin typeface="微软雅黑" charset="0"/>
                          <a:ea typeface="微软雅黑" panose="020B0503020204020204" pitchFamily="34" charset="-122"/>
                          <a:cs typeface="微软雅黑" pitchFamily="34" charset="-120"/>
                        </a:rPr>
                        <a:t>LLM 无权写记忆</a:t>
                      </a:r>
                      <a:endParaRPr lang="en-US" sz="1465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11" name="组合 10"/>
          <p:cNvGrpSpPr/>
          <p:nvPr/>
        </p:nvGrpSpPr>
        <p:grpSpPr>
          <a:xfrm>
            <a:off x="731520" y="5620173"/>
            <a:ext cx="10789920" cy="670560"/>
            <a:chOff x="864" y="6192"/>
            <a:chExt cx="12744" cy="1122"/>
          </a:xfrm>
        </p:grpSpPr>
        <p:sp>
          <p:nvSpPr>
            <p:cNvPr id="6" name="Shape 3"/>
            <p:cNvSpPr/>
            <p:nvPr/>
          </p:nvSpPr>
          <p:spPr>
            <a:xfrm>
              <a:off x="864" y="6192"/>
              <a:ext cx="12744" cy="1123"/>
            </a:xfrm>
            <a:prstGeom prst="rect">
              <a:avLst/>
            </a:prstGeom>
            <a:solidFill>
              <a:srgbClr val="F4F6F8"/>
            </a:solidFill>
            <a:ln w="12700">
              <a:solidFill>
                <a:srgbClr val="F4F6F8"/>
              </a:solidFill>
              <a:prstDash val="solid"/>
            </a:ln>
          </p:spPr>
        </p:sp>
        <p:sp>
          <p:nvSpPr>
            <p:cNvPr id="5" name="Shape 4"/>
            <p:cNvSpPr/>
            <p:nvPr/>
          </p:nvSpPr>
          <p:spPr>
            <a:xfrm>
              <a:off x="864" y="6192"/>
              <a:ext cx="79" cy="1123"/>
            </a:xfrm>
            <a:prstGeom prst="rect">
              <a:avLst/>
            </a:prstGeom>
            <a:solidFill>
              <a:srgbClr val="C0392B"/>
            </a:solidFill>
          </p:spPr>
        </p:sp>
        <p:sp>
          <p:nvSpPr>
            <p:cNvPr id="8" name="Text 5"/>
            <p:cNvSpPr/>
            <p:nvPr/>
          </p:nvSpPr>
          <p:spPr>
            <a:xfrm>
              <a:off x="1210" y="6278"/>
              <a:ext cx="12139" cy="95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>
                <a:lnSpc>
                  <a:spcPct val="116000"/>
                </a:lnSpc>
                <a:buNone/>
              </a:pPr>
              <a:r>
                <a:rPr lang="en-US" sz="1600" dirty="0">
                  <a:solidFill>
                    <a:srgbClr val="1F2A37"/>
                  </a:solidFill>
                  <a:latin typeface="微软雅黑" charset="0"/>
                  <a:ea typeface="微软雅黑" panose="020B0503020204020204" pitchFamily="34" charset="-122"/>
                  <a:cs typeface="微软雅黑" pitchFamily="34" charset="-120"/>
                </a:rPr>
                <a:t>为什么故意不给写记忆的工具：如果 LLM 能直接写，一次幻觉就会被后续检索不断放大，而且很难发现。记忆的写入权只交给核验通过的确定性代码。</a:t>
              </a:r>
              <a:endParaRPr lang="en-US" sz="1600" dirty="0"/>
            </a:p>
          </p:txBody>
        </p:sp>
      </p:grpSp>
      <p:sp>
        <p:nvSpPr>
          <p:cNvPr id="9" name="Text 6"/>
          <p:cNvSpPr/>
          <p:nvPr/>
        </p:nvSpPr>
        <p:spPr>
          <a:xfrm>
            <a:off x="731520" y="6430095"/>
            <a:ext cx="10789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C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所有工具都是确定性函数，没有随机性、不联网、不调用 LLM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1033760" y="6266688"/>
            <a:ext cx="60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65" dirty="0">
                <a:solidFill>
                  <a:srgbClr val="AAB4BE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6</a:t>
            </a:r>
            <a:endParaRPr lang="en-US" sz="1465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0560" y="292608"/>
            <a:ext cx="108508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65" b="1" kern="0" spc="100" dirty="0">
                <a:solidFill>
                  <a:srgbClr val="2B7BBA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做法</a:t>
            </a:r>
            <a:endParaRPr lang="en-US" sz="1465" dirty="0"/>
          </a:p>
        </p:txBody>
      </p:sp>
      <p:sp>
        <p:nvSpPr>
          <p:cNvPr id="3" name="Text 1"/>
          <p:cNvSpPr/>
          <p:nvPr/>
        </p:nvSpPr>
        <p:spPr>
          <a:xfrm>
            <a:off x="670560" y="560832"/>
            <a:ext cx="10850880" cy="670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A37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第三步：参数怎么定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70560" y="1255776"/>
            <a:ext cx="1097280" cy="42672"/>
          </a:xfrm>
          <a:prstGeom prst="rect">
            <a:avLst/>
          </a:prstGeom>
          <a:solidFill>
            <a:srgbClr val="2B7BBA"/>
          </a:solidFill>
        </p:spPr>
      </p:sp>
      <p:sp>
        <p:nvSpPr>
          <p:cNvPr id="5" name="Shape 3"/>
          <p:cNvSpPr/>
          <p:nvPr/>
        </p:nvSpPr>
        <p:spPr>
          <a:xfrm>
            <a:off x="731520" y="1536192"/>
            <a:ext cx="3316224" cy="609600"/>
          </a:xfrm>
          <a:prstGeom prst="roundRect">
            <a:avLst>
              <a:gd name="adj" fmla="val 12000"/>
            </a:avLst>
          </a:prstGeom>
          <a:solidFill>
            <a:srgbClr val="2B7BBA"/>
          </a:solidFill>
          <a:ln w="12700">
            <a:solidFill>
              <a:srgbClr val="2B7BB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2480" y="1572768"/>
            <a:ext cx="3194304" cy="5364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① 物理先验定区间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2194560"/>
            <a:ext cx="3316224" cy="1158240"/>
          </a:xfrm>
          <a:prstGeom prst="roundRect">
            <a:avLst>
              <a:gd name="adj" fmla="val 6316"/>
            </a:avLst>
          </a:prstGeom>
          <a:solidFill>
            <a:srgbClr val="F4F6F8"/>
          </a:solidFill>
          <a:ln w="12700">
            <a:solidFill>
              <a:srgbClr val="D8DE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2480" y="2231136"/>
            <a:ext cx="3194304" cy="10850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9 个参数各有合法区间</a:t>
            </a:r>
            <a:endParaRPr lang="en-US" sz="14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由数据分布或物理量反推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389376"/>
            <a:ext cx="3316224" cy="3413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7BBA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确定性代码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096512" y="1840992"/>
            <a:ext cx="316992" cy="0"/>
          </a:xfrm>
          <a:prstGeom prst="line">
            <a:avLst/>
          </a:prstGeom>
          <a:noFill/>
          <a:ln w="20320">
            <a:solidFill>
              <a:srgbClr val="5B6B7C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462272" y="1536192"/>
            <a:ext cx="3316224" cy="609600"/>
          </a:xfrm>
          <a:prstGeom prst="roundRect">
            <a:avLst>
              <a:gd name="adj" fmla="val 12000"/>
            </a:avLst>
          </a:prstGeom>
          <a:solidFill>
            <a:srgbClr val="8A6D1F"/>
          </a:solidFill>
          <a:ln w="12700">
            <a:solidFill>
              <a:srgbClr val="8A6D1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3232" y="1572768"/>
            <a:ext cx="3194304" cy="5364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② LLM 提起点与方向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462272" y="2194560"/>
            <a:ext cx="3316224" cy="1158240"/>
          </a:xfrm>
          <a:prstGeom prst="roundRect">
            <a:avLst>
              <a:gd name="adj" fmla="val 6316"/>
            </a:avLst>
          </a:prstGeom>
          <a:solidFill>
            <a:srgbClr val="F4F6F8"/>
          </a:solidFill>
          <a:ln w="12700">
            <a:solidFill>
              <a:srgbClr val="D8DE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23232" y="2231136"/>
            <a:ext cx="3194304" cy="10850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给出参数值 + 预期效果</a:t>
            </a:r>
            <a:endParaRPr lang="en-US" sz="14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强制结构化输出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462272" y="3389376"/>
            <a:ext cx="3316224" cy="3413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A6D1F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LLM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827264" y="1840992"/>
            <a:ext cx="316992" cy="0"/>
          </a:xfrm>
          <a:prstGeom prst="line">
            <a:avLst/>
          </a:prstGeom>
          <a:noFill/>
          <a:ln w="20320">
            <a:solidFill>
              <a:srgbClr val="5B6B7C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193024" y="1536192"/>
            <a:ext cx="3316224" cy="609600"/>
          </a:xfrm>
          <a:prstGeom prst="roundRect">
            <a:avLst>
              <a:gd name="adj" fmla="val 12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53984" y="1572768"/>
            <a:ext cx="3194304" cy="5364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③ 有界搜索精调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193024" y="2194560"/>
            <a:ext cx="3316224" cy="1158240"/>
          </a:xfrm>
          <a:prstGeom prst="roundRect">
            <a:avLst>
              <a:gd name="adj" fmla="val 6316"/>
            </a:avLst>
          </a:prstGeom>
          <a:solidFill>
            <a:srgbClr val="F4F6F8"/>
          </a:solidFill>
          <a:ln w="12700">
            <a:solidFill>
              <a:srgbClr val="D8DEE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53984" y="2231136"/>
            <a:ext cx="3194304" cy="10850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坐标下降 + 拐点</a:t>
            </a:r>
            <a:endParaRPr lang="en-US" sz="14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产出 ground truth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193024" y="3389376"/>
            <a:ext cx="3316224" cy="3413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8B57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确定性代码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1520" y="3901440"/>
            <a:ext cx="10789920" cy="1828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spcAft>
                <a:spcPts val="700"/>
              </a:spcAft>
              <a:buSzPct val="100000"/>
              <a:buChar char="●"/>
            </a:pPr>
            <a:r>
              <a:rPr lang="en-US" sz="1535" b="1" dirty="0">
                <a:solidFill>
                  <a:srgbClr val="2B7BBA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关键：LLM 不是优化器，它只给起点和方向。</a:t>
            </a:r>
            <a:endParaRPr lang="en-US" sz="1535" dirty="0"/>
          </a:p>
          <a:p>
            <a:pPr marL="342900" indent="-342900">
              <a:lnSpc>
                <a:spcPct val="118000"/>
              </a:lnSpc>
              <a:spcAft>
                <a:spcPts val="500"/>
              </a:spcAft>
              <a:buSzPct val="100000"/>
              <a:buChar char="●"/>
            </a:pPr>
            <a:r>
              <a:rPr lang="en-US" sz="1535" dirty="0">
                <a:solidFill>
                  <a:srgbClr val="1F2A37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dp_tolerance 区间 [0.5, 30] 米，上限约等于 GPS 定位精度。</a:t>
            </a:r>
            <a:endParaRPr lang="en-US" sz="1535" dirty="0"/>
          </a:p>
          <a:p>
            <a:pPr marL="342900" indent="-342900">
              <a:lnSpc>
                <a:spcPct val="118000"/>
              </a:lnSpc>
              <a:spcAft>
                <a:spcPts val="500"/>
              </a:spcAft>
              <a:buSzPct val="100000"/>
              <a:buChar char="●"/>
            </a:pPr>
            <a:r>
              <a:rPr lang="en-US" sz="1535" dirty="0">
                <a:solidFill>
                  <a:srgbClr val="1F2A37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dt_threshold 区间 [15, 180] 秒，下界保住正常的 20 秒采样。</a:t>
            </a:r>
            <a:endParaRPr lang="en-US" sz="1535" dirty="0"/>
          </a:p>
          <a:p>
            <a:pPr marL="342900" indent="-342900">
              <a:lnSpc>
                <a:spcPct val="118000"/>
              </a:lnSpc>
              <a:spcAft>
                <a:spcPts val="500"/>
              </a:spcAft>
              <a:buSzPct val="100000"/>
              <a:buChar char="●"/>
            </a:pPr>
            <a:r>
              <a:rPr lang="en-US" sz="1535" dirty="0">
                <a:solidFill>
                  <a:srgbClr val="1F2A37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dist_threshold 由 Δt × 限速 × 安全系数推导，不由位移分布推导。</a:t>
            </a:r>
            <a:endParaRPr lang="en-US" sz="1535" dirty="0"/>
          </a:p>
        </p:txBody>
      </p:sp>
      <p:sp>
        <p:nvSpPr>
          <p:cNvPr id="23" name="Shape 21"/>
          <p:cNvSpPr/>
          <p:nvPr/>
        </p:nvSpPr>
        <p:spPr>
          <a:xfrm>
            <a:off x="731520" y="5486400"/>
            <a:ext cx="10789920" cy="755904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" y="5486400"/>
            <a:ext cx="67056" cy="755904"/>
          </a:xfrm>
          <a:prstGeom prst="rect">
            <a:avLst/>
          </a:prstGeom>
          <a:solidFill>
            <a:srgbClr val="2E8B57"/>
          </a:solidFill>
        </p:spPr>
      </p:sp>
      <p:sp>
        <p:nvSpPr>
          <p:cNvPr id="25" name="Text 23"/>
          <p:cNvSpPr/>
          <p:nvPr/>
        </p:nvSpPr>
        <p:spPr>
          <a:xfrm>
            <a:off x="1024128" y="5559552"/>
            <a:ext cx="10277856" cy="609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1600" dirty="0">
                <a:solidFill>
                  <a:srgbClr val="1F2A37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「预期效果」这一栏是白送的评分抓手。LLM 必须预测每个参数的升降方向，核验时只需比对符号，就能零成本算出方向准确率。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033760" y="6266688"/>
            <a:ext cx="60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65" dirty="0">
                <a:solidFill>
                  <a:srgbClr val="AAB4BE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7</a:t>
            </a:r>
            <a:endParaRPr lang="en-US" sz="1465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0560" y="292608"/>
            <a:ext cx="108508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65" b="1" kern="0" spc="100" dirty="0">
                <a:solidFill>
                  <a:srgbClr val="2B7BBA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核心</a:t>
            </a:r>
            <a:endParaRPr lang="en-US" sz="1465" dirty="0"/>
          </a:p>
        </p:txBody>
      </p:sp>
      <p:sp>
        <p:nvSpPr>
          <p:cNvPr id="3" name="Text 1"/>
          <p:cNvSpPr/>
          <p:nvPr/>
        </p:nvSpPr>
        <p:spPr>
          <a:xfrm>
            <a:off x="670560" y="560832"/>
            <a:ext cx="10850880" cy="670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A37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第四步：怎么判断 LLM 提得对不对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70560" y="1255776"/>
            <a:ext cx="1097280" cy="42672"/>
          </a:xfrm>
          <a:prstGeom prst="rect">
            <a:avLst/>
          </a:prstGeom>
          <a:solidFill>
            <a:srgbClr val="2B7BBA"/>
          </a:solidFill>
        </p:spPr>
      </p:sp>
      <p:sp>
        <p:nvSpPr>
          <p:cNvPr id="5" name="Text 3"/>
          <p:cNvSpPr/>
          <p:nvPr/>
        </p:nvSpPr>
        <p:spPr>
          <a:xfrm>
            <a:off x="731520" y="1560576"/>
            <a:ext cx="6217920" cy="4511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●"/>
            </a:pPr>
            <a:r>
              <a:rPr lang="en-US" sz="1865" b="1" dirty="0">
                <a:solidFill>
                  <a:srgbClr val="2B7BBA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regret = 搜索最优分 − LLM 提议分</a:t>
            </a:r>
            <a:endParaRPr lang="en-US" sz="1865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●"/>
            </a:pPr>
            <a:r>
              <a:rPr lang="en-US" sz="1665" dirty="0">
                <a:solidFill>
                  <a:srgbClr val="1F2A37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它需要 ground truth。所以在同一预算内跑一次确定性搜索作为标尺。</a:t>
            </a:r>
            <a:endParaRPr lang="en-US" sz="1865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●"/>
            </a:pPr>
            <a:r>
              <a:rPr lang="en-US" sz="1665" dirty="0">
                <a:solidFill>
                  <a:srgbClr val="1F2A37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实测一条：提议 0.6008、基线 0.6330、最优 0.6366，得 regret 0.0358。</a:t>
            </a:r>
            <a:endParaRPr lang="en-US" sz="1865" dirty="0"/>
          </a:p>
          <a:p>
            <a:pPr marL="342900" indent="-342900">
              <a:lnSpc>
                <a:spcPct val="118000"/>
              </a:lnSpc>
              <a:spcAft>
                <a:spcPts val="500"/>
              </a:spcAft>
              <a:buSzPct val="100000"/>
              <a:buChar char="●"/>
            </a:pPr>
            <a:r>
              <a:rPr lang="en-US" sz="1665" b="1" dirty="0">
                <a:solidFill>
                  <a:srgbClr val="1F2A37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另外两个零成本判据：</a:t>
            </a:r>
            <a:endParaRPr lang="en-US" sz="1865" dirty="0"/>
          </a:p>
          <a:p>
            <a:pPr marL="685800" lvl="1" indent="-342900">
              <a:lnSpc>
                <a:spcPct val="118000"/>
              </a:lnSpc>
              <a:spcAft>
                <a:spcPts val="400"/>
              </a:spcAft>
              <a:buSzPct val="100000"/>
              <a:buChar char="●"/>
            </a:pPr>
            <a:r>
              <a:rPr lang="en-US" sz="1665" dirty="0">
                <a:solidFill>
                  <a:srgbClr val="1F2A37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方向准确率：预测的升降符号与实测是否一致</a:t>
            </a:r>
            <a:endParaRPr lang="en-US" sz="1865" dirty="0"/>
          </a:p>
          <a:p>
            <a:pPr marL="685800" lvl="1" indent="-342900">
              <a:lnSpc>
                <a:spcPct val="118000"/>
              </a:lnSpc>
              <a:spcAft>
                <a:spcPts val="800"/>
              </a:spcAft>
              <a:buSzPct val="100000"/>
              <a:buChar char="●"/>
            </a:pPr>
            <a:r>
              <a:rPr lang="en-US" sz="1665" dirty="0">
                <a:solidFill>
                  <a:srgbClr val="1F2A37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约束满足率：提议是否落在物理先验区间内</a:t>
            </a:r>
            <a:endParaRPr lang="en-US" sz="1865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7132320" y="1584960"/>
          <a:ext cx="4389120" cy="3023235"/>
        </p:xfrm>
        <a:graphic>
          <a:graphicData uri="http://schemas.openxmlformats.org/drawingml/2006/table">
            <a:tbl>
              <a:tblPr/>
              <a:tblGrid>
                <a:gridCol w="1036320"/>
                <a:gridCol w="1828800"/>
                <a:gridCol w="1524000"/>
              </a:tblGrid>
              <a:tr h="6007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微软雅黑" charset="0"/>
                          <a:ea typeface="微软雅黑" panose="020B0503020204020204" pitchFamily="34" charset="-122"/>
                          <a:cs typeface="微软雅黑" pitchFamily="34" charset="-120"/>
                        </a:rPr>
                        <a:t>口径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A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微软雅黑" charset="0"/>
                          <a:ea typeface="微软雅黑" panose="020B0503020204020204" pitchFamily="34" charset="-122"/>
                          <a:cs typeface="微软雅黑" pitchFamily="34" charset="-120"/>
                        </a:rPr>
                        <a:t>触发条件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A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微软雅黑" charset="0"/>
                          <a:ea typeface="微软雅黑" panose="020B0503020204020204" pitchFamily="34" charset="-122"/>
                          <a:cs typeface="微软雅黑" pitchFamily="34" charset="-120"/>
                        </a:rPr>
                        <a:t>怎么读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A63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微软雅黑" charset="0"/>
                          <a:ea typeface="微软雅黑" panose="020B0503020204020204" pitchFamily="34" charset="-122"/>
                          <a:cs typeface="微软雅黑" pitchFamily="34" charset="-120"/>
                        </a:rPr>
                        <a:t>归一化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微软雅黑" charset="0"/>
                          <a:ea typeface="微软雅黑" panose="020B0503020204020204" pitchFamily="34" charset="-122"/>
                          <a:cs typeface="微软雅黑" pitchFamily="34" charset="-120"/>
                        </a:rPr>
                        <a:t>最优与基线差距充足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微软雅黑" charset="0"/>
                          <a:ea typeface="微软雅黑" panose="020B0503020204020204" pitchFamily="34" charset="-122"/>
                          <a:cs typeface="微软雅黑" pitchFamily="34" charset="-120"/>
                        </a:rPr>
                        <a:t>丢掉了多少比例的可得收益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708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微软雅黑" charset="0"/>
                          <a:ea typeface="微软雅黑" panose="020B0503020204020204" pitchFamily="34" charset="-122"/>
                          <a:cs typeface="微软雅黑" pitchFamily="34" charset="-120"/>
                        </a:rPr>
                        <a:t>绝对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微软雅黑" charset="0"/>
                          <a:ea typeface="微软雅黑" panose="020B0503020204020204" pitchFamily="34" charset="-122"/>
                          <a:cs typeface="微软雅黑" pitchFamily="34" charset="-120"/>
                        </a:rPr>
                        <a:t>最优与基线差距过小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微软雅黑" charset="0"/>
                          <a:ea typeface="微软雅黑" panose="020B0503020204020204" pitchFamily="34" charset="-122"/>
                          <a:cs typeface="微软雅黑" pitchFamily="34" charset="-120"/>
                        </a:rPr>
                        <a:t>分母趋零会放大微小差距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微软雅黑" charset="0"/>
                          <a:ea typeface="微软雅黑" panose="020B0503020204020204" pitchFamily="34" charset="-122"/>
                          <a:cs typeface="微软雅黑" pitchFamily="34" charset="-120"/>
                        </a:rPr>
                        <a:t>不适用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微软雅黑" charset="0"/>
                          <a:ea typeface="微软雅黑" panose="020B0503020204020204" pitchFamily="34" charset="-122"/>
                          <a:cs typeface="微软雅黑" pitchFamily="34" charset="-120"/>
                        </a:rPr>
                        <a:t>轨迹过短（&lt; 200 米）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微软雅黑" charset="0"/>
                          <a:ea typeface="微软雅黑" panose="020B0503020204020204" pitchFamily="34" charset="-122"/>
                          <a:cs typeface="微软雅黑" pitchFamily="34" charset="-120"/>
                        </a:rPr>
                        <a:t>压缩率在该尺度无物理含义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31520" y="5388864"/>
            <a:ext cx="10789920" cy="877824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5388864"/>
            <a:ext cx="67056" cy="877824"/>
          </a:xfrm>
          <a:prstGeom prst="rect">
            <a:avLst/>
          </a:prstGeom>
          <a:solidFill>
            <a:srgbClr val="C0392B"/>
          </a:solidFill>
        </p:spPr>
      </p:sp>
      <p:sp>
        <p:nvSpPr>
          <p:cNvPr id="6" name="Text 6"/>
          <p:cNvSpPr/>
          <p:nvPr/>
        </p:nvSpPr>
        <p:spPr>
          <a:xfrm>
            <a:off x="1024128" y="5462016"/>
            <a:ext cx="10277856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1600" dirty="0">
                <a:solidFill>
                  <a:srgbClr val="1F2A37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三种口径必须显式标注。混用会让结论完全反过来：headroom 只有 0.021 时，一个与基线持平的提议会被算成 regret 1.0。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31520" y="6291072"/>
            <a:ext cx="10789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C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这就是「用定量指标核验建议」的具体落地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1033760" y="6266688"/>
            <a:ext cx="60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65" dirty="0">
                <a:solidFill>
                  <a:srgbClr val="AAB4BE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8</a:t>
            </a:r>
            <a:endParaRPr lang="en-US" sz="1465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0560" y="292608"/>
            <a:ext cx="108508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65" b="1" kern="0" spc="100" dirty="0">
                <a:solidFill>
                  <a:srgbClr val="2B7BBA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做法</a:t>
            </a:r>
            <a:endParaRPr lang="en-US" sz="1465" dirty="0"/>
          </a:p>
        </p:txBody>
      </p:sp>
      <p:sp>
        <p:nvSpPr>
          <p:cNvPr id="3" name="Text 1"/>
          <p:cNvSpPr/>
          <p:nvPr/>
        </p:nvSpPr>
        <p:spPr>
          <a:xfrm>
            <a:off x="670560" y="560832"/>
            <a:ext cx="10850880" cy="670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A37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记忆怎么用：让流程越跑越省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70560" y="1255776"/>
            <a:ext cx="1097280" cy="42672"/>
          </a:xfrm>
          <a:prstGeom prst="rect">
            <a:avLst/>
          </a:prstGeom>
          <a:solidFill>
            <a:srgbClr val="2B7BBA"/>
          </a:solidFill>
        </p:spPr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731520" y="1560576"/>
          <a:ext cx="10789920" cy="3352800"/>
        </p:xfrm>
        <a:graphic>
          <a:graphicData uri="http://schemas.openxmlformats.org/drawingml/2006/table">
            <a:tbl>
              <a:tblPr/>
              <a:tblGrid>
                <a:gridCol w="1645920"/>
                <a:gridCol w="4389120"/>
                <a:gridCol w="1280160"/>
                <a:gridCol w="3474720"/>
              </a:tblGrid>
              <a:tr h="670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微软雅黑" charset="0"/>
                          <a:ea typeface="微软雅黑" panose="020B0503020204020204" pitchFamily="34" charset="-122"/>
                          <a:cs typeface="微软雅黑" pitchFamily="34" charset="-120"/>
                        </a:rPr>
                        <a:t>层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A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微软雅黑" charset="0"/>
                          <a:ea typeface="微软雅黑" panose="020B0503020204020204" pitchFamily="34" charset="-122"/>
                          <a:cs typeface="微软雅黑" pitchFamily="34" charset="-120"/>
                        </a:rPr>
                        <a:t>存什么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A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微软雅黑" charset="0"/>
                          <a:ea typeface="微软雅黑" panose="020B0503020204020204" pitchFamily="34" charset="-122"/>
                          <a:cs typeface="微软雅黑" pitchFamily="34" charset="-120"/>
                        </a:rPr>
                        <a:t>谁写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A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微软雅黑" charset="0"/>
                          <a:ea typeface="微软雅黑" panose="020B0503020204020204" pitchFamily="34" charset="-122"/>
                          <a:cs typeface="微软雅黑" pitchFamily="34" charset="-120"/>
                        </a:rPr>
                        <a:t>怎么用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A63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微软雅黑" charset="0"/>
                          <a:ea typeface="微软雅黑" panose="020B0503020204020204" pitchFamily="34" charset="-122"/>
                          <a:cs typeface="微软雅黑" pitchFamily="34" charset="-120"/>
                        </a:rPr>
                        <a:t>工作记忆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微软雅黑" charset="0"/>
                          <a:ea typeface="微软雅黑" panose="020B0503020204020204" pitchFamily="34" charset="-122"/>
                          <a:cs typeface="微软雅黑" pitchFamily="34" charset="-120"/>
                        </a:rPr>
                        <a:t>当前轨迹的诊断卡与已试参数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微软雅黑" charset="0"/>
                          <a:ea typeface="微软雅黑" panose="020B0503020204020204" pitchFamily="34" charset="-122"/>
                          <a:cs typeface="微软雅黑" pitchFamily="34" charset="-120"/>
                        </a:rPr>
                        <a:t>agent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微软雅黑" charset="0"/>
                          <a:ea typeface="微软雅黑" panose="020B0503020204020204" pitchFamily="34" charset="-122"/>
                          <a:cs typeface="微软雅黑" pitchFamily="34" charset="-120"/>
                        </a:rPr>
                        <a:t>单条轨迹内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微软雅黑" charset="0"/>
                          <a:ea typeface="微软雅黑" panose="020B0503020204020204" pitchFamily="34" charset="-122"/>
                          <a:cs typeface="微软雅黑" pitchFamily="34" charset="-120"/>
                        </a:rPr>
                        <a:t>情景记忆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微软雅黑" charset="0"/>
                          <a:ea typeface="微软雅黑" panose="020B0503020204020204" pitchFamily="34" charset="-122"/>
                          <a:cs typeface="微软雅黑" pitchFamily="34" charset="-120"/>
                        </a:rPr>
                        <a:t>全量（诊断 → 参数 → 实测指标）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微软雅黑" charset="0"/>
                          <a:ea typeface="微软雅黑" panose="020B0503020204020204" pitchFamily="34" charset="-122"/>
                          <a:cs typeface="微软雅黑" pitchFamily="34" charset="-120"/>
                        </a:rPr>
                        <a:t>核验器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微软雅黑" charset="0"/>
                          <a:ea typeface="微软雅黑" panose="020B0503020204020204" pitchFamily="34" charset="-122"/>
                          <a:cs typeface="微软雅黑" pitchFamily="34" charset="-120"/>
                        </a:rPr>
                        <a:t>积累原始经验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微软雅黑" charset="0"/>
                          <a:ea typeface="微软雅黑" panose="020B0503020204020204" pitchFamily="34" charset="-122"/>
                          <a:cs typeface="微软雅黑" pitchFamily="34" charset="-120"/>
                        </a:rPr>
                        <a:t>程序记忆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微软雅黑" charset="0"/>
                          <a:ea typeface="微软雅黑" panose="020B0503020204020204" pitchFamily="34" charset="-122"/>
                          <a:cs typeface="微软雅黑" pitchFamily="34" charset="-120"/>
                        </a:rPr>
                        <a:t>诊断签名 → 参数区间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微软雅黑" charset="0"/>
                          <a:ea typeface="微软雅黑" panose="020B0503020204020204" pitchFamily="34" charset="-122"/>
                          <a:cs typeface="微软雅黑" pitchFamily="34" charset="-120"/>
                        </a:rPr>
                        <a:t>核验器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微软雅黑" charset="0"/>
                          <a:ea typeface="微软雅黑" panose="020B0503020204020204" pitchFamily="34" charset="-122"/>
                          <a:cs typeface="微软雅黑" pitchFamily="34" charset="-120"/>
                        </a:rPr>
                        <a:t>12 维特征 kNN 检索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微软雅黑" charset="0"/>
                          <a:ea typeface="微软雅黑" panose="020B0503020204020204" pitchFamily="34" charset="-122"/>
                          <a:cs typeface="微软雅黑" pitchFamily="34" charset="-120"/>
                        </a:rPr>
                        <a:t>人类知识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微软雅黑" charset="0"/>
                          <a:ea typeface="微软雅黑" panose="020B0503020204020204" pitchFamily="34" charset="-122"/>
                          <a:cs typeface="微软雅黑" pitchFamily="34" charset="-120"/>
                        </a:rPr>
                        <a:t>结论 + 证据 + 反例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微软雅黑" charset="0"/>
                          <a:ea typeface="微软雅黑" panose="020B0503020204020204" pitchFamily="34" charset="-122"/>
                          <a:cs typeface="微软雅黑" pitchFamily="34" charset="-120"/>
                        </a:rPr>
                        <a:t>人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微软雅黑" charset="0"/>
                          <a:ea typeface="微软雅黑" panose="020B0503020204020204" pitchFamily="34" charset="-122"/>
                          <a:cs typeface="微软雅黑" pitchFamily="34" charset="-120"/>
                        </a:rPr>
                        <a:t>只读，给 LLM 因果解释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31520" y="5046811"/>
            <a:ext cx="10789920" cy="17068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spcAft>
                <a:spcPts val="800"/>
              </a:spcAft>
              <a:buSzPct val="100000"/>
              <a:buChar char="●"/>
            </a:pPr>
            <a:r>
              <a:rPr lang="en-US" sz="1535" dirty="0">
                <a:solidFill>
                  <a:srgbClr val="1F2A37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机器算出来的参数区间（程序记忆）和人写的因果解释（人类知识）不重复：前者给数字锚点，后者给物理直觉。</a:t>
            </a:r>
            <a:endParaRPr lang="en-US" sz="1535" dirty="0"/>
          </a:p>
          <a:p>
            <a:pPr marL="342900" indent="-342900">
              <a:lnSpc>
                <a:spcPct val="118000"/>
              </a:lnSpc>
              <a:spcAft>
                <a:spcPts val="800"/>
              </a:spcAft>
              <a:buSzPct val="100000"/>
              <a:buChar char="●"/>
            </a:pPr>
            <a:r>
              <a:rPr lang="en-US" sz="1535" b="1" dirty="0">
                <a:solidFill>
                  <a:srgbClr val="2B7BBA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成本含义：跑少数轨迹积累经验，其余轨迹直接查区间清洗，零 LLM 调用。这是 11386 条能落地的关键。</a:t>
            </a:r>
            <a:endParaRPr lang="en-US" sz="1535" dirty="0"/>
          </a:p>
          <a:p>
            <a:pPr marL="342900" indent="-342900">
              <a:lnSpc>
                <a:spcPct val="118000"/>
              </a:lnSpc>
              <a:spcAft>
                <a:spcPts val="800"/>
              </a:spcAft>
              <a:buSzPct val="100000"/>
              <a:buChar char="●"/>
            </a:pPr>
            <a:r>
              <a:rPr lang="en-US" sz="1535" dirty="0">
                <a:solidFill>
                  <a:srgbClr val="C0392B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安全边界：agent 对人类知识库只有读权限。它的任何 bug 都不可能损坏知识库。</a:t>
            </a:r>
            <a:endParaRPr lang="en-US" sz="1535" dirty="0"/>
          </a:p>
        </p:txBody>
      </p:sp>
      <p:sp>
        <p:nvSpPr>
          <p:cNvPr id="7" name="Text 4"/>
          <p:cNvSpPr/>
          <p:nvPr/>
        </p:nvSpPr>
        <p:spPr>
          <a:xfrm>
            <a:off x="11033760" y="6266688"/>
            <a:ext cx="60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65" dirty="0">
                <a:solidFill>
                  <a:srgbClr val="AAB4BE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9</a:t>
            </a:r>
            <a:endParaRPr lang="en-US" sz="1465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0560" y="292608"/>
            <a:ext cx="108508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65" b="1" kern="0" spc="100" dirty="0">
                <a:solidFill>
                  <a:srgbClr val="2B7BBA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验证方法</a:t>
            </a:r>
            <a:endParaRPr lang="en-US" sz="1465" dirty="0"/>
          </a:p>
        </p:txBody>
      </p:sp>
      <p:sp>
        <p:nvSpPr>
          <p:cNvPr id="3" name="Text 1"/>
          <p:cNvSpPr/>
          <p:nvPr/>
        </p:nvSpPr>
        <p:spPr>
          <a:xfrm>
            <a:off x="670560" y="560832"/>
            <a:ext cx="10850880" cy="670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A37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消融实验：怎么证明这套流程有效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70560" y="1255776"/>
            <a:ext cx="1097280" cy="42672"/>
          </a:xfrm>
          <a:prstGeom prst="rect">
            <a:avLst/>
          </a:prstGeom>
          <a:solidFill>
            <a:srgbClr val="2B7BBA"/>
          </a:solidFill>
        </p:spPr>
      </p:sp>
      <p:sp>
        <p:nvSpPr>
          <p:cNvPr id="5" name="Shape 3"/>
          <p:cNvSpPr/>
          <p:nvPr/>
        </p:nvSpPr>
        <p:spPr>
          <a:xfrm>
            <a:off x="731520" y="1536192"/>
            <a:ext cx="67056" cy="1889760"/>
          </a:xfrm>
          <a:prstGeom prst="rect">
            <a:avLst/>
          </a:prstGeom>
          <a:solidFill>
            <a:srgbClr val="2B7BBA"/>
          </a:solidFill>
        </p:spPr>
      </p:sp>
      <p:sp>
        <p:nvSpPr>
          <p:cNvPr id="6" name="Text 4"/>
          <p:cNvSpPr/>
          <p:nvPr/>
        </p:nvSpPr>
        <p:spPr>
          <a:xfrm>
            <a:off x="1036320" y="1536192"/>
            <a:ext cx="10363200" cy="3901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35" b="1" dirty="0">
                <a:solidFill>
                  <a:srgbClr val="2B7BBA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四种模式必须结构性不同</a:t>
            </a:r>
            <a:endParaRPr lang="en-US" sz="1935" dirty="0"/>
          </a:p>
        </p:txBody>
      </p:sp>
      <p:sp>
        <p:nvSpPr>
          <p:cNvPr id="7" name="Text 5"/>
          <p:cNvSpPr/>
          <p:nvPr/>
        </p:nvSpPr>
        <p:spPr>
          <a:xfrm>
            <a:off x="1036320" y="1950720"/>
            <a:ext cx="10363200" cy="1402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lnSpc>
                <a:spcPct val="116000"/>
              </a:lnSpc>
              <a:spcAft>
                <a:spcPts val="500"/>
              </a:spcAft>
              <a:buSzPct val="100000"/>
              <a:buChar char="●"/>
            </a:pPr>
            <a:r>
              <a:rPr lang="en-US" sz="1535" dirty="0">
                <a:solidFill>
                  <a:srgbClr val="1F2A37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llm-only：只有 LLM，没有实测依据</a:t>
            </a:r>
            <a:endParaRPr lang="en-US" sz="1535" dirty="0"/>
          </a:p>
          <a:p>
            <a:pPr marL="342900" indent="-342900">
              <a:lnSpc>
                <a:spcPct val="116000"/>
              </a:lnSpc>
              <a:spcAft>
                <a:spcPts val="500"/>
              </a:spcAft>
              <a:buSzPct val="100000"/>
              <a:buChar char="●"/>
            </a:pPr>
            <a:r>
              <a:rPr lang="en-US" sz="1535" dirty="0">
                <a:solidFill>
                  <a:srgbClr val="1F2A37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search-only：只有确定性搜索，不含任何 LLM 调用</a:t>
            </a:r>
            <a:endParaRPr lang="en-US" sz="1535" dirty="0"/>
          </a:p>
          <a:p>
            <a:pPr marL="342900" indent="-342900">
              <a:lnSpc>
                <a:spcPct val="116000"/>
              </a:lnSpc>
              <a:spcAft>
                <a:spcPts val="500"/>
              </a:spcAft>
              <a:buSzPct val="100000"/>
              <a:buChar char="●"/>
            </a:pPr>
            <a:r>
              <a:rPr lang="en-US" sz="1535" dirty="0">
                <a:solidFill>
                  <a:srgbClr val="1F2A37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llm+search：加上实测依据</a:t>
            </a:r>
            <a:endParaRPr lang="en-US" sz="1535" dirty="0"/>
          </a:p>
          <a:p>
            <a:pPr marL="342900" indent="-342900">
              <a:lnSpc>
                <a:spcPct val="116000"/>
              </a:lnSpc>
              <a:spcAft>
                <a:spcPts val="500"/>
              </a:spcAft>
              <a:buSzPct val="100000"/>
              <a:buChar char="●"/>
            </a:pPr>
            <a:r>
              <a:rPr lang="en-US" sz="1535" dirty="0">
                <a:solidFill>
                  <a:srgbClr val="1F2A37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llm+memory+search：再加上历史经验</a:t>
            </a:r>
            <a:endParaRPr lang="en-US" sz="1535" dirty="0"/>
          </a:p>
        </p:txBody>
      </p:sp>
      <p:sp>
        <p:nvSpPr>
          <p:cNvPr id="8" name="Shape 6"/>
          <p:cNvSpPr/>
          <p:nvPr/>
        </p:nvSpPr>
        <p:spPr>
          <a:xfrm>
            <a:off x="731520" y="3694176"/>
            <a:ext cx="67056" cy="2255520"/>
          </a:xfrm>
          <a:prstGeom prst="rect">
            <a:avLst/>
          </a:prstGeom>
          <a:solidFill>
            <a:srgbClr val="C0392B"/>
          </a:solidFill>
        </p:spPr>
      </p:sp>
      <p:sp>
        <p:nvSpPr>
          <p:cNvPr id="9" name="Text 7"/>
          <p:cNvSpPr/>
          <p:nvPr/>
        </p:nvSpPr>
        <p:spPr>
          <a:xfrm>
            <a:off x="1036320" y="3694176"/>
            <a:ext cx="10363200" cy="3901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35" b="1" dirty="0">
                <a:solidFill>
                  <a:srgbClr val="C0392B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两个必须避开的陷阱</a:t>
            </a:r>
            <a:endParaRPr lang="en-US" sz="1935" dirty="0"/>
          </a:p>
        </p:txBody>
      </p:sp>
      <p:sp>
        <p:nvSpPr>
          <p:cNvPr id="10" name="Text 8"/>
          <p:cNvSpPr/>
          <p:nvPr/>
        </p:nvSpPr>
        <p:spPr>
          <a:xfrm>
            <a:off x="1036320" y="4108704"/>
            <a:ext cx="10363200" cy="1767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lnSpc>
                <a:spcPct val="116000"/>
              </a:lnSpc>
              <a:spcAft>
                <a:spcPts val="500"/>
              </a:spcAft>
              <a:buSzPct val="100000"/>
              <a:buChar char="●"/>
            </a:pPr>
            <a:r>
              <a:rPr lang="en-US" sz="1535" dirty="0">
                <a:solidFill>
                  <a:srgbClr val="1F2A37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信息泄漏：在评测轨迹上边跑边攒记忆，agent 会把这条轨迹自己的上次结果检索回来。等于考试时把答案摆桌上。</a:t>
            </a:r>
            <a:endParaRPr lang="en-US" sz="1535" dirty="0"/>
          </a:p>
          <a:p>
            <a:pPr marL="342900" indent="-342900">
              <a:lnSpc>
                <a:spcPct val="116000"/>
              </a:lnSpc>
              <a:spcAft>
                <a:spcPts val="500"/>
              </a:spcAft>
              <a:buSzPct val="100000"/>
              <a:buChar char="●"/>
            </a:pPr>
            <a:r>
              <a:rPr lang="en-US" sz="1535" dirty="0">
                <a:solidFill>
                  <a:srgbClr val="1F2A37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标签造假：search-only 若仍调用 LLM，与含 LLM 的模式就不可比。所以它必须真的不调用，并有测试断言轮次为 0。</a:t>
            </a:r>
            <a:endParaRPr lang="en-US" sz="1535" dirty="0"/>
          </a:p>
        </p:txBody>
      </p:sp>
      <p:sp>
        <p:nvSpPr>
          <p:cNvPr id="11" name="Shape 9"/>
          <p:cNvSpPr/>
          <p:nvPr/>
        </p:nvSpPr>
        <p:spPr>
          <a:xfrm>
            <a:off x="731520" y="5559552"/>
            <a:ext cx="10789920" cy="707136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5559552"/>
            <a:ext cx="67056" cy="707136"/>
          </a:xfrm>
          <a:prstGeom prst="rect">
            <a:avLst/>
          </a:prstGeom>
          <a:solidFill>
            <a:srgbClr val="2E8B57"/>
          </a:solidFill>
        </p:spPr>
      </p:sp>
      <p:sp>
        <p:nvSpPr>
          <p:cNvPr id="13" name="Text 11"/>
          <p:cNvSpPr/>
          <p:nvPr/>
        </p:nvSpPr>
        <p:spPr>
          <a:xfrm>
            <a:off x="1024128" y="5632704"/>
            <a:ext cx="10277856" cy="5608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1600" dirty="0">
                <a:solidFill>
                  <a:srgbClr val="1F2A37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做法：先在示范集上积累记忆，再在完全不重叠的留出集上评测。评测阶段只读不写。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033760" y="6266688"/>
            <a:ext cx="60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65" dirty="0">
                <a:solidFill>
                  <a:srgbClr val="AAB4BE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10</a:t>
            </a:r>
            <a:endParaRPr lang="en-US" sz="1465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0560" y="292608"/>
            <a:ext cx="108508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65" b="1" kern="0" spc="100" dirty="0">
                <a:solidFill>
                  <a:srgbClr val="2B7BBA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结果</a:t>
            </a:r>
            <a:endParaRPr lang="en-US" sz="1465" dirty="0"/>
          </a:p>
        </p:txBody>
      </p:sp>
      <p:sp>
        <p:nvSpPr>
          <p:cNvPr id="3" name="Text 1"/>
          <p:cNvSpPr/>
          <p:nvPr/>
        </p:nvSpPr>
        <p:spPr>
          <a:xfrm>
            <a:off x="670560" y="560832"/>
            <a:ext cx="10850880" cy="670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A37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实测结果：记忆层没有带来可测增益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70560" y="1255776"/>
            <a:ext cx="1097280" cy="42672"/>
          </a:xfrm>
          <a:prstGeom prst="rect">
            <a:avLst/>
          </a:prstGeom>
          <a:solidFill>
            <a:srgbClr val="2B7BBA"/>
          </a:solidFill>
        </p:spPr>
      </p:sp>
      <p:sp>
        <p:nvSpPr>
          <p:cNvPr id="5" name="Shape 3"/>
          <p:cNvSpPr/>
          <p:nvPr/>
        </p:nvSpPr>
        <p:spPr>
          <a:xfrm>
            <a:off x="792480" y="4328160"/>
            <a:ext cx="5059680" cy="0"/>
          </a:xfrm>
          <a:prstGeom prst="line">
            <a:avLst/>
          </a:prstGeom>
          <a:noFill/>
          <a:ln w="15240">
            <a:solidFill>
              <a:srgbClr val="D8DE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143760"/>
            <a:ext cx="609600" cy="2184400"/>
          </a:xfrm>
          <a:prstGeom prst="rect">
            <a:avLst/>
          </a:prstGeom>
          <a:solidFill>
            <a:srgbClr val="2B7BBA"/>
          </a:solidFill>
          <a:ln w="12700">
            <a:solidFill>
              <a:srgbClr val="2B7BB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5360" y="2180336"/>
            <a:ext cx="487680" cy="21112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92480" y="1778000"/>
            <a:ext cx="853440" cy="3413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7BB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50%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8096" y="4389120"/>
            <a:ext cx="902208" cy="731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35" dirty="0">
                <a:solidFill>
                  <a:srgbClr val="1F2A37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llm-only</a:t>
            </a:r>
            <a:endParaRPr lang="en-US" sz="1335" dirty="0"/>
          </a:p>
        </p:txBody>
      </p:sp>
      <p:sp>
        <p:nvSpPr>
          <p:cNvPr id="10" name="Shape 8"/>
          <p:cNvSpPr/>
          <p:nvPr/>
        </p:nvSpPr>
        <p:spPr>
          <a:xfrm>
            <a:off x="2279904" y="3235960"/>
            <a:ext cx="609600" cy="1092200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40864" y="3272536"/>
            <a:ext cx="487680" cy="1019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157984" y="2870200"/>
            <a:ext cx="853440" cy="3413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A6D1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25%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133600" y="4389120"/>
            <a:ext cx="902208" cy="731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35" dirty="0">
                <a:solidFill>
                  <a:srgbClr val="1F2A37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search-only</a:t>
            </a:r>
            <a:endParaRPr lang="en-US" sz="1335" dirty="0"/>
          </a:p>
        </p:txBody>
      </p:sp>
      <p:sp>
        <p:nvSpPr>
          <p:cNvPr id="14" name="Shape 12"/>
          <p:cNvSpPr/>
          <p:nvPr/>
        </p:nvSpPr>
        <p:spPr>
          <a:xfrm>
            <a:off x="3645408" y="2506371"/>
            <a:ext cx="609600" cy="1821789"/>
          </a:xfrm>
          <a:prstGeom prst="rect">
            <a:avLst/>
          </a:prstGeom>
          <a:solidFill>
            <a:srgbClr val="2B7BBA"/>
          </a:solidFill>
          <a:ln w="12700">
            <a:solidFill>
              <a:srgbClr val="2B7BB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06368" y="2542947"/>
            <a:ext cx="487680" cy="1748637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523488" y="2140611"/>
            <a:ext cx="853440" cy="3413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7BB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41.7%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499104" y="4389120"/>
            <a:ext cx="902208" cy="731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35" dirty="0">
                <a:solidFill>
                  <a:srgbClr val="1F2A37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llm+search</a:t>
            </a:r>
            <a:endParaRPr lang="en-US" sz="1335" dirty="0"/>
          </a:p>
        </p:txBody>
      </p:sp>
      <p:sp>
        <p:nvSpPr>
          <p:cNvPr id="18" name="Shape 16"/>
          <p:cNvSpPr/>
          <p:nvPr/>
        </p:nvSpPr>
        <p:spPr>
          <a:xfrm>
            <a:off x="5010912" y="2506371"/>
            <a:ext cx="609600" cy="1821789"/>
          </a:xfrm>
          <a:prstGeom prst="rect">
            <a:avLst/>
          </a:prstGeom>
          <a:solidFill>
            <a:srgbClr val="2B7BBA"/>
          </a:solidFill>
          <a:ln w="12700">
            <a:solidFill>
              <a:srgbClr val="2B7BB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71872" y="2542947"/>
            <a:ext cx="487680" cy="1748637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88992" y="2140611"/>
            <a:ext cx="853440" cy="3413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7BBA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41.7%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864608" y="4389120"/>
            <a:ext cx="902208" cy="731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35" dirty="0">
                <a:solidFill>
                  <a:srgbClr val="1F2A37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llm+</a:t>
            </a:r>
            <a:endParaRPr lang="en-US" sz="1335" dirty="0"/>
          </a:p>
          <a:p>
            <a:pPr marL="0" indent="0" algn="ctr">
              <a:buNone/>
            </a:pPr>
            <a:r>
              <a:rPr lang="en-US" sz="1335" dirty="0">
                <a:solidFill>
                  <a:srgbClr val="1F2A37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memory</a:t>
            </a:r>
            <a:endParaRPr lang="en-US" sz="1335" dirty="0"/>
          </a:p>
          <a:p>
            <a:pPr marL="0" indent="0" algn="ctr">
              <a:buNone/>
            </a:pPr>
            <a:r>
              <a:rPr lang="en-US" sz="1335" dirty="0">
                <a:solidFill>
                  <a:srgbClr val="1F2A37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+search</a:t>
            </a:r>
            <a:endParaRPr lang="en-US" sz="1335" dirty="0"/>
          </a:p>
        </p:txBody>
      </p:sp>
      <p:sp>
        <p:nvSpPr>
          <p:cNvPr id="22" name="Text 20"/>
          <p:cNvSpPr/>
          <p:nvPr/>
        </p:nvSpPr>
        <p:spPr>
          <a:xfrm>
            <a:off x="731520" y="5218176"/>
            <a:ext cx="5242560" cy="3413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B7C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超基线率（提议显著优于基线的比例）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522720" y="1609344"/>
            <a:ext cx="4998720" cy="426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spcAft>
                <a:spcPts val="800"/>
              </a:spcAft>
              <a:buSzPct val="100000"/>
              <a:buChar char="●"/>
            </a:pPr>
            <a:r>
              <a:rPr lang="en-US" sz="1735" b="1" dirty="0">
                <a:solidFill>
                  <a:srgbClr val="C0392B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三种含 LLM 模式的提议分逐位相同。</a:t>
            </a:r>
            <a:endParaRPr lang="en-US" sz="1735" dirty="0"/>
          </a:p>
          <a:p>
            <a:pPr marL="342900" indent="-342900">
              <a:lnSpc>
                <a:spcPct val="118000"/>
              </a:lnSpc>
              <a:spcAft>
                <a:spcPts val="400"/>
              </a:spcAft>
              <a:buSzPct val="100000"/>
              <a:buChar char="●"/>
            </a:pPr>
            <a:r>
              <a:rPr lang="en-US" sz="1535" b="1" dirty="0">
                <a:solidFill>
                  <a:srgbClr val="1F2A37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根因已定位到具体层面：</a:t>
            </a:r>
            <a:endParaRPr lang="en-US" sz="1735" dirty="0"/>
          </a:p>
          <a:p>
            <a:pPr marL="685800" lvl="1" indent="-342900">
              <a:lnSpc>
                <a:spcPct val="118000"/>
              </a:lnSpc>
              <a:spcAft>
                <a:spcPts val="400"/>
              </a:spcAft>
              <a:buSzPct val="100000"/>
              <a:buChar char="●"/>
            </a:pPr>
            <a:r>
              <a:rPr lang="en-US" sz="1535" dirty="0">
                <a:solidFill>
                  <a:srgbClr val="5B6B7C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示范集准入的 5 条里，4 条是静止、1 条混合。</a:t>
            </a:r>
            <a:endParaRPr lang="en-US" sz="1735" dirty="0"/>
          </a:p>
          <a:p>
            <a:pPr marL="685800" lvl="1" indent="-342900">
              <a:lnSpc>
                <a:spcPct val="118000"/>
              </a:lnSpc>
              <a:spcAft>
                <a:spcPts val="400"/>
              </a:spcAft>
              <a:buSzPct val="100000"/>
              <a:buChar char="●"/>
            </a:pPr>
            <a:r>
              <a:rPr lang="en-US" sz="1535" dirty="0">
                <a:solidFill>
                  <a:srgbClr val="5B6B7C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行驶类轨迹在记忆里一条已验证案例都没有。</a:t>
            </a:r>
            <a:endParaRPr lang="en-US" sz="1735" dirty="0"/>
          </a:p>
          <a:p>
            <a:pPr marL="685800" lvl="1" indent="-342900">
              <a:lnSpc>
                <a:spcPct val="118000"/>
              </a:lnSpc>
              <a:spcAft>
                <a:spcPts val="800"/>
              </a:spcAft>
              <a:buSzPct val="100000"/>
              <a:buChar char="●"/>
            </a:pPr>
            <a:r>
              <a:rPr lang="en-US" sz="1535" dirty="0">
                <a:solidFill>
                  <a:srgbClr val="5B6B7C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所以 4 条行驶类留出样本检索到的可用区间数是 0。</a:t>
            </a:r>
            <a:endParaRPr lang="en-US" sz="1735" dirty="0"/>
          </a:p>
          <a:p>
            <a:pPr marL="342900" indent="-342900">
              <a:lnSpc>
                <a:spcPct val="118000"/>
              </a:lnSpc>
              <a:spcAft>
                <a:spcPts val="800"/>
              </a:spcAft>
              <a:buSzPct val="100000"/>
              <a:buChar char="●"/>
            </a:pPr>
            <a:r>
              <a:rPr lang="en-US" sz="1535" b="1" dirty="0">
                <a:solidFill>
                  <a:srgbClr val="2E8B57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结论：这是示范集太小造成的数据饥饿，不是方法失败。</a:t>
            </a:r>
            <a:endParaRPr lang="en-US" sz="1735" dirty="0"/>
          </a:p>
        </p:txBody>
      </p:sp>
      <p:sp>
        <p:nvSpPr>
          <p:cNvPr id="24" name="Text 22"/>
          <p:cNvSpPr/>
          <p:nvPr/>
        </p:nvSpPr>
        <p:spPr>
          <a:xfrm>
            <a:off x="11033760" y="6266688"/>
            <a:ext cx="60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65" dirty="0">
                <a:solidFill>
                  <a:srgbClr val="AAB4BE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11</a:t>
            </a:r>
            <a:endParaRPr lang="en-US" sz="1465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0560" y="292608"/>
            <a:ext cx="108508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65" b="1" kern="0" spc="100" dirty="0">
                <a:solidFill>
                  <a:srgbClr val="2B7BBA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实践提醒</a:t>
            </a:r>
            <a:endParaRPr lang="en-US" sz="1465" dirty="0"/>
          </a:p>
        </p:txBody>
      </p:sp>
      <p:sp>
        <p:nvSpPr>
          <p:cNvPr id="3" name="Text 1"/>
          <p:cNvSpPr/>
          <p:nvPr/>
        </p:nvSpPr>
        <p:spPr>
          <a:xfrm>
            <a:off x="670560" y="560832"/>
            <a:ext cx="10850880" cy="670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A37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六个被数据推翻的假设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70560" y="1255776"/>
            <a:ext cx="1097280" cy="42672"/>
          </a:xfrm>
          <a:prstGeom prst="rect">
            <a:avLst/>
          </a:prstGeom>
          <a:solidFill>
            <a:srgbClr val="2B7BBA"/>
          </a:solidFill>
        </p:spPr>
      </p:sp>
      <p:graphicFrame>
        <p:nvGraphicFramePr>
          <p:cNvPr id="13" name="Table 0"/>
          <p:cNvGraphicFramePr>
            <a:graphicFrameLocks noGrp="1"/>
          </p:cNvGraphicFramePr>
          <p:nvPr/>
        </p:nvGraphicFramePr>
        <p:xfrm>
          <a:off x="731520" y="1404789"/>
          <a:ext cx="10789920" cy="4440555"/>
        </p:xfrm>
        <a:graphic>
          <a:graphicData uri="http://schemas.openxmlformats.org/drawingml/2006/table">
            <a:tbl>
              <a:tblPr/>
              <a:tblGrid>
                <a:gridCol w="2804160"/>
                <a:gridCol w="5486400"/>
                <a:gridCol w="2499360"/>
              </a:tblGrid>
              <a:tr h="6343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微软雅黑" charset="0"/>
                          <a:ea typeface="微软雅黑" panose="020B0503020204020204" pitchFamily="34" charset="-122"/>
                          <a:cs typeface="微软雅黑" pitchFamily="34" charset="-120"/>
                        </a:rPr>
                        <a:t>问题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微软雅黑" charset="0"/>
                          <a:ea typeface="微软雅黑" panose="020B0503020204020204" pitchFamily="34" charset="-122"/>
                          <a:cs typeface="微软雅黑" pitchFamily="34" charset="-120"/>
                        </a:rPr>
                        <a:t>实测症状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微软雅黑" charset="0"/>
                          <a:ea typeface="微软雅黑" panose="020B0503020204020204" pitchFamily="34" charset="-122"/>
                          <a:cs typeface="微软雅黑" pitchFamily="34" charset="-120"/>
                        </a:rPr>
                        <a:t>修法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</a:tr>
              <a:tr h="6343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微软雅黑" charset="0"/>
                          <a:ea typeface="微软雅黑" panose="020B0503020204020204" pitchFamily="34" charset="-122"/>
                          <a:cs typeface="微软雅黑" pitchFamily="34" charset="-120"/>
                        </a:rPr>
                        <a:t>距离用墨卡托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微软雅黑" charset="0"/>
                          <a:ea typeface="微软雅黑" panose="020B0503020204020204" pitchFamily="34" charset="-122"/>
                          <a:cs typeface="微软雅黑" pitchFamily="34" charset="-120"/>
                        </a:rPr>
                        <a:t>31°N 系统性放大 17%，容差预算凭空偏 17%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微软雅黑" charset="0"/>
                          <a:ea typeface="微软雅黑" panose="020B0503020204020204" pitchFamily="34" charset="-122"/>
                          <a:cs typeface="微软雅黑" pitchFamily="34" charset="-120"/>
                        </a:rPr>
                        <a:t>换局部等距投影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43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微软雅黑" charset="0"/>
                          <a:ea typeface="微软雅黑" panose="020B0503020204020204" pitchFamily="34" charset="-122"/>
                          <a:cs typeface="微软雅黑" pitchFamily="34" charset="-120"/>
                        </a:rPr>
                        <a:t>Hausdorff 口径错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微软雅黑" charset="0"/>
                          <a:ea typeface="微软雅黑" panose="020B0503020204020204" pitchFamily="34" charset="-122"/>
                          <a:cs typeface="微软雅黑" pitchFamily="34" charset="-120"/>
                        </a:rPr>
                        <a:t>顶点集算法给 548 米，真实值 4.77 米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微软雅黑" charset="0"/>
                          <a:ea typeface="微软雅黑" panose="020B0503020204020204" pitchFamily="34" charset="-122"/>
                          <a:cs typeface="微软雅黑" pitchFamily="34" charset="-120"/>
                        </a:rPr>
                        <a:t>改点到折线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43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微软雅黑" charset="0"/>
                          <a:ea typeface="微软雅黑" panose="020B0503020204020204" pitchFamily="34" charset="-122"/>
                          <a:cs typeface="微软雅黑" pitchFamily="34" charset="-120"/>
                        </a:rPr>
                        <a:t>DP 偏差估计错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微软雅黑" charset="0"/>
                          <a:ea typeface="微软雅黑" panose="020B0503020204020204" pitchFamily="34" charset="-122"/>
                          <a:cs typeface="微软雅黑" pitchFamily="34" charset="-120"/>
                        </a:rPr>
                        <a:t>容差 2 米时报出 8349 米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微软雅黑" charset="0"/>
                          <a:ea typeface="微软雅黑" panose="020B0503020204020204" pitchFamily="34" charset="-122"/>
                          <a:cs typeface="微软雅黑" pitchFamily="34" charset="-120"/>
                        </a:rPr>
                        <a:t>从递归结构取精确界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43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微软雅黑" charset="0"/>
                          <a:ea typeface="微软雅黑" panose="020B0503020204020204" pitchFamily="34" charset="-122"/>
                          <a:cs typeface="微软雅黑" pitchFamily="34" charset="-120"/>
                        </a:rPr>
                        <a:t>在噪声上算航向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微软雅黑" charset="0"/>
                          <a:ea typeface="微软雅黑" panose="020B0503020204020204" pitchFamily="34" charset="-122"/>
                          <a:cs typeface="微软雅黑" pitchFamily="34" charset="-120"/>
                        </a:rPr>
                        <a:t>单条静止轨迹假掉头 37 个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微软雅黑" charset="0"/>
                          <a:ea typeface="微软雅黑" panose="020B0503020204020204" pitchFamily="34" charset="-122"/>
                          <a:cs typeface="微软雅黑" pitchFamily="34" charset="-120"/>
                        </a:rPr>
                        <a:t>加 10 米噪声地板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43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微软雅黑" charset="0"/>
                          <a:ea typeface="微软雅黑" panose="020B0503020204020204" pitchFamily="34" charset="-122"/>
                          <a:cs typeface="微软雅黑" pitchFamily="34" charset="-120"/>
                        </a:rPr>
                        <a:t>漂移用绝对偏移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微软雅黑" charset="0"/>
                          <a:ea typeface="微软雅黑" panose="020B0503020204020204" pitchFamily="34" charset="-122"/>
                          <a:cs typeface="微软雅黑" pitchFamily="34" charset="-120"/>
                        </a:rPr>
                        <a:t>误判 50% 的正常行驶点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微软雅黑" charset="0"/>
                          <a:ea typeface="微软雅黑" panose="020B0503020204020204" pitchFamily="34" charset="-122"/>
                          <a:cs typeface="微软雅黑" pitchFamily="34" charset="-120"/>
                        </a:rPr>
                        <a:t>改无量纲曲率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43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微软雅黑" charset="0"/>
                          <a:ea typeface="微软雅黑" panose="020B0503020204020204" pitchFamily="34" charset="-122"/>
                          <a:cs typeface="微软雅黑" pitchFamily="34" charset="-120"/>
                        </a:rPr>
                        <a:t>毛刺用位移法识别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微软雅黑" charset="0"/>
                          <a:ea typeface="微软雅黑" panose="020B0503020204020204" pitchFamily="34" charset="-122"/>
                          <a:cs typeface="微软雅黑" pitchFamily="34" charset="-120"/>
                        </a:rPr>
                        <a:t>一处毛刺污染两个位置，真毛刺抓不到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微软雅黑" charset="0"/>
                          <a:ea typeface="微软雅黑" panose="020B0503020204020204" pitchFamily="34" charset="-122"/>
                          <a:cs typeface="微软雅黑" pitchFamily="34" charset="-120"/>
                        </a:rPr>
                        <a:t>改相对插值位置偏差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5" name="组合 4"/>
          <p:cNvGrpSpPr/>
          <p:nvPr/>
        </p:nvGrpSpPr>
        <p:grpSpPr>
          <a:xfrm>
            <a:off x="731520" y="6016413"/>
            <a:ext cx="10789920" cy="557953"/>
            <a:chOff x="864" y="6653"/>
            <a:chExt cx="12744" cy="864"/>
          </a:xfrm>
        </p:grpSpPr>
        <p:sp>
          <p:nvSpPr>
            <p:cNvPr id="6" name="Shape 3"/>
            <p:cNvSpPr/>
            <p:nvPr/>
          </p:nvSpPr>
          <p:spPr>
            <a:xfrm>
              <a:off x="864" y="6653"/>
              <a:ext cx="12744" cy="864"/>
            </a:xfrm>
            <a:prstGeom prst="rect">
              <a:avLst/>
            </a:prstGeom>
            <a:solidFill>
              <a:srgbClr val="F4F6F8"/>
            </a:solidFill>
            <a:ln w="12700">
              <a:solidFill>
                <a:srgbClr val="F4F6F8"/>
              </a:solidFill>
              <a:prstDash val="solid"/>
            </a:ln>
          </p:spPr>
        </p:sp>
        <p:sp>
          <p:nvSpPr>
            <p:cNvPr id="7" name="Shape 4"/>
            <p:cNvSpPr/>
            <p:nvPr/>
          </p:nvSpPr>
          <p:spPr>
            <a:xfrm>
              <a:off x="864" y="6653"/>
              <a:ext cx="79" cy="864"/>
            </a:xfrm>
            <a:prstGeom prst="rect">
              <a:avLst/>
            </a:prstGeom>
            <a:solidFill>
              <a:srgbClr val="C0392B"/>
            </a:solidFill>
          </p:spPr>
        </p:sp>
        <p:sp>
          <p:nvSpPr>
            <p:cNvPr id="8" name="Text 5"/>
            <p:cNvSpPr/>
            <p:nvPr/>
          </p:nvSpPr>
          <p:spPr>
            <a:xfrm>
              <a:off x="1210" y="6739"/>
              <a:ext cx="12139" cy="691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>
                <a:lnSpc>
                  <a:spcPct val="116000"/>
                </a:lnSpc>
                <a:buNone/>
              </a:pPr>
              <a:r>
                <a:rPr lang="en-US" sz="1600" dirty="0">
                  <a:solidFill>
                    <a:srgbClr val="1F2A37"/>
                  </a:solidFill>
                  <a:latin typeface="微软雅黑" charset="0"/>
                  <a:ea typeface="微软雅黑" panose="020B0503020204020204" pitchFamily="34" charset="-122"/>
                  <a:cs typeface="微软雅黑" pitchFamily="34" charset="-120"/>
                </a:rPr>
                <a:t>这些坑的共同点：代码都不会报错，只会让结论错。所以每条都写了回归测试。</a:t>
              </a:r>
              <a:endParaRPr lang="en-US" sz="1600" dirty="0"/>
            </a:p>
          </p:txBody>
        </p:sp>
      </p:grpSp>
      <p:sp>
        <p:nvSpPr>
          <p:cNvPr id="9" name="Text 6"/>
          <p:cNvSpPr/>
          <p:nvPr/>
        </p:nvSpPr>
        <p:spPr>
          <a:xfrm>
            <a:off x="11033760" y="6266688"/>
            <a:ext cx="60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65" dirty="0">
                <a:solidFill>
                  <a:srgbClr val="AAB4BE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12</a:t>
            </a:r>
            <a:endParaRPr lang="en-US" sz="1465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0560" y="292608"/>
            <a:ext cx="108508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65" b="1" kern="0" spc="100" dirty="0">
                <a:solidFill>
                  <a:srgbClr val="2B7BBA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现状</a:t>
            </a:r>
            <a:endParaRPr lang="en-US" sz="1465" dirty="0"/>
          </a:p>
        </p:txBody>
      </p:sp>
      <p:sp>
        <p:nvSpPr>
          <p:cNvPr id="3" name="Text 1"/>
          <p:cNvSpPr/>
          <p:nvPr/>
        </p:nvSpPr>
        <p:spPr>
          <a:xfrm>
            <a:off x="670560" y="560832"/>
            <a:ext cx="10850880" cy="670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A37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现在能跑到什么程度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70560" y="1255776"/>
            <a:ext cx="1097280" cy="42672"/>
          </a:xfrm>
          <a:prstGeom prst="rect">
            <a:avLst/>
          </a:prstGeom>
          <a:solidFill>
            <a:srgbClr val="2B7BBA"/>
          </a:solidFill>
        </p:spPr>
      </p:sp>
      <p:sp>
        <p:nvSpPr>
          <p:cNvPr id="5" name="Text 3"/>
          <p:cNvSpPr/>
          <p:nvPr/>
        </p:nvSpPr>
        <p:spPr>
          <a:xfrm>
            <a:off x="731520" y="1511808"/>
            <a:ext cx="5181600" cy="3901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8B57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可以直接用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950720"/>
            <a:ext cx="5181600" cy="2560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●"/>
            </a:pPr>
            <a:r>
              <a:rPr lang="en-US" sz="1665" dirty="0">
                <a:solidFill>
                  <a:srgbClr val="1F2A37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离线模式可完整跑通全流程</a:t>
            </a:r>
            <a:endParaRPr lang="en-US" sz="1665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●"/>
            </a:pPr>
            <a:r>
              <a:rPr lang="en-US" sz="1665" dirty="0">
                <a:solidFill>
                  <a:srgbClr val="1F2A37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接真实模型只需设一个环境变量</a:t>
            </a:r>
            <a:endParaRPr lang="en-US" sz="1665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●"/>
            </a:pPr>
            <a:r>
              <a:rPr lang="en-US" sz="1665" dirty="0">
                <a:solidFill>
                  <a:srgbClr val="1F2A37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参数判分与记忆准入已可用</a:t>
            </a:r>
            <a:endParaRPr lang="en-US" sz="1665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●"/>
            </a:pPr>
            <a:r>
              <a:rPr lang="en-US" sz="1665" dirty="0">
                <a:solidFill>
                  <a:srgbClr val="1F2A37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六类报告图自动产出</a:t>
            </a:r>
            <a:endParaRPr lang="en-US" sz="1665" dirty="0"/>
          </a:p>
        </p:txBody>
      </p:sp>
      <p:sp>
        <p:nvSpPr>
          <p:cNvPr id="7" name="Text 5"/>
          <p:cNvSpPr/>
          <p:nvPr/>
        </p:nvSpPr>
        <p:spPr>
          <a:xfrm>
            <a:off x="6339840" y="1511808"/>
            <a:ext cx="5242560" cy="3901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0392B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还没验证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339840" y="1950720"/>
            <a:ext cx="5181600" cy="2560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●"/>
            </a:pPr>
            <a:r>
              <a:rPr lang="en-US" sz="1665" dirty="0">
                <a:solidFill>
                  <a:srgbClr val="1F2A37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记忆增益（需扩大示范集）</a:t>
            </a:r>
            <a:endParaRPr lang="en-US" sz="1665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●"/>
            </a:pPr>
            <a:r>
              <a:rPr lang="en-US" sz="1665" dirty="0">
                <a:solidFill>
                  <a:srgbClr val="1F2A37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真实 LLM 的消融（未跑过）</a:t>
            </a:r>
            <a:endParaRPr lang="en-US" sz="1665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●"/>
            </a:pPr>
            <a:r>
              <a:rPr lang="en-US" sz="1665" dirty="0">
                <a:solidFill>
                  <a:srgbClr val="1F2A37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路网约束（仅有接口）</a:t>
            </a:r>
            <a:endParaRPr lang="en-US" sz="1665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●"/>
            </a:pPr>
            <a:r>
              <a:rPr lang="en-US" sz="1665" dirty="0">
                <a:solidFill>
                  <a:srgbClr val="1F2A37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全量 11386 条（未跑）</a:t>
            </a:r>
            <a:endParaRPr lang="en-US" sz="1665" dirty="0"/>
          </a:p>
        </p:txBody>
      </p:sp>
      <p:sp>
        <p:nvSpPr>
          <p:cNvPr id="9" name="Shape 7"/>
          <p:cNvSpPr/>
          <p:nvPr/>
        </p:nvSpPr>
        <p:spPr>
          <a:xfrm>
            <a:off x="731520" y="4803648"/>
            <a:ext cx="10789920" cy="950976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4803648"/>
            <a:ext cx="67056" cy="950976"/>
          </a:xfrm>
          <a:prstGeom prst="rect">
            <a:avLst/>
          </a:prstGeom>
          <a:solidFill>
            <a:srgbClr val="C0392B"/>
          </a:solidFill>
        </p:spPr>
      </p:sp>
      <p:sp>
        <p:nvSpPr>
          <p:cNvPr id="11" name="Text 9"/>
          <p:cNvSpPr/>
          <p:nvPr/>
        </p:nvSpPr>
        <p:spPr>
          <a:xfrm>
            <a:off x="1024128" y="4876800"/>
            <a:ext cx="10277856" cy="8046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1600" dirty="0">
                <a:solidFill>
                  <a:srgbClr val="1F2A37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离线 provider 每次给出同一个拐点，天然抹平了模式差异。不接真实模型，消融表就没有信息量。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033760" y="6266688"/>
            <a:ext cx="60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65" dirty="0">
                <a:solidFill>
                  <a:srgbClr val="AAB4BE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13</a:t>
            </a:r>
            <a:endParaRPr lang="en-US" sz="1465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0560" y="292608"/>
            <a:ext cx="108508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65" b="1" kern="0" spc="100" dirty="0">
                <a:solidFill>
                  <a:srgbClr val="2B7BBA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下一步</a:t>
            </a:r>
            <a:endParaRPr lang="en-US" sz="1465" dirty="0"/>
          </a:p>
        </p:txBody>
      </p:sp>
      <p:sp>
        <p:nvSpPr>
          <p:cNvPr id="3" name="Text 1"/>
          <p:cNvSpPr/>
          <p:nvPr/>
        </p:nvSpPr>
        <p:spPr>
          <a:xfrm>
            <a:off x="670560" y="560832"/>
            <a:ext cx="10850880" cy="670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A37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怎么接着做 （</a:t>
            </a:r>
            <a:r>
              <a:rPr lang="zh-CN" altLang="en-US" sz="3200" b="1" dirty="0">
                <a:solidFill>
                  <a:srgbClr val="1F2A37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怎么做更实用</a:t>
            </a:r>
            <a:r>
              <a:rPr lang="en-US" altLang="zh-CN" sz="3200" b="1" dirty="0">
                <a:solidFill>
                  <a:srgbClr val="1F2A37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，</a:t>
            </a:r>
            <a:r>
              <a:rPr lang="zh-CN" altLang="en-US" sz="3200" b="1" dirty="0">
                <a:solidFill>
                  <a:srgbClr val="1F2A37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更强大的智能体</a:t>
            </a:r>
            <a:r>
              <a:rPr lang="en-US" sz="3200" b="1" dirty="0">
                <a:solidFill>
                  <a:srgbClr val="1F2A37"/>
                </a:solidFill>
                <a:latin typeface="微软雅黑" charset="0"/>
                <a:ea typeface="微软雅黑" panose="020B0503020204020204" pitchFamily="34" charset="-122"/>
                <a:cs typeface="微软雅黑" pitchFamily="34" charset="-120"/>
              </a:rPr>
              <a:t>）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70560" y="1255776"/>
            <a:ext cx="1097280" cy="42672"/>
          </a:xfrm>
          <a:prstGeom prst="rect">
            <a:avLst/>
          </a:prstGeom>
          <a:solidFill>
            <a:srgbClr val="2B7BBA"/>
          </a:solidFill>
        </p:spPr>
      </p:sp>
      <p:sp>
        <p:nvSpPr>
          <p:cNvPr id="17" name="Text 15"/>
          <p:cNvSpPr/>
          <p:nvPr/>
        </p:nvSpPr>
        <p:spPr>
          <a:xfrm>
            <a:off x="1402080" y="1969177"/>
            <a:ext cx="10789920" cy="426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4265" dirty="0">
                <a:latin typeface="Heiti SC Light" charset="-122"/>
                <a:ea typeface="Heiti SC Light" charset="-122"/>
              </a:rPr>
              <a:t>你认为还能怎么做呢</a:t>
            </a:r>
            <a:r>
              <a:rPr lang="en-US" altLang="zh-CN" sz="4265" dirty="0">
                <a:latin typeface="Heiti SC Light" charset="-122"/>
                <a:ea typeface="Heiti SC Light" charset="-122"/>
              </a:rPr>
              <a:t>？</a:t>
            </a:r>
            <a:endParaRPr lang="en-US" altLang="zh-CN" sz="4265" dirty="0">
              <a:latin typeface="Heiti SC Light" charset="-122"/>
              <a:ea typeface="Heiti SC Light" charset="-122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1033760" y="6266688"/>
            <a:ext cx="60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65" dirty="0">
                <a:solidFill>
                  <a:srgbClr val="AAB4BE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14</a:t>
            </a:r>
            <a:endParaRPr lang="en-US" sz="1465" dirty="0"/>
          </a:p>
        </p:txBody>
      </p:sp>
      <p:sp>
        <p:nvSpPr>
          <p:cNvPr id="19" name="文本框 18"/>
          <p:cNvSpPr txBox="1"/>
          <p:nvPr/>
        </p:nvSpPr>
        <p:spPr>
          <a:xfrm>
            <a:off x="2420620" y="3429000"/>
            <a:ext cx="609600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400"/>
              <a:t>T-Assess: An Efficient Data Quality Assessment System Tailored for Trajectory Data</a:t>
            </a:r>
            <a:endParaRPr lang="en-US" altLang="zh-CN" sz="24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/>
          <p:nvPr/>
        </p:nvPicPr>
        <p:blipFill>
          <a:blip r:embed="rId1" r:link="rId2"/>
          <a:srcRect t="42487" b="40376"/>
          <a:stretch>
            <a:fillRect/>
          </a:stretch>
        </p:blipFill>
        <p:spPr>
          <a:xfrm>
            <a:off x="-635" y="-47625"/>
            <a:ext cx="10560573" cy="140716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矩形 6"/>
          <p:cNvSpPr/>
          <p:nvPr/>
        </p:nvSpPr>
        <p:spPr>
          <a:xfrm>
            <a:off x="1" y="-143510"/>
            <a:ext cx="10559938" cy="1503045"/>
          </a:xfrm>
          <a:prstGeom prst="rect">
            <a:avLst/>
          </a:prstGeom>
          <a:solidFill>
            <a:srgbClr val="9F3A3D">
              <a:alpha val="8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文本框 3"/>
          <p:cNvSpPr txBox="1"/>
          <p:nvPr/>
        </p:nvSpPr>
        <p:spPr>
          <a:xfrm>
            <a:off x="834736" y="189230"/>
            <a:ext cx="2478405" cy="64516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charset="0"/>
                <a:ea typeface="思源黑体 CN Normal" charset="-122"/>
                <a:cs typeface="Times New Roman" panose="02020603050405020304" charset="0"/>
              </a:rPr>
              <a:t>思考与讨论</a:t>
            </a:r>
            <a:endParaRPr lang="zh-CN" altLang="en-US" sz="3600" b="1" dirty="0">
              <a:solidFill>
                <a:schemeClr val="bg1"/>
              </a:solidFill>
              <a:latin typeface="Times New Roman" panose="02020603050405020304" charset="0"/>
              <a:ea typeface="思源黑体 CN Normal" charset="-122"/>
              <a:cs typeface="Times New Roman" panose="02020603050405020304" charset="0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552077" y="909035"/>
            <a:ext cx="304800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5935" y="45047"/>
            <a:ext cx="1223983" cy="1223983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641915" y="1624088"/>
            <a:ext cx="10908170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轨迹分段、轨迹去噪、轨迹简化三个步骤可不可以调换顺序？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</p:spTree>
  </p:cSld>
  <p:clrMapOvr>
    <a:masterClrMapping/>
  </p:clrMapOvr>
  <p:transition spd="slow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图片 104"/>
          <p:cNvPicPr/>
          <p:nvPr>
            <p:custDataLst>
              <p:tags r:id="rId1"/>
            </p:custDataLst>
          </p:nvPr>
        </p:nvPicPr>
        <p:blipFill>
          <a:blip r:embed="rId2" r:link="rId3"/>
          <a:srcRect t="24211" r="3780" b="21843"/>
          <a:stretch>
            <a:fillRect/>
          </a:stretch>
        </p:blipFill>
        <p:spPr>
          <a:xfrm>
            <a:off x="-27305" y="1681480"/>
            <a:ext cx="12205335" cy="3746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7411" name="矩形 1"/>
          <p:cNvSpPr/>
          <p:nvPr>
            <p:custDataLst>
              <p:tags r:id="rId4"/>
            </p:custDataLst>
          </p:nvPr>
        </p:nvSpPr>
        <p:spPr>
          <a:xfrm>
            <a:off x="-23495" y="1631950"/>
            <a:ext cx="12267565" cy="3803650"/>
          </a:xfrm>
          <a:prstGeom prst="rect">
            <a:avLst/>
          </a:prstGeom>
          <a:solidFill>
            <a:srgbClr val="9F3A3D">
              <a:alpha val="83000"/>
            </a:srgbClr>
          </a:solidFill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00" dirty="0"/>
          </a:p>
        </p:txBody>
      </p:sp>
      <p:pic>
        <p:nvPicPr>
          <p:cNvPr id="100" name="图片 99"/>
          <p:cNvPicPr/>
          <p:nvPr>
            <p:custDataLst>
              <p:tags r:id="rId5"/>
            </p:custDataLst>
          </p:nvPr>
        </p:nvPicPr>
        <p:blipFill>
          <a:blip r:embed="rId6" r:link="rId7"/>
          <a:stretch>
            <a:fillRect/>
          </a:stretch>
        </p:blipFill>
        <p:spPr>
          <a:xfrm>
            <a:off x="9831070" y="348615"/>
            <a:ext cx="2099945" cy="51371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209550" y="0"/>
            <a:ext cx="2361565" cy="2361565"/>
          </a:xfrm>
          <a:prstGeom prst="rect">
            <a:avLst/>
          </a:prstGeom>
        </p:spPr>
      </p:pic>
      <p:sp>
        <p:nvSpPr>
          <p:cNvPr id="17412" name="文本框 3"/>
          <p:cNvSpPr txBox="1"/>
          <p:nvPr>
            <p:custDataLst>
              <p:tags r:id="rId10"/>
            </p:custDataLst>
          </p:nvPr>
        </p:nvSpPr>
        <p:spPr>
          <a:xfrm>
            <a:off x="4872017" y="3093720"/>
            <a:ext cx="3047873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algn="ctr">
              <a:buNone/>
            </a:pPr>
            <a:r>
              <a:rPr lang="zh-CN" altLang="en-US" sz="5400" b="1" dirty="0">
                <a:solidFill>
                  <a:srgbClr val="FDF8F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谢谢！</a:t>
            </a:r>
            <a:endParaRPr lang="zh-CN" altLang="en-US" sz="5400" b="1" dirty="0">
              <a:solidFill>
                <a:srgbClr val="FDF8F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>
            <p:custDataLst>
              <p:tags r:id="rId11"/>
            </p:custDataLst>
          </p:nvPr>
        </p:nvSpPr>
        <p:spPr>
          <a:xfrm flipV="1">
            <a:off x="-23495" y="5121275"/>
            <a:ext cx="12267565" cy="361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>
            <p:custDataLst>
              <p:tags r:id="rId12"/>
            </p:custDataLst>
          </p:nvPr>
        </p:nvSpPr>
        <p:spPr>
          <a:xfrm>
            <a:off x="-27305" y="1858645"/>
            <a:ext cx="12267565" cy="361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3695314" y="4199175"/>
            <a:ext cx="6135756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Email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：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hlinkClick r:id="rId13"/>
              </a:rPr>
              <a:t>52285903012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hlinkClick r:id="rId13"/>
              </a:rPr>
              <a:t>@stu.ecnu.edu.cn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 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2216,&quot;width&quot;:16630.823622047243}"/>
</p:tagLst>
</file>

<file path=ppt/tags/tag2.xml><?xml version="1.0" encoding="utf-8"?>
<p:tagLst xmlns:p="http://schemas.openxmlformats.org/presentationml/2006/main">
  <p:tag name="KSO_WM_UNIT_PLACING_PICTURE_USER_VIEWPORT" val="{&quot;height&quot;:1927.532283464567,&quot;width&quot;:1927.532283464567}"/>
</p:tagLst>
</file>

<file path=ppt/tags/tag3.xml><?xml version="1.0" encoding="utf-8"?>
<p:tagLst xmlns:p="http://schemas.openxmlformats.org/presentationml/2006/main">
  <p:tag name="KSO_WM_UNIT_PLACING_PICTURE_USER_VIEWPORT" val="{&quot;height&quot;:2216,&quot;width&quot;:16630.823622047243}"/>
</p:tagLst>
</file>

<file path=ppt/tags/tag4.xml><?xml version="1.0" encoding="utf-8"?>
<p:tagLst xmlns:p="http://schemas.openxmlformats.org/presentationml/2006/main">
  <p:tag name="KSO_WM_UNIT_PLACING_PICTURE_USER_VIEWPORT" val="{&quot;height&quot;:1927.532283464567,&quot;width&quot;:1927.532283464567}"/>
</p:tagLst>
</file>

<file path=ppt/tags/tag5.xml><?xml version="1.0" encoding="utf-8"?>
<p:tagLst xmlns:p="http://schemas.openxmlformats.org/presentationml/2006/main">
  <p:tag name="TABLE_ENDDRAG_ORIGIN_RECT" val="590*322"/>
  <p:tag name="TABLE_ENDDRAG_RECT" val="71*156*590*322"/>
</p:tagLst>
</file>

<file path=ppt/tags/tag6.xml><?xml version="1.0" encoding="utf-8"?>
<p:tagLst xmlns:p="http://schemas.openxmlformats.org/presentationml/2006/main">
  <p:tag name="KSO_WM_UNIT_PLACING_PICTURE_USER_VIEWPORT" val="{&quot;height&quot;:2216,&quot;width&quot;:16630.823622047243}"/>
</p:tagLst>
</file>

<file path=ppt/tags/tag7.xml><?xml version="1.0" encoding="utf-8"?>
<p:tagLst xmlns:p="http://schemas.openxmlformats.org/presentationml/2006/main">
  <p:tag name="KSO_WM_UNIT_PLACING_PICTURE_USER_VIEWPORT" val="{&quot;height&quot;:1927.532283464567,&quot;width&quot;:1927.532283464567}"/>
</p:tagLst>
</file>

<file path=ppt/tags/tag8.xml><?xml version="1.0" encoding="utf-8"?>
<p:tagLst xmlns:p="http://schemas.openxmlformats.org/presentationml/2006/main">
  <p:tag name="KSO_WM_UNIT_TABLE_BEAUTIFY" val="smartTable{b9405628-f5ce-462f-95d1-6fb6c0f6956b}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PP_MARK_KEY" val="e1b6e2bc-b293-4664-83f3-64d94ea222f5"/>
  <p:tag name="COMMONDATA" val="eyJoZGlkIjoiZjQ5ZDBhNGIxNGEzNDVhM2EwZWVkMjBjNDgxNzkzN2EifQ=="/>
  <p:tag name="commondata" val="eyJoZGlkIjoiNmE4YWE2NWM2NjkyMzUxOGRkNDNkNjJlMmYxYjJlZDkifQ=="/>
</p:tagLst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PLUS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8635</Words>
  <Application>WPS 文字</Application>
  <PresentationFormat>宽屏</PresentationFormat>
  <Paragraphs>898</Paragraphs>
  <Slides>43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34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43</vt:i4>
      </vt:variant>
    </vt:vector>
  </HeadingPairs>
  <TitlesOfParts>
    <vt:vector size="80" baseType="lpstr">
      <vt:lpstr>Arial</vt:lpstr>
      <vt:lpstr>宋体</vt:lpstr>
      <vt:lpstr>Wingdings</vt:lpstr>
      <vt:lpstr>汉仪书宋二KW</vt:lpstr>
      <vt:lpstr>微软雅黑</vt:lpstr>
      <vt:lpstr>汉仪旗黑</vt:lpstr>
      <vt:lpstr>Calibri</vt:lpstr>
      <vt:lpstr>等线</vt:lpstr>
      <vt:lpstr>Segoe UI</vt:lpstr>
      <vt:lpstr>Segoe UI Light</vt:lpstr>
      <vt:lpstr>Century Gothic</vt:lpstr>
      <vt:lpstr>Times New Roman</vt:lpstr>
      <vt:lpstr>思源黑体 CN Normal</vt:lpstr>
      <vt:lpstr>汉仪中黑KW</vt:lpstr>
      <vt:lpstr>Wingdings</vt:lpstr>
      <vt:lpstr>Cambria Math</vt:lpstr>
      <vt:lpstr>宋体</vt:lpstr>
      <vt:lpstr>Arial Unicode MS</vt:lpstr>
      <vt:lpstr>汉仪中等线KW</vt:lpstr>
      <vt:lpstr>Kingsoft Math</vt:lpstr>
      <vt:lpstr>微软雅黑</vt:lpstr>
      <vt:lpstr>思源黑体 CN Normal</vt:lpstr>
      <vt:lpstr>等线</vt:lpstr>
      <vt:lpstr>DejaVu Math TeX Gyre</vt:lpstr>
      <vt:lpstr>Heiti SC Light</vt:lpstr>
      <vt:lpstr>Heiti SC Medium</vt:lpstr>
      <vt:lpstr>微软雅黑</vt:lpstr>
      <vt:lpstr>Arial</vt:lpstr>
      <vt:lpstr>Arial</vt:lpstr>
      <vt:lpstr>Consolas</vt:lpstr>
      <vt:lpstr>Consolas</vt:lpstr>
      <vt:lpstr>Consolas</vt:lpstr>
      <vt:lpstr>苹方-简</vt:lpstr>
      <vt:lpstr>宋体-简</vt:lpstr>
      <vt:lpstr>默认设计模板</vt:lpstr>
      <vt:lpstr>1_OfficePLUS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doit_doyle</cp:lastModifiedBy>
  <cp:revision>210</cp:revision>
  <dcterms:created xsi:type="dcterms:W3CDTF">2026-09-16T16:11:42Z</dcterms:created>
  <dcterms:modified xsi:type="dcterms:W3CDTF">2026-09-16T16:11:42Z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2052-12.1.22553.22553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Nuaxnuy@DESKTOP-GLORKB7</vt:lpwstr>
  </property>
  <property fmtid="{D5CDD505-2E9C-101B-9397-08002B2CF9AE}" pid="6" name="MSIP_Label_f42aa342-8706-4288-bd11-ebb85995028c_SetDate">
    <vt:lpwstr>2019-04-13T07:48:55.8738720Z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ActionId">
    <vt:lpwstr>292e90eb-3541-41af-a095-94ac2f835982</vt:lpwstr>
  </property>
  <property fmtid="{D5CDD505-2E9C-101B-9397-08002B2CF9AE}" pid="10" name="MSIP_Label_f42aa342-8706-4288-bd11-ebb85995028c_Extended_MSFT_Method">
    <vt:lpwstr>Automatic</vt:lpwstr>
  </property>
  <property fmtid="{D5CDD505-2E9C-101B-9397-08002B2CF9AE}" pid="11" name="Sensitivity">
    <vt:lpwstr>General</vt:lpwstr>
  </property>
  <property fmtid="{D5CDD505-2E9C-101B-9397-08002B2CF9AE}" pid="12" name="ICV">
    <vt:lpwstr>2ECD3EBFA415407A96CCE3A2AEDA7AC0_13</vt:lpwstr>
  </property>
</Properties>
</file>