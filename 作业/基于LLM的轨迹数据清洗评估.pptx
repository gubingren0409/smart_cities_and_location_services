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c12e8ca4314430" /><Relationship Type="http://schemas.openxmlformats.org/officeDocument/2006/relationships/extended-properties" Target="/docProps/app.xml" Id="R41e03a6dc10a4178" /><Relationship Type="http://schemas.openxmlformats.org/officeDocument/2006/relationships/officeDocument" Target="/ppt/presentation.xml" Id="Rdf466d5569844c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2130371c114955"/>
  </p:sldMasterIdLst>
  <p:notesMasterIdLst>
    <p:notesMasterId xmlns:r="http://schemas.openxmlformats.org/officeDocument/2006/relationships" r:id="R456aabf25b114427"/>
  </p:notesMasterIdLst>
  <p:sldIdLst>
    <p:sldId xmlns:r="http://schemas.openxmlformats.org/officeDocument/2006/relationships" id="256" r:id="Rb42d4c3af0df4bc8"/>
    <p:sldId xmlns:r="http://schemas.openxmlformats.org/officeDocument/2006/relationships" id="257" r:id="R9d766e02c78441f4"/>
    <p:sldId xmlns:r="http://schemas.openxmlformats.org/officeDocument/2006/relationships" id="258" r:id="R0f37f35446fa4b25"/>
    <p:sldId xmlns:r="http://schemas.openxmlformats.org/officeDocument/2006/relationships" id="259" r:id="R7945897098784962"/>
    <p:sldId xmlns:r="http://schemas.openxmlformats.org/officeDocument/2006/relationships" id="260" r:id="R4de3abf06aff4f8a"/>
    <p:sldId xmlns:r="http://schemas.openxmlformats.org/officeDocument/2006/relationships" id="261" r:id="Ref1f02af67f643a7"/>
    <p:sldId xmlns:r="http://schemas.openxmlformats.org/officeDocument/2006/relationships" id="262" r:id="Rc7ad96c39c4940de"/>
    <p:sldId xmlns:r="http://schemas.openxmlformats.org/officeDocument/2006/relationships" id="263" r:id="R5f3fc8c938d944f2"/>
    <p:sldId xmlns:r="http://schemas.openxmlformats.org/officeDocument/2006/relationships" id="264" r:id="R6173448c56e241a3"/>
    <p:sldId xmlns:r="http://schemas.openxmlformats.org/officeDocument/2006/relationships" id="265" r:id="Rac38e142b9574904"/>
    <p:sldId xmlns:r="http://schemas.openxmlformats.org/officeDocument/2006/relationships" id="266" r:id="Rd72cdf8d192443da"/>
    <p:sldId xmlns:r="http://schemas.openxmlformats.org/officeDocument/2006/relationships" id="267" r:id="Rcdf3043905774226"/>
    <p:sldId xmlns:r="http://schemas.openxmlformats.org/officeDocument/2006/relationships" id="268" r:id="R84a7e0b0a7084128"/>
    <p:sldId xmlns:r="http://schemas.openxmlformats.org/officeDocument/2006/relationships" id="269" r:id="R53d134af3c484256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cb093586e744af" /><Relationship Type="http://schemas.openxmlformats.org/officeDocument/2006/relationships/slideMaster" Target="/ppt/slideMasters/slideMaster1.xml" Id="R8a2130371c114955" /><Relationship Type="http://schemas.openxmlformats.org/officeDocument/2006/relationships/notesMaster" Target="/ppt/notesMasters/notesMaster1.xml" Id="R456aabf25b114427" /><Relationship Type="http://schemas.openxmlformats.org/officeDocument/2006/relationships/presProps" Target="/ppt/presProps.xml" Id="R8b792a1cf0774ce3" /><Relationship Type="http://schemas.openxmlformats.org/officeDocument/2006/relationships/viewProps" Target="/ppt/viewProps.xml" Id="R7de3d82d6dd24b9b" /><Relationship Type="http://schemas.openxmlformats.org/officeDocument/2006/relationships/tableStyles" Target="/ppt/tableStyles.xml" Id="R06a4c248ef68453e" /><Relationship Type="http://schemas.openxmlformats.org/officeDocument/2006/relationships/slide" Target="/ppt/slides/slide1.xml" Id="Rb42d4c3af0df4bc8" /><Relationship Type="http://schemas.openxmlformats.org/officeDocument/2006/relationships/slide" Target="/ppt/slides/slide2.xml" Id="R9d766e02c78441f4" /><Relationship Type="http://schemas.openxmlformats.org/officeDocument/2006/relationships/slide" Target="/ppt/slides/slide3.xml" Id="R0f37f35446fa4b25" /><Relationship Type="http://schemas.openxmlformats.org/officeDocument/2006/relationships/slide" Target="/ppt/slides/slide4.xml" Id="R7945897098784962" /><Relationship Type="http://schemas.openxmlformats.org/officeDocument/2006/relationships/slide" Target="/ppt/slides/slide5.xml" Id="R4de3abf06aff4f8a" /><Relationship Type="http://schemas.openxmlformats.org/officeDocument/2006/relationships/slide" Target="/ppt/slides/slide6.xml" Id="Ref1f02af67f643a7" /><Relationship Type="http://schemas.openxmlformats.org/officeDocument/2006/relationships/slide" Target="/ppt/slides/slide7.xml" Id="Rc7ad96c39c4940de" /><Relationship Type="http://schemas.openxmlformats.org/officeDocument/2006/relationships/slide" Target="/ppt/slides/slide8.xml" Id="R5f3fc8c938d944f2" /><Relationship Type="http://schemas.openxmlformats.org/officeDocument/2006/relationships/slide" Target="/ppt/slides/slide9.xml" Id="R6173448c56e241a3" /><Relationship Type="http://schemas.openxmlformats.org/officeDocument/2006/relationships/slide" Target="/ppt/slides/slide10.xml" Id="Rac38e142b9574904" /><Relationship Type="http://schemas.openxmlformats.org/officeDocument/2006/relationships/slide" Target="/ppt/slides/slide11.xml" Id="Rd72cdf8d192443da" /><Relationship Type="http://schemas.openxmlformats.org/officeDocument/2006/relationships/slide" Target="/ppt/slides/slide12.xml" Id="Rcdf3043905774226" /><Relationship Type="http://schemas.openxmlformats.org/officeDocument/2006/relationships/slide" Target="/ppt/slides/slide13.xml" Id="R84a7e0b0a7084128" /><Relationship Type="http://schemas.openxmlformats.org/officeDocument/2006/relationships/slide" Target="/ppt/slides/slide14.xml" Id="R53d134af3c48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633867b16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2cc48a8284376" /><Relationship Type="http://schemas.openxmlformats.org/officeDocument/2006/relationships/notesMaster" Target="/ppt/notesMasters/notesMaster1.xml" Id="R6f504f6c7cf54a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0eae491a294b35" /><Relationship Type="http://schemas.openxmlformats.org/officeDocument/2006/relationships/notesMaster" Target="/ppt/notesMasters/notesMaster1.xml" Id="R3c9635ebce60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0f076a2b949bc" /><Relationship Type="http://schemas.openxmlformats.org/officeDocument/2006/relationships/notesMaster" Target="/ppt/notesMasters/notesMaster1.xml" Id="Rb5d564f54c1c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cca45a0a4d449e" /><Relationship Type="http://schemas.openxmlformats.org/officeDocument/2006/relationships/notesMaster" Target="/ppt/notesMasters/notesMaster1.xml" Id="R84631ec309514c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6962388eda4582" /><Relationship Type="http://schemas.openxmlformats.org/officeDocument/2006/relationships/notesMaster" Target="/ppt/notesMasters/notesMaster1.xml" Id="R5ed0af1a365f43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53f90126e14f79" /><Relationship Type="http://schemas.openxmlformats.org/officeDocument/2006/relationships/notesMaster" Target="/ppt/notesMasters/notesMaster1.xml" Id="R245c86efdc7c4a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161e4f2ba2427c" /><Relationship Type="http://schemas.openxmlformats.org/officeDocument/2006/relationships/notesMaster" Target="/ppt/notesMasters/notesMaster1.xml" Id="R82a44895f8db4f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0156c6b33b49fe" /><Relationship Type="http://schemas.openxmlformats.org/officeDocument/2006/relationships/notesMaster" Target="/ppt/notesMasters/notesMaster1.xml" Id="R4ca9758e36dd4e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4b75deacd14f78" /><Relationship Type="http://schemas.openxmlformats.org/officeDocument/2006/relationships/notesMaster" Target="/ppt/notesMasters/notesMaster1.xml" Id="R90b01bf1b3d447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5fda1341324b9c" /><Relationship Type="http://schemas.openxmlformats.org/officeDocument/2006/relationships/notesMaster" Target="/ppt/notesMasters/notesMaster1.xml" Id="Rc4c0477a631047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ecd10148a647b8" /><Relationship Type="http://schemas.openxmlformats.org/officeDocument/2006/relationships/notesMaster" Target="/ppt/notesMasters/notesMaster1.xml" Id="R1a25e8e7af9e44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e27791c4074c8c" /><Relationship Type="http://schemas.openxmlformats.org/officeDocument/2006/relationships/notesMaster" Target="/ppt/notesMasters/notesMaster1.xml" Id="Rf6f37e78e0184d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7a979aa84d4419" /><Relationship Type="http://schemas.openxmlformats.org/officeDocument/2006/relationships/notesMaster" Target="/ppt/notesMasters/notesMaster1.xml" Id="R09a88b13e2094e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18bda8a8ff44e3" /><Relationship Type="http://schemas.openxmlformats.org/officeDocument/2006/relationships/notesMaster" Target="/ppt/notesMasters/notesMaster1.xml" Id="R4502bdf4cb55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开场。这套方法要把轨迹清洗的参数决策交给 LLM，但它的建议必须能被自动判分。今天讲的是完整做法：怎么组织输入、让 LLM 调哪些工具、参数怎么定、怎么核验它的建议、以及怎么判断这套流程真的有效。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这是动机页。核心是第二点：没法判分。做工程的人最容易忽略这点，结果做出来的东西只能演示不能评价。建议点明：本课所有设计都是为了让第三点（成本）和第二点（判分）同时成立。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这是方法论总览，后面每一页都在展开其中一步。建议强调第一步是替代 LLM 的语感，第三步是替代人的判断。LLM 只出现在第二步。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这一步的关键是纪律。117 万个点不可能进上下文，所以只给标量和句柄。诊断卡里最有用的是 regime 和时间轴质量，因为它们直接决定该用哪套参数。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固定随机 200 条样本中，静止、混合和行驶分别占 47%、24% 和 29%。这只是该样本的分布，但足以说明参数实验需要分层，不能让某一类轨迹主导。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讲工具分类。重点是刻意不提供写记忆的工具，这条规则让记忆不会被幻觉污染。另外要说明工具返回的都是标量统计，不是坐标。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回答参数怎么调这个核心问题。LLM 独立给出候选参数和方向，确定性搜索再独立建立内部参考。LLM 不负责搜索最优，这也是建议能够被自动判分的基础。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核心页，建议讲慢。regret 需要统一内部参考，所以从默认参数独立跑一次确定性搜索。三种口径一定要讲清楚，否则会得出错误结论。方向准确率是零成本的额外判据，值得强调。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讲清楚为什么要分层。L2 是机器算出来的统计，L3 是人写的解释，两者不冲突。注意最后一行的成本含义：跑少数、复用多数，这是 11386 条能落地的关键。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方法论页。两个陷阱都会让结论完全相反，而且都很隐蔽。信息泄漏尤其容易犯，因为它在单条轨迹上看不出任何异常。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这页使用 ecnu-plus 的三轮真实调用。Memory 配对均值略为正，但置信区间跨过零。moving/degraded 三轮只准入一条，每个参数区域也只有一到两个样本，因此当前证据还不足以判断 Memory 的稳定贡献。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这页对做过实际数据处理的人最有价值。挑两三个讲透即可，比如墨卡托放大 17% 和 Hausdorff 的 548 米对 4.77 米。这些坑都不会让代码报错，只会让结论错。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如实交代边界。左侧可直接用，右侧是还没验证的部分。不要把未验证的说成已验证。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三条按收益排序。第一条最紧，如果不解决，后面两条得出的结论都不可信。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d63e40f864e2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f934eeb9e648b6" /><Relationship Type="http://schemas.openxmlformats.org/officeDocument/2006/relationships/slideLayout" Target="/ppt/slideLayouts/slideLayout1.xml" Id="Ra2139609f1ac4e3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39609f1ac4e3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c9b0b897c4b2d" /><Relationship Type="http://schemas.openxmlformats.org/officeDocument/2006/relationships/notesSlide" Target="/ppt/notesSlides/notesSlide1.xml" Id="R302a299746e346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d2454c006468a" /><Relationship Type="http://schemas.openxmlformats.org/officeDocument/2006/relationships/notesSlide" Target="/ppt/notesSlides/notesSlide2.xml" Id="R603ec94e2fd1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798d4bce4acd" /><Relationship Type="http://schemas.openxmlformats.org/officeDocument/2006/relationships/notesSlide" Target="/ppt/notesSlides/notesSlide3.xml" Id="Ra0106caeff6c47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088bd700c4bf7" /><Relationship Type="http://schemas.openxmlformats.org/officeDocument/2006/relationships/notesSlide" Target="/ppt/notesSlides/notesSlide4.xml" Id="Rf150e0942642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3800f397249b3" /><Relationship Type="http://schemas.openxmlformats.org/officeDocument/2006/relationships/notesSlide" Target="/ppt/notesSlides/notesSlide5.xml" Id="R759b4058ef1541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1f7547de4cf4" /><Relationship Type="http://schemas.openxmlformats.org/officeDocument/2006/relationships/notesSlide" Target="/ppt/notesSlides/notesSlide6.xml" Id="R642dd40a585f4a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119ac0b4e40c3" /><Relationship Type="http://schemas.openxmlformats.org/officeDocument/2006/relationships/notesSlide" Target="/ppt/notesSlides/notesSlide7.xml" Id="R3e91b94ea7684d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5d23883044ebd" /><Relationship Type="http://schemas.openxmlformats.org/officeDocument/2006/relationships/notesSlide" Target="/ppt/notesSlides/notesSlide8.xml" Id="Rc2f54669b2e24e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2c8b6f8eb419d" /><Relationship Type="http://schemas.openxmlformats.org/officeDocument/2006/relationships/notesSlide" Target="/ppt/notesSlides/notesSlide9.xml" Id="R8a78edfc303a48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54d817d374634" /><Relationship Type="http://schemas.openxmlformats.org/officeDocument/2006/relationships/notesSlide" Target="/ppt/notesSlides/notesSlide10.xml" Id="R9d071fc35c524b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ce8e4bab64a02" /><Relationship Type="http://schemas.openxmlformats.org/officeDocument/2006/relationships/notesSlide" Target="/ppt/notesSlides/notesSlide11.xml" Id="R0de6e22d49d341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636e565614878" /><Relationship Type="http://schemas.openxmlformats.org/officeDocument/2006/relationships/notesSlide" Target="/ppt/notesSlides/notesSlide12.xml" Id="Rfabfb911b6d649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d267f5c54828" /><Relationship Type="http://schemas.openxmlformats.org/officeDocument/2006/relationships/notesSlide" Target="/ppt/notesSlides/notesSlide13.xml" Id="R89d47448be9742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d2bdafdd94d8c" /><Relationship Type="http://schemas.openxmlformats.org/officeDocument/2006/relationships/notesSlide" Target="/ppt/notesSlides/notesSlide14.xml" Id="R67e8cbb58c5842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9D4BD-ADCC-423B-81CE-6DC3A1F6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07008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300">
                <a:solidFill>
                  <a:srgbClr val="7FB4D8"/>
                </a:solidFill>
                <a:latin typeface="Microsoft YaHei"/>
                <a:ea typeface="Microsoft YaHei"/>
                <a:cs typeface="Microsoft YaHei"/>
              </a:rPr>
              <a:t>任务三 · 方法与实现</a:t>
            </a:r>
            <a:endParaRPr sz="1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13BB2F-1F64-4BF4-A76E-BEE96390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7863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LLM 的轨迹数据清洗评估</a:t>
            </a:r>
            <a:endParaRPr sz="3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8019F2-A695-4D9A-87BB-09738567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13716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3D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D8F383C-0096-48C1-A9A6-AE6882BE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62656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8CEDA"/>
                </a:solidFill>
                <a:latin typeface="Microsoft YaHei"/>
                <a:ea typeface="Microsoft YaHei"/>
                <a:cs typeface="Microsoft YaHei"/>
              </a:rPr>
              <a:t>让 LLM 选评估工具、提参数建议，再用定量指标核验建议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78DF4FE-10B9-47A3-832E-C6712172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A93A3"/>
                </a:solidFill>
                <a:latin typeface="Microsoft YaHei"/>
                <a:ea typeface="Microsoft YaHei"/>
                <a:cs typeface="Microsoft YaHei"/>
              </a:rPr>
              <a:t>四步做法 · 15 个工具 · 四层记忆 · 留出集消融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72322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590A4B-1B57-4646-AC90-720EF36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动机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7BFAF5-9E8D-4EBB-8030-1B5EF01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要解决什么问题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1F0A85-5DC9-45EF-AE98-0C3453C2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7E06D5F-31FE-48A6-9173-F6B55B92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52144"/>
            <a:ext cx="5029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32CE84-DF91-4E0B-B350-F2CE4EC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52144"/>
            <a:ext cx="201168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① 参数靠猜</a:t>
            </a:r>
            <a:endParaRPr sz="16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CE09B-A9AF-4467-A1F3-3A2E9BCA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152144"/>
            <a:ext cx="58064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清洗参数（比如 DP 容差、速度阈值）通常是手工试出来的，换个数据集就失效。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156CA0-F58F-4E3D-BEC5-3320DDF4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9424"/>
            <a:ext cx="5029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B8D0D2-BF2C-43D6-A33B-89CF5C62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9424"/>
            <a:ext cx="201168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② 没法判分</a:t>
            </a:r>
            <a:endParaRPr sz="16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7E6B3AF-895D-4CEB-B42E-7DCD3697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249424"/>
            <a:ext cx="58064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让 LLM 给个参数很容易，但「它提得对不对」没有量化判据，只能靠人看。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8A7D3D4-DCB1-4C60-85C1-32DD79BB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46704"/>
            <a:ext cx="50292" cy="932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D1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AE89259-D6BD-4249-844F-2F4265A4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46704"/>
            <a:ext cx="201168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8A6D1F"/>
                </a:solidFill>
                <a:latin typeface="Microsoft YaHei"/>
                <a:ea typeface="Microsoft YaHei"/>
                <a:cs typeface="Microsoft YaHei"/>
              </a:rPr>
              <a:t>③ 成本不可行</a:t>
            </a:r>
            <a:endParaRPr sz="16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E6E449E-A646-494B-9A7F-C2F3ECA6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346704"/>
            <a:ext cx="5806440" cy="932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11386 条轨迹，每条都调 LLM 不现实，需要让结果可以复用。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1CA7708-6786-40C8-A874-C5DAA45A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34256"/>
            <a:ext cx="809244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ADE410F-07BC-4EEF-BA5D-2D2688D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34256"/>
            <a:ext cx="50292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E704721-C0A3-4BF8-AE79-099E2F5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89120"/>
            <a:ext cx="77083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本课要讲的就是怎么同时解决②和③：把 LLM 的建议变成可自动判分的数字，并让结果可以复用。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DFF9EA2-A957-4739-803A-2860B13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30900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56FCDF-EB02-474E-86F4-BA271FC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方法总览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CA0F5-3CCB-4CBC-AE86-858FC0FF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整体做法：四步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41CAAC-8A36-43FE-904F-17CF0C1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E05FD6D-EA26-450B-8D1D-B649351B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33856"/>
            <a:ext cx="1938528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B7BBA"/>
          </a:solidFill>
          <a:ln xmlns:a="http://schemas.openxmlformats.org/drawingml/2006/main" w="12700">
            <a:solidFill>
              <a:srgbClr val="2B7BB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098451-0DC8-49DA-966C-68BCE51E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61288"/>
            <a:ext cx="18470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第一步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11E474-5AA1-4569-BCC2-04D7FA2C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1938528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D8DEE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30A84A3-E0FD-4F0F-8F45-D1690A0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73352"/>
            <a:ext cx="1847088" cy="1316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759025C-BE1A-481B-BEC6-3B67985F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700784"/>
            <a:ext cx="1792224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把数据变成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sz="11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 能读的输入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9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诊断卡 + 句柄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22919D4-FF45-4228-84A7-96ADD2F5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137160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7FC5529-101E-4EBD-87C0-0693F994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1133856"/>
            <a:ext cx="1938528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8A6D1F"/>
          </a:solidFill>
          <a:ln xmlns:a="http://schemas.openxmlformats.org/drawingml/2006/main" w="12700">
            <a:solidFill>
              <a:srgbClr val="8A6D1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12ED213-A2CE-4AB3-AE67-441E5E56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161288"/>
            <a:ext cx="18470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第二步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06AB6A4-04CD-4B33-BD4E-B361A6F7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1645920"/>
            <a:ext cx="1938528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D8DEE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54E591-711B-4211-BE5D-7A0BBE71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673352"/>
            <a:ext cx="1847088" cy="1316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F254D82-2E72-4785-8E28-54142210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1700784"/>
            <a:ext cx="1792224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让 LLM 决定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sz="11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用什么工具、提什么参数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9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函数调用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B97F8F1-03B1-456B-9CA2-C94CCD7E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37160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47201CA-C05E-448B-A72D-C84D086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133856"/>
            <a:ext cx="1938528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3F1F66-21B9-40C0-A9CC-33684415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161288"/>
            <a:ext cx="18470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第三步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133C92-1009-4F6E-AEB2-4E8032A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645920"/>
            <a:ext cx="1938528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D8DEE4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79D498-B007-4133-BA7F-CDA2BB04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73352"/>
            <a:ext cx="1847088" cy="1316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0A2A6A-A3D3-42E2-8A57-6BC26D4A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00784"/>
            <a:ext cx="1792224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参数不靠猜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sz="11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物理先验定区间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9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确定性代码给边界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E4FC906-1B29-4F89-86C4-48EDF0CC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137160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DC15D89-CD40-4FFA-AFB9-5BC09CF3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133856"/>
            <a:ext cx="1938528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0B20141-D3BF-4868-9AA3-868D03DA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161288"/>
            <a:ext cx="184708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第四步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8BA424D-5FDD-48AF-B22C-5759F17E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1645920"/>
            <a:ext cx="1938528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D8DEE4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DDFF1C6-C4E5-47DB-8B4E-B24DE78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673352"/>
            <a:ext cx="1847088" cy="1316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F7D317F-5632-4C5B-A701-B53B61EB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700784"/>
            <a:ext cx="1792224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Aft>
                <a:spcPts val="300"/>
              </a:spcAft>
              <a:buNone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核验它的建议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spcAft>
                <a:spcPts val="800"/>
              </a:spcAft>
              <a:buNone/>
            </a:pPr>
            <a:r>
              <a:rPr sz="11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跟确定性搜索最优比
</a:t>
            </a:r>
            <a:endParaRPr sz="11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9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regret 判分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2F53338-2ED1-4CCB-9CCE-98AF63DD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18688"/>
            <a:ext cx="8092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869478F-2BE9-4E9F-B7F4-70AAA890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18688"/>
            <a:ext cx="5029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E3FA796-E9C5-4BB6-A275-EDF1FE0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73552"/>
            <a:ext cx="770839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 只出现在第二步。第一步用确定性统计替代它的语感，第三、四步用确定性搜索替代人的判断。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69880C0-08C4-4CEC-ADAF-DB85D150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50208"/>
            <a:ext cx="8092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这样做的结果：LLM 的建议好坏变成一个数字，而不是一段需要人读的解释。</a:t>
            </a:r>
            <a:endParaRPr sz="120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20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同时因为第三、四步是确定性的，它们不消耗 API 调用，成本是可控的。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F9DCD73-983B-4BCD-B4D9-EBF0AAE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02183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81DCC8-5C59-4FA9-A590-5A67CBA3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做法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8C92AC-F90E-4B14-A1FB-5B2DB772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第一步：把数据变成 LLM 能读的输入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52D03D-3D0E-4FE6-B9FF-4E40E02F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DC2D80-3D54-499E-A0C9-D056964D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46177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45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117 万个点不可能进上下文。</a:t>
            </a:r>
            <a:endParaRPr sz="14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13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所以只给两样东西：</a:t>
            </a:r>
            <a:endParaRPr sz="1450"/>
          </a:p>
          <a:p xmlns:a="http://schemas.openxmlformats.org/drawingml/2006/main">
            <a:pPr marL="685800" lvl="1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sz="13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句柄字符串，例如 246#0@v3</a:t>
            </a:r>
            <a:endParaRPr sz="1450"/>
          </a:p>
          <a:p xmlns:a="http://schemas.openxmlformats.org/drawingml/2006/main">
            <a:pPr marL="685800" lvl="1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3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一张诊断卡，只含标量统计</a:t>
            </a:r>
            <a:endParaRPr sz="14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30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诊断卡约 400 到 600 字节。11386 条全量也只有几 MB。</a:t>
            </a:r>
            <a:endParaRPr sz="14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3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每次清洗或压缩产生新句柄并记录血缘，过程可完整重放。</a:t>
            </a:r>
            <a:endParaRPr sz="14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BD48199-4BFE-4C94-937F-C5874DAF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152144"/>
            <a:ext cx="3291840" cy="3401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DAB60D-7F4C-4AE8-B27F-3A3BD209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80160"/>
            <a:ext cx="3017520" cy="3154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诊断卡（无任何坐标）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seg_id:     246#0@v3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n_points:   106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regime:     moving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CE9178"/>
                </a:solidFill>
                <a:latin typeface="Consolas"/>
                <a:ea typeface="Consolas"/>
                <a:cs typeface="Consolas"/>
              </a:rPr>
              <a:t>timeline:   ok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dt_median:  10.0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dt_p95:     20.0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dup_ratio:  0.019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speed_p99:  100.77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anomalies:  {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 dt_artifact: 4,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9CDCFE"/>
                </a:solidFill>
                <a:latin typeface="Consolas"/>
                <a:ea typeface="Consolas"/>
                <a:cs typeface="Consolas"/>
              </a:rPr>
              <a:t>  space_jump:  9 }
</a:t>
            </a:r>
            <a:endParaRPr sz="95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5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// 没有 coords 字段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BB28043-6566-4806-BC41-81BDDACD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90288"/>
            <a:ext cx="8092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诊断卡里最有用的是 regime 和时间轴质量，它们直接决定该用哪套参数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CBFF22-6C5F-4EE0-A35F-EE87847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98403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2129C4-06B0-4EF9-BF25-728BDA6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关键前提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3A2D19-E55B-432D-87FC-02D6D3AA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为什么要先分类型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26D972-CB9C-476B-AFD8-B8FF58F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077B7A7-DB61-491F-A26F-D5ECC036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538728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EE4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3F04AAA-4B6E-4441-95C5-64774CF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3145"/>
            <a:ext cx="566928" cy="1565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A89"/>
          </a:solidFill>
          <a:ln xmlns:a="http://schemas.openxmlformats.org/drawingml/2006/main" w="12700">
            <a:solidFill>
              <a:srgbClr val="6C7A89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AE3361-72B2-4B2A-BE90-F14252FB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00577"/>
            <a:ext cx="475488" cy="15107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C81388-EA0C-4D68-9916-15729144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2249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6C7A89"/>
                </a:solidFill>
                <a:latin typeface="Arial"/>
                <a:ea typeface="Arial"/>
                <a:cs typeface="Arial"/>
              </a:rPr>
              <a:t>47%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9DBF661-89D9-47B7-A312-9BF8728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3593592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静止轨迹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EC0F264-FB6F-478D-B63D-4A7752D2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739281"/>
            <a:ext cx="566928" cy="7994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>
            <a:solidFill>
              <a:srgbClr val="E8A3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A36090E-7F72-4D4E-B816-5DC4061F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766713"/>
            <a:ext cx="475488" cy="744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9FD11B-6C14-438E-BC92-8298F0C4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428385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8A33D"/>
                </a:solidFill>
                <a:latin typeface="Arial"/>
                <a:ea typeface="Arial"/>
                <a:cs typeface="Arial"/>
              </a:rPr>
              <a:t>24%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E26349-F696-4B7A-B78D-47FDD2DB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536" y="3593592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混合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AA7F202-95AC-4A49-AD7B-B29AA49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572730"/>
            <a:ext cx="566928" cy="965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  <a:ln xmlns:a="http://schemas.openxmlformats.org/drawingml/2006/main" w="12700">
            <a:solidFill>
              <a:srgbClr val="2B7BB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C8D70D6-5F32-49EC-A9D6-4927C77C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600162"/>
            <a:ext cx="475488" cy="9111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BCB6267-BB8E-489D-B1D1-E5F00BB4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261834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B7BBA"/>
                </a:solidFill>
                <a:latin typeface="Arial"/>
                <a:ea typeface="Arial"/>
                <a:cs typeface="Arial"/>
              </a:rPr>
              <a:t>29%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34B915-37FA-49B0-8C9C-AE9A594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3593592"/>
            <a:ext cx="896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行驶轨迹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6CC2C80-382F-438B-9B04-36006E8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5020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固定随机 200 条样本（seed=20260920）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0B592EB-89FE-46A7-9453-04FEBA1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188720"/>
            <a:ext cx="374904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35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三类轨迹的运动尺度和时间轴问题不同</a:t>
            </a:r>
            <a:endParaRPr sz="13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●"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固定样本计数：静止 94、混合 48、行驶 58。</a:t>
            </a:r>
            <a:endParaRPr sz="13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0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该分布只描述这 200 条样本，不能写成全量 11386 辆的比例。</a:t>
            </a:r>
            <a:endParaRPr sz="13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0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参数实验按 regime 与 timeline_quality 分层，避免某一类样本主导结论。</a:t>
            </a:r>
            <a:endParaRPr sz="13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20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诊断卡先给轨迹类型，模型据此选择参数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2903588-58C5-4BAB-9888-8E367178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90288"/>
            <a:ext cx="8092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占比来自固定随机样本，不代表全量数据分布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6F42253-E88F-4824-8743-A8F5E00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68456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B5E0C5-2788-4354-8F66-21A8B0BE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做法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5B454E-6441-4EDD-B464-2476752A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第二步：给 LLM 的工具箱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C9703B-5F99-4BD3-9D93-F459D10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548640" y="1170432"/>
          <a:ext xmlns:a="http://schemas.openxmlformats.org/drawingml/2006/main" cx="80924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5880"/>
                <a:gridCol w="4023360"/>
                <a:gridCol w="2743200"/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查数据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profile · detect_anomalies · evaluate · compare_handles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返回标量统计，不含坐标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改数据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split · clean · simplify · apply_road_constraint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产生新句柄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做实验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run_search · find_knee · suggest_param_range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扫描参数、取拐点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查经验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query_memory · query_playbook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相似案例 + 人类笔记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出图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render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叠加图 / 异常分布 / 热力图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刻意不给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write_memory · write_playbook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无权写记忆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8BE5C2B-8BEB-4A3F-A966-E550C1F5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80924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6DAB5BA-1B11-4871-A336-49542698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029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507FFF-DD4E-4FB3-9458-94C3378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86784"/>
            <a:ext cx="770839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为什么故意不给写记忆的工具：确定性代码可把所有案例写入 L1 留档；只有 verifier 准入的案例会被检索并蒸馏到 L2。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F6C9C24-70C0-4ACF-8D62-7F2850CC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0016"/>
            <a:ext cx="8092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所有工具都是确定性函数，没有随机性、不联网、不调用 LLM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95E6518-7F2B-4416-9401-0AC2F6A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25244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602239-C6EF-4612-8A7E-89419EFB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做法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AB7086-5DA5-4AD3-AF21-4D6FD357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第三步：参数怎么定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EF8B9BB-3626-4CA7-9C31-5A956ECA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AA0FA5A-5141-4CE5-96BC-EB1B5FC7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52144"/>
            <a:ext cx="248716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B7BBA"/>
          </a:solidFill>
          <a:ln xmlns:a="http://schemas.openxmlformats.org/drawingml/2006/main" w="12700">
            <a:solidFill>
              <a:srgbClr val="2B7BB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F7A675-9AB2-404C-A983-5D64F11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79576"/>
            <a:ext cx="239572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物理先验定区间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5C5E7B6-7A0F-4555-91E2-8257DD24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487168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D8DEE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0F49FB-9E91-41BB-A515-F2786B4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73352"/>
            <a:ext cx="2395728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9 个参数各有合法区间</a:t>
            </a:r>
            <a:endParaRPr sz="10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由数据分布或物理量反推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A444423-7B7F-4411-8DC6-C60C2FAA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2487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确定性代码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1BFC35D-2AE0-4D57-9324-65F658C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138074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E6990B6-22AB-41AD-97BB-E014939B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152144"/>
            <a:ext cx="248716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8A6D1F"/>
          </a:solidFill>
          <a:ln xmlns:a="http://schemas.openxmlformats.org/drawingml/2006/main" w="12700">
            <a:solidFill>
              <a:srgbClr val="8A6D1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3CCB96-7043-499B-9731-AF50A2E6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179576"/>
            <a:ext cx="239572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LLM 独立提候选与方向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C904E74-6A8F-4F5B-8F15-467A4C65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1645920"/>
            <a:ext cx="2487168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D8DEE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B111C00-B629-40BD-A0C1-3180F68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673352"/>
            <a:ext cx="2395728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不作为搜索起点</a:t>
            </a:r>
            <a:endParaRPr sz="10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参数值 + 预期效果</a:t>
            </a:r>
            <a:endParaRPr sz="10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强制结构化输出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C3AC8B-2697-4014-AF4C-0E336449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542032"/>
            <a:ext cx="2487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8A6D1F"/>
                </a:solidFill>
                <a:latin typeface="Microsoft YaHei"/>
                <a:ea typeface="Microsoft YaHei"/>
                <a:cs typeface="Microsoft YaHei"/>
              </a:rPr>
              <a:t>LLM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1FFFFE2-398C-4DF2-8B7F-04ECB53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38074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5B6B7C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03B3EA9-5F71-4CA6-A6F5-58F1C2D3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152144"/>
            <a:ext cx="248716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668CEA-6D74-4303-AEC0-6F72296F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179576"/>
            <a:ext cx="239572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独立确定性搜索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B964878-AF67-4B22-8EF2-853DC898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645920"/>
            <a:ext cx="2487168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D8DEE4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20CDB7E-9F6A-4B1C-B9E5-7E04E51E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73352"/>
            <a:ext cx="2395728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坐标下降 + 拐点</a:t>
            </a:r>
            <a:endParaRPr sz="1050"/>
          </a:p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r>
              <a:rPr sz="10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产出内部参考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315BF9-097A-4541-BFB1-774789E9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542032"/>
            <a:ext cx="2487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确定性代码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257F2FB-3DE3-42CC-A1ED-65E8ED1F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80924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700"/>
              </a:spcAft>
              <a:buSzPct val="100000"/>
              <a:buChar char="●"/>
            </a:pPr>
            <a:r>
              <a:rPr sz="115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关键：LLM 给独立候选与方向，不作为确定性搜索的起点。</a:t>
            </a:r>
            <a:endParaRPr sz="11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dp_tolerance 区间 [0.5, 30] 米，上限约等于 GPS 定位精度。</a:t>
            </a:r>
            <a:endParaRPr sz="11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dt_threshold 区间 [15, 180] 秒，下界保住正常的 20 秒采样。</a:t>
            </a:r>
            <a:endParaRPr sz="11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dist_threshold 由 Δt × 限速 × 安全系数推导，不由位移分布推导。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D0F7091-86F7-4161-AE13-2958B558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80924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BB83E66-A121-4A92-9F06-EFD4A4B1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0292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A30B36-CA5F-4B7C-B742-6AE0E8A4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169664"/>
            <a:ext cx="7708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「预期效果」这一栏是白送的评分抓手。LLM 必须预测每个参数的升降方向，核验时只需比对符号，就能零成本算出方向准确率。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B03BB28-EFE7-4703-9B68-8E81A8E5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8328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FBE211-6AC1-4264-947E-241774C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核心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EF3CB1-44CA-4E41-9BCF-68F4842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第四步：怎么判断 LLM 提得对不对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DB0A06-2875-4FE8-B344-65E65D6D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43A46C-9A07-4843-BB1A-242F3221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70432"/>
            <a:ext cx="466344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40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regret = 搜索最优分 − LLM 提议分</a:t>
            </a:r>
            <a:endParaRPr sz="140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它需要统一内部参考，因此从默认参数独立运行确定性搜索作为标尺。</a:t>
            </a:r>
            <a:endParaRPr sz="140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实测一条：提议 0.6008、基线 0.6330、最优 0.6366，得 regret 0.0358。</a:t>
            </a:r>
            <a:endParaRPr sz="140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12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另外两个零成本判据：</a:t>
            </a:r>
            <a:endParaRPr sz="1400"/>
          </a:p>
          <a:p xmlns:a="http://schemas.openxmlformats.org/drawingml/2006/main">
            <a:pPr marL="685800" lvl="1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方向准确率：预测的升降符号与实测是否一致</a:t>
            </a:r>
            <a:endParaRPr sz="1400"/>
          </a:p>
          <a:p xmlns:a="http://schemas.openxmlformats.org/drawingml/2006/main">
            <a:pPr marL="685800" lvl="1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约束满足率：提议是否落在物理先验区间内</a:t>
            </a:r>
            <a:endParaRPr sz="1400"/>
          </a:p>
        </p:txBody>
      </p:sp>
      <p:graphicFrame>
        <p:nvGraphicFramePr>
          <p:cNvPr id="17" name="Table 0"/>
          <p:cNvGraphicFramePr/>
          <p:nvPr/>
        </p:nvGraphicFramePr>
        <p:xfrm>
          <a:off xmlns:a="http://schemas.openxmlformats.org/drawingml/2006/main" x="5349240" y="1188720"/>
          <a:ext xmlns:a="http://schemas.openxmlformats.org/drawingml/2006/main" cx="32918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1371600"/>
                <a:gridCol w="11430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怎么读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最优与基线差距充足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丢掉了多少比例的可得收益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绝对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最优与基线差距过小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分母趋零会放大微小差距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不适用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轨迹过短（&lt; 200 米）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压缩率在该尺度无物理含义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AC3AFE5-BA64-4DF9-B89B-EB2B6305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648"/>
            <a:ext cx="8092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4A59FD9-46DC-4C63-976E-65AAEDC6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648"/>
            <a:ext cx="5029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F6FC91-DF3B-44F0-AAD4-CD0469C2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96512"/>
            <a:ext cx="77083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三种口径必须显式标注。混用会让结论完全反过来：headroom 只有 0.021 时，一个与基线持平的提议会被算成 regret 1.0。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8AE19E4-C1C7-4DD7-B648-7692B6D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18304"/>
            <a:ext cx="8092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这就是「用定量指标核验建议」的具体落地</a:t>
            </a:r>
            <a:endParaRPr sz="10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E6623E5-F849-4BBD-9A06-A770AC7C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5418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DDE927-BB5D-4211-8A48-6E4373B5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做法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445297-4019-4B16-9599-26C877CB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记忆怎么用：只复用已准入案例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E880089-7A84-4420-8BBC-5F26052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graphicFrame>
        <p:nvGraphicFramePr>
          <p:cNvPr id="12" name="Table 0"/>
          <p:cNvGraphicFramePr/>
          <p:nvPr/>
        </p:nvGraphicFramePr>
        <p:xfrm>
          <a:off xmlns:a="http://schemas.openxmlformats.org/drawingml/2006/main" x="548640" y="1170432"/>
          <a:ext xmlns:a="http://schemas.openxmlformats.org/drawingml/2006/main" cx="80924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4440"/>
                <a:gridCol w="3291840"/>
                <a:gridCol w="960120"/>
                <a:gridCol w="260604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存什么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谁写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怎么用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2B4A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工作记忆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当前轨迹的诊断卡与已试参数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单条轨迹内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情景记忆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全量（诊断 → 参数 → 实测指标）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核验器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积累原始经验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程序记忆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诊断签名 → 参数区间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核验器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维特征 kNN 检索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人类知识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 + 证据 + 反例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只读，给 LLM 因果解释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0DEEA8E-BE70-445D-A06E-1A856285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38144"/>
            <a:ext cx="80924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98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L1 保存全部案例；默认检索与 L2 蒸馏只用 verifier 已准入案例。</a:t>
            </a:r>
            <a:endParaRPr sz="98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98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L2 给参数区间，L3 给人写的物理解释；agent 对 L3 只读。</a:t>
            </a:r>
            <a:endParaRPr sz="98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98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已准入经验可供其余轨迹查区间，从而减少 LLM 调用。</a:t>
            </a:r>
            <a:endParaRPr sz="98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F893EB6-D3F6-45EC-AC44-522AD332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46064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11D522-865F-4E3A-B7B4-447AAB9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验证方法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03FF501-6C76-4E9C-9BC7-E947F4D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消融实验：怎么证明这套流程有效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1DFA91-568B-42DE-8CDB-E76BAA92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45C5882-C493-473A-B613-9D72C515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52144"/>
            <a:ext cx="5029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6B0BFC-1F08-421C-8737-4E1A4462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52144"/>
            <a:ext cx="7772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四种模式必须结构性不同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132983-E08A-46DF-9BFC-9F5CEE2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77724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llm-only：只有 LLM，没有实测依据</a:t>
            </a:r>
            <a:endParaRPr sz="1150"/>
          </a:p>
          <a:p xmlns:a="http://schemas.openxmlformats.org/drawingml/2006/main"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search-only：只有确定性搜索，不含任何 LLM 调用</a:t>
            </a:r>
            <a:endParaRPr sz="1150"/>
          </a:p>
          <a:p xmlns:a="http://schemas.openxmlformats.org/drawingml/2006/main"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llm+search：加上实测依据</a:t>
            </a:r>
            <a:endParaRPr sz="1150"/>
          </a:p>
          <a:p xmlns:a="http://schemas.openxmlformats.org/drawingml/2006/main"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llm+memory+search：再加上历史经验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3F83B60-4650-4767-9E3D-A6F01E9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70632"/>
            <a:ext cx="50292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302EAA-299F-4F32-A994-20D254B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7772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两个必须避开的陷阱</a:t>
            </a:r>
            <a:endParaRPr sz="14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F29E1F-95EC-4203-9B37-ADA5243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1528"/>
            <a:ext cx="77724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信息泄漏：在评测轨迹上边跑边攒记忆，agent 会把这条轨迹自己的上次结果检索回来。等于考试时把答案摆桌上。</a:t>
            </a:r>
            <a:endParaRPr sz="1150"/>
          </a:p>
          <a:p xmlns:a="http://schemas.openxmlformats.org/drawingml/2006/main">
            <a:pPr marL="342900" indent="-342900">
              <a:lnSpc>
                <a:spcPct val="116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标签造假：search-only 若仍调用 LLM，与含 LLM 的模式就不可比。所以它必须真的不调用，并有测试断言轮次为 0。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762E80-3356-44A6-BF11-CC6B6769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9664"/>
            <a:ext cx="80924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2A7E976-B8E3-4C53-A020-C156F637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9664"/>
            <a:ext cx="5029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C03194B-EBEF-42C1-B3D8-3CB571A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24528"/>
            <a:ext cx="770839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做法：先在示范集上积累记忆，再在完全不重叠的留出集上评测。评测阶段只读不写。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350B119-D273-4B3E-A531-7B53B197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39283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A75BE4-78DF-49AE-A1EA-F52FD28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真实模型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EA3D30-9479-420F-9192-056C4F4F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ECNU 三轮结果：尚未检出稳定增益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5D27200-8E89-49E0-BAB4-182C67A4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0054E25-3B2F-4B41-A047-683D0C6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3794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EE4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2EF6CC0-B5B5-48CF-AA05-F1B8F451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5862"/>
            <a:ext cx="457200" cy="1910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  <a:ln xmlns:a="http://schemas.openxmlformats.org/drawingml/2006/main" w="12700">
            <a:solidFill>
              <a:srgbClr val="2B7BB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5C66291-5D1D-48D2-AD67-A9C88DC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63294"/>
            <a:ext cx="365760" cy="18553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1560898-17C4-452F-809B-75BF9450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61542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B7BBA"/>
                </a:solidFill>
                <a:latin typeface="Arial"/>
                <a:ea typeface="Arial"/>
                <a:cs typeface="Arial"/>
              </a:rPr>
              <a:t>58.3%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773F38B-0EAD-408B-85AF-FA9FF58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291840"/>
            <a:ext cx="6766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7350856-B39F-4D79-A736-911236BA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7395"/>
            <a:ext cx="4572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12700">
            <a:solidFill>
              <a:srgbClr val="E8A3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F8332F-42BE-433B-9FDE-C0B315D5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044827"/>
            <a:ext cx="365760" cy="1173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7FD28A4-D622-4A2E-BE74-F95B2CDA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743075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8A6D1F"/>
                </a:solidFill>
                <a:latin typeface="Arial"/>
                <a:ea typeface="Arial"/>
                <a:cs typeface="Arial"/>
              </a:rPr>
              <a:t>37.5%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6F2C6B-236A-4EB7-A66E-DA075614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1840"/>
            <a:ext cx="6766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Search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8567C0-CF8F-4139-BBAF-A20C6303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1470203"/>
            <a:ext cx="457200" cy="1775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  <a:ln xmlns:a="http://schemas.openxmlformats.org/drawingml/2006/main" w="12700">
            <a:solidFill>
              <a:srgbClr val="2B7BB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375702F-91D5-4F92-813E-7650CC52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1497635"/>
            <a:ext cx="365760" cy="1721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83B326-8E7D-4355-98AB-8EBA28B9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1195883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B7BBA"/>
                </a:solidFill>
                <a:latin typeface="Arial"/>
                <a:ea typeface="Arial"/>
                <a:cs typeface="Arial"/>
              </a:rPr>
              <a:t>54.2%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952D0A5-F3FC-4FB3-A2ED-DF190762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3291840"/>
            <a:ext cx="6766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LLM+S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8028ECC-7253-45DE-B2AE-69620E1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4" y="1335862"/>
            <a:ext cx="457200" cy="1910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  <a:ln xmlns:a="http://schemas.openxmlformats.org/drawingml/2006/main" w="12700">
            <a:solidFill>
              <a:srgbClr val="2B7BB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DC0DFC1-3D60-43DC-B054-A62CE73B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1363294"/>
            <a:ext cx="365760" cy="18553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buNone/>
            </a:pP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79E3B90-4B5A-4C96-B66E-849AEEF4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1061542"/>
            <a:ext cx="640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B7BBA"/>
                </a:solidFill>
                <a:latin typeface="Arial"/>
                <a:ea typeface="Arial"/>
                <a:cs typeface="Arial"/>
              </a:rPr>
              <a:t>58.3%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ADFAF4-F3D8-4395-A0CF-4AD09FD6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291840"/>
            <a:ext cx="6766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LLM+M+S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ACC120-9FD2-46A7-86CD-7D36F419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13632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超基线率（提议显著优于基线的比例）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E6ABF1A-79DF-437F-9C8E-050908C6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07008"/>
            <a:ext cx="374904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30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每模式 24 个适用样本，重复 3 轮。</a:t>
            </a:r>
            <a:endParaRPr sz="130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sz="115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Memory − 无 Memory：</a:t>
            </a:r>
            <a:endParaRPr sz="1300"/>
          </a:p>
          <a:p xmlns:a="http://schemas.openxmlformats.org/drawingml/2006/main">
            <a:pPr marL="685800" lvl="1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sz="11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平均 +0.001236，95% CI [-0.000851, 0.003498]。</a:t>
            </a:r>
            <a:endParaRPr sz="1300"/>
          </a:p>
          <a:p xmlns:a="http://schemas.openxmlformats.org/drawingml/2006/main">
            <a:pPr marL="685800" lvl="1" indent="-342900">
              <a:lnSpc>
                <a:spcPct val="118000"/>
              </a:lnSpc>
              <a:spcAft>
                <a:spcPts val="700"/>
              </a:spcAft>
              <a:buSzPct val="100000"/>
              <a:buChar char="●"/>
            </a:pPr>
            <a:r>
              <a:rPr sz="11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胜 / 平 / 负为 16 / 0 / 8，但区间覆盖 0。</a:t>
            </a:r>
            <a:endParaRPr sz="130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sz="115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L2 每个参数区域只有 1–2 个样本。</a:t>
            </a:r>
            <a:endParaRPr sz="130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●"/>
            </a:pPr>
            <a:r>
              <a:rPr sz="11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结论：当前尚未检出稳定 Memory 增益。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65DD72E-69FB-46DE-926F-4785C45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11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81257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CC1FA3-02D6-4F6A-A9F1-BC088FBF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实践提醒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05DCA8-53C6-47B8-957C-657ABB2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六个被数据推翻的假设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FC91E4-24A6-457D-A5E6-96B64A3C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graphicFrame>
        <p:nvGraphicFramePr>
          <p:cNvPr id="14" name="Table 0"/>
          <p:cNvGraphicFramePr/>
          <p:nvPr/>
        </p:nvGraphicFramePr>
        <p:xfrm>
          <a:off xmlns:a="http://schemas.openxmlformats.org/drawingml/2006/main" x="548640" y="1170432"/>
          <a:ext xmlns:a="http://schemas.openxmlformats.org/drawingml/2006/main" cx="80924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4114800"/>
                <a:gridCol w="1874520"/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实测症状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修法</a:t>
                      </a:r>
                      <a:endParaRPr sz="120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距离用墨卡托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31°N 系统性放大 17%，容差预算凭空偏 17%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换局部等距投影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Hausdorff 口径错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顶点集算法给 548 米，真实值 4.77 米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改点到折线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DP 偏差估计错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容差 2 米时报出 8349 米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从递归结构取精确界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在噪声上算航向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单条静止轨迹假掉头 37 个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 10 米噪声地板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漂移用绝对偏移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误判 50% 的正常行驶点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改无量纲曲率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毛刺用位移法识别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一处毛刺污染两个位置，真毛刺抓不到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F2A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改相对插值位置偏差</a:t>
                      </a:r>
                      <a:endParaRPr sz="105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8DEE4"/>
                      </a:solidFill>
                      <a:prstDash val="solid"/>
                    </a:lnL>
                    <a:lnR w="6350" cmpd="sng">
                      <a:solidFill>
                        <a:srgbClr val="D8DEE4"/>
                      </a:solidFill>
                      <a:prstDash val="solid"/>
                    </a:lnR>
                    <a:lnT w="6350" cmpd="sng">
                      <a:solidFill>
                        <a:srgbClr val="D8DEE4"/>
                      </a:solidFill>
                      <a:prstDash val="solid"/>
                    </a:lnT>
                    <a:lnB w="6350" cmpd="sng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388A2FB-CCF5-4CE8-A477-27B161B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24528"/>
            <a:ext cx="80924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0E92655-F60D-4B94-A7FE-40851E1D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24528"/>
            <a:ext cx="50292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117FA3F-216E-40A4-A62D-957F4D12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79392"/>
            <a:ext cx="77083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这些坑的共同点：代码都不会报错，只会让结论错。所以每条都写了回归测试。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90C6129-843E-4F69-80EC-607106D0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734568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56C7FA8-E681-4D45-8875-CBAE7F2A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现状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CA336F-B5F4-4CD7-B326-9F4EA532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现在能跑到什么程度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36D82D-9367-4F2C-B0E3-42127C3D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B2A559-72E7-4C5E-B84E-4CE3B824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33856"/>
            <a:ext cx="3886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可以直接用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E7E0C3-5697-4A2E-9962-B599994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3886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离线模式可完整跑通全流程</a:t>
            </a:r>
            <a:endParaRPr sz="12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ECNU 四模式真实实验已重复 3 轮</a:t>
            </a:r>
            <a:endParaRPr sz="12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180 个 case 无失败；search-only 零次 LLM</a:t>
            </a:r>
            <a:endParaRPr sz="12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七类真实结果图与 case 级证据已保存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FD17B7-0AB1-417F-91C1-5C34A736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33856"/>
            <a:ext cx="3931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还没验证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CAB754-C7F1-4B4D-9906-70CA9B0C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0"/>
            <a:ext cx="38862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稳定的 LLM 或 Memory 增益</a:t>
            </a:r>
            <a:endParaRPr sz="12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独立 OSM 或人工标注质量</a:t>
            </a:r>
            <a:endParaRPr sz="12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100/200 条 Memory 扩展（成本较高）</a:t>
            </a:r>
            <a:endParaRPr sz="1250"/>
          </a:p>
          <a:p xmlns:a="http://schemas.openxmlformats.org/drawingml/2006/main">
            <a:pPr marL="342900" indent="-342900">
              <a:lnSpc>
                <a:spcPct val="1180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全量 11386 条真实模型验证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F737D9E-5DB0-454E-AA34-85D59477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736"/>
            <a:ext cx="80924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2700">
            <a:solidFill>
              <a:srgbClr val="F4F6F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800942-E687-4750-A0F7-3492B120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736"/>
            <a:ext cx="5029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C13058-D724-4456-9E7E-178B7C2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57600"/>
            <a:ext cx="770839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00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真实运行：167 次 LLM 请求，529980 + 37761 tokens，case 时间合计 1416.83 秒，失败与重试均为 0。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C044D2-180A-4DCA-8858-8D2AAA08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91405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305292-2AAD-4C2A-A384-5EC15D1C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下一步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61CDF5-E9F0-4E72-AB22-DD1143A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624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2A37"/>
                </a:solidFill>
                <a:latin typeface="Microsoft YaHei"/>
                <a:ea typeface="Microsoft YaHei"/>
                <a:cs typeface="Microsoft YaHei"/>
              </a:rPr>
              <a:t>怎么接着做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D623CE3-6D60-4E6A-93DE-D8DD9AE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41832"/>
            <a:ext cx="8229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F1246E-60AC-4C70-959A-3D9E2F33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2D4F3F-BA9A-4E37-B9FF-5116A63C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ADA1DE-16D7-4E06-8844-90D147E9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188720"/>
            <a:ext cx="7406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先比较 24 与 48 条分层 demo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B494903-6DA9-4FBA-964A-F80F461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572768"/>
            <a:ext cx="7406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优先增加 moving 证据，再看配对区间是否收窄。预计分别需要 88 和 176 次调用。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CF65366-124A-486B-9771-1BC64FC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408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BBA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168EB24-237E-4814-A447-9375A0C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4086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6E9CE2-BD53-47AD-8588-BAADF82A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231136"/>
            <a:ext cx="7406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加入小规模独立质量核验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738BA1F-29B5-45E8-B2AE-D1E842A6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15184"/>
            <a:ext cx="7406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对 moving 子集做人工标注或 OSM 中心线距离，只作为 secondary evaluation。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CE8D477-9B11-4DBA-8812-18F1C836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5375778-E728-446A-9467-5B5862BD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EDDA3D-E132-4ADC-A775-1F3B1A80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73552"/>
            <a:ext cx="7406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根据前两步决定是否扩到 100/200</a:t>
            </a:r>
            <a:endParaRPr sz="15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599B7D0-94AD-442B-8360-AA6646B4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57600"/>
            <a:ext cx="7406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250">
                <a:solidFill>
                  <a:srgbClr val="5B6B7C"/>
                </a:solidFill>
                <a:latin typeface="Microsoft YaHei"/>
                <a:ea typeface="Microsoft YaHei"/>
                <a:cs typeface="Microsoft YaHei"/>
              </a:rPr>
              <a:t>三轮 demo 预计需要 367/733 次调用，先看收益再承担成本。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ABA0F85-FC69-4043-97C6-DD6A089E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15968"/>
            <a:ext cx="8092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2B7BBA"/>
                </a:solidFill>
                <a:latin typeface="Microsoft YaHei"/>
                <a:ea typeface="Microsoft YaHei"/>
                <a:cs typeface="Microsoft YaHei"/>
              </a:rPr>
              <a:t>100/200 条候选清单已生成，本轮没有自动执行高成本批量调用。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5688539-1031-495D-B8A2-654DDDED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0016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AAB4BE"/>
                </a:solidFill>
                <a:latin typeface="Arial"/>
                <a:ea typeface="Arial"/>
                <a:cs typeface="Arial"/>
              </a:rPr>
              <a:t>14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446028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2026-09-21T08:56:23.3280000Z</dcterms:created>
  <dcterms:modified xsi:type="dcterms:W3CDTF">2026-09-21T08:56:23.3280000Z</dcterms:modified>
</coreProperties>
</file>